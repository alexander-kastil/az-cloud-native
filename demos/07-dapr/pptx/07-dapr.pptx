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2"/>
  </p:notesMasterIdLst>
  <p:sldIdLst>
    <p:sldId id="502" r:id="rId2"/>
    <p:sldId id="503" r:id="rId3"/>
    <p:sldId id="504" r:id="rId4"/>
    <p:sldId id="505" r:id="rId5"/>
    <p:sldId id="256" r:id="rId6"/>
    <p:sldId id="257" r:id="rId7"/>
    <p:sldId id="506" r:id="rId8"/>
    <p:sldId id="258" r:id="rId9"/>
    <p:sldId id="259" r:id="rId10"/>
    <p:sldId id="507" r:id="rId11"/>
    <p:sldId id="260" r:id="rId12"/>
    <p:sldId id="261" r:id="rId13"/>
    <p:sldId id="508" r:id="rId14"/>
    <p:sldId id="262" r:id="rId15"/>
    <p:sldId id="263" r:id="rId16"/>
    <p:sldId id="509" r:id="rId17"/>
    <p:sldId id="264" r:id="rId18"/>
    <p:sldId id="265" r:id="rId19"/>
    <p:sldId id="510" r:id="rId20"/>
    <p:sldId id="266" r:id="rId21"/>
    <p:sldId id="267" r:id="rId22"/>
    <p:sldId id="268" r:id="rId23"/>
    <p:sldId id="511" r:id="rId24"/>
    <p:sldId id="269" r:id="rId25"/>
    <p:sldId id="270" r:id="rId26"/>
    <p:sldId id="512" r:id="rId27"/>
    <p:sldId id="271" r:id="rId28"/>
    <p:sldId id="272" r:id="rId29"/>
    <p:sldId id="273" r:id="rId30"/>
    <p:sldId id="274" r:id="rId31"/>
  </p:sldIdLst>
  <p:sldSz cx="12192000" cy="6858000"/>
  <p:notesSz cx="6858000" cy="12192000"/>
  <p:embeddedFontLst>
    <p:embeddedFont>
      <p:font typeface="Consolas" panose="020B0609020204030204" pitchFamily="49" charset="0"/>
      <p:regular r:id="rId33"/>
      <p:bold r:id="rId34"/>
      <p:italic r:id="rId35"/>
      <p:boldItalic r:id="rId36"/>
    </p:embeddedFont>
    <p:embeddedFont>
      <p:font typeface="IBM Plex Sans" panose="020B0503050203000203" pitchFamily="34" charset="0"/>
      <p:regular r:id="rId37"/>
    </p:embeddedFont>
    <p:embeddedFont>
      <p:font typeface="IBM Plex Sans Light" panose="020B0403050203000203" pitchFamily="34" charset="0"/>
      <p:italic r:id="rId38"/>
    </p:embeddedFont>
    <p:embeddedFont>
      <p:font typeface="Montserrat" panose="00000500000000000000" pitchFamily="2" charset="0"/>
      <p:regular r:id="rId39"/>
      <p:bold r:id="rId40"/>
      <p:italic r:id="rId41"/>
      <p:boldItalic r:id="rId42"/>
    </p:embeddedFont>
    <p:embeddedFont>
      <p:font typeface="Montserrat Bold" panose="00000800000000000000" pitchFamily="2" charset="0"/>
      <p:bold r:id="rId43"/>
    </p:embeddedFont>
    <p:embeddedFont>
      <p:font typeface="Poppins" panose="00000500000000000000" pitchFamily="2" charset="0"/>
      <p:regular r:id="rId44"/>
      <p:bold r:id="rId45"/>
    </p:embeddedFont>
    <p:embeddedFont>
      <p:font typeface="Poppins Bold" panose="00000800000000000000" charset="0"/>
      <p:regular r:id="rId4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font" Target="fonts/font1.fntdata"/><Relationship Id="rId34" Type="http://schemas.openxmlformats.org/officeDocument/2006/relationships/font" Target="fonts/font2.fntdata"/><Relationship Id="rId35" Type="http://schemas.openxmlformats.org/officeDocument/2006/relationships/font" Target="fonts/font3.fntdata"/><Relationship Id="rId36" Type="http://schemas.openxmlformats.org/officeDocument/2006/relationships/font" Target="fonts/font4.fntdata"/><Relationship Id="rId37" Type="http://schemas.openxmlformats.org/officeDocument/2006/relationships/font" Target="fonts/font5.fntdata"/><Relationship Id="rId38" Type="http://schemas.openxmlformats.org/officeDocument/2006/relationships/font" Target="fonts/font6.fntdata"/><Relationship Id="rId39" Type="http://schemas.openxmlformats.org/officeDocument/2006/relationships/font" Target="fonts/font7.fntdata"/><Relationship Id="rId40" Type="http://schemas.openxmlformats.org/officeDocument/2006/relationships/font" Target="fonts/font8.fntdata"/><Relationship Id="rId41" Type="http://schemas.openxmlformats.org/officeDocument/2006/relationships/font" Target="fonts/font9.fntdata"/><Relationship Id="rId42" Type="http://schemas.openxmlformats.org/officeDocument/2006/relationships/font" Target="fonts/font10.fntdata"/><Relationship Id="rId43" Type="http://schemas.openxmlformats.org/officeDocument/2006/relationships/font" Target="fonts/font11.fntdata"/><Relationship Id="rId44" Type="http://schemas.openxmlformats.org/officeDocument/2006/relationships/font" Target="fonts/font12.fntdata"/><Relationship Id="rId45" Type="http://schemas.openxmlformats.org/officeDocument/2006/relationships/font" Target="fonts/font13.fntdata"/><Relationship Id="rId46" Type="http://schemas.openxmlformats.org/officeDocument/2006/relationships/font" Target="fonts/font14.fntdata"/><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3142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461A2-C3FB-8FF7-A183-A6C9154D3AB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E791D27-971C-48FE-7C44-479BE7AE811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017CC76-223D-4E1C-7685-BA68E3EA4724}"/>
              </a:ext>
            </a:extLst>
          </p:cNvPr>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de-DE" b="1"/>
              <a:t>Die Fast Lane Gruppe. </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Fast Lane … Dienstleister u. Spezialist für High-End Technologie und Business Trainings</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IT Trainings zu den  unterschiedlichsten Herstellern wie Microsoft, Google, Cisco oder AWS. Und vielen weiteren wichtigen IT Herstellern.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Sei es Cloud, Security, Netzwerk oder allgemein digitale Transformationsprojekte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Und das seit 2003.</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0" marR="0" lvl="0" indent="0" algn="l" defTabSz="914377" rtl="0" eaLnBrk="1" fontAlgn="auto" latinLnBrk="0" hangingPunct="1">
              <a:lnSpc>
                <a:spcPct val="100000"/>
              </a:lnSpc>
              <a:spcBef>
                <a:spcPts val="0"/>
              </a:spcBef>
              <a:spcAft>
                <a:spcPts val="0"/>
              </a:spcAft>
              <a:buClrTx/>
              <a:buSzTx/>
              <a:buFontTx/>
              <a:buNone/>
              <a:tabLst/>
              <a:defRPr/>
            </a:pPr>
            <a:r>
              <a:rPr lang="de-DE"/>
              <a:t>Das spannende ist, dass die Fast Lane Gruppe bereits seit 2009 durchgängig zu den </a:t>
            </a:r>
            <a:r>
              <a:rPr lang="de-DE" sz="1200" b="1" i="0" kern="1200">
                <a:solidFill>
                  <a:schemeClr val="tx1"/>
                </a:solidFill>
                <a:effectLst/>
                <a:latin typeface="+mn-lt"/>
                <a:ea typeface="+mn-ea"/>
                <a:cs typeface="+mn-cs"/>
              </a:rPr>
              <a:t>Top 20 Unternehmen in der IT Trainingsbranche </a:t>
            </a:r>
            <a:r>
              <a:rPr lang="de-DE" sz="1200" b="0" i="0" kern="1200">
                <a:solidFill>
                  <a:schemeClr val="tx1"/>
                </a:solidFill>
                <a:effectLst/>
                <a:latin typeface="+mn-lt"/>
                <a:ea typeface="+mn-ea"/>
                <a:cs typeface="+mn-cs"/>
              </a:rPr>
              <a:t>weltweit zählt.</a:t>
            </a:r>
            <a:endParaRPr lang="de-DE"/>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Aber auch Footprint ebenso im klassischen Professional Services Bereich für unsere wichtigsten Hersteller</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PreSales</a:t>
            </a:r>
            <a:r>
              <a:rPr lang="de-DE" sz="1200" b="0" i="0" kern="1200">
                <a:solidFill>
                  <a:schemeClr val="tx1"/>
                </a:solidFill>
                <a:effectLst/>
                <a:latin typeface="+mn-lt"/>
                <a:ea typeface="+mn-ea"/>
                <a:cs typeface="+mn-cs"/>
              </a:rPr>
              <a:t> Support, </a:t>
            </a:r>
            <a:r>
              <a:rPr lang="de-DE" sz="1200" b="0" i="0" kern="1200" err="1">
                <a:solidFill>
                  <a:schemeClr val="tx1"/>
                </a:solidFill>
                <a:effectLst/>
                <a:latin typeface="+mn-lt"/>
                <a:ea typeface="+mn-ea"/>
                <a:cs typeface="+mn-cs"/>
              </a:rPr>
              <a:t>Deployment</a:t>
            </a:r>
            <a:r>
              <a:rPr lang="de-DE" sz="1200" b="0" i="0" kern="1200">
                <a:solidFill>
                  <a:schemeClr val="tx1"/>
                </a:solidFill>
                <a:effectLst/>
                <a:latin typeface="+mn-lt"/>
                <a:ea typeface="+mn-ea"/>
                <a:cs typeface="+mn-cs"/>
              </a:rPr>
              <a:t> Services und Adoption Trainings</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r>
              <a:rPr lang="de-DE" sz="1200" b="1" i="0" kern="1200">
                <a:solidFill>
                  <a:schemeClr val="tx1"/>
                </a:solidFill>
                <a:effectLst/>
                <a:latin typeface="+mn-lt"/>
                <a:ea typeface="+mn-ea"/>
                <a:cs typeface="+mn-cs"/>
              </a:rPr>
              <a:t>Additional Information:</a:t>
            </a:r>
            <a:br>
              <a:rPr lang="de-DE" sz="1200" b="0" i="0" kern="1200">
                <a:solidFill>
                  <a:schemeClr val="tx1"/>
                </a:solidFill>
                <a:effectLst/>
                <a:latin typeface="+mn-lt"/>
                <a:ea typeface="+mn-ea"/>
                <a:cs typeface="+mn-cs"/>
              </a:rPr>
            </a:br>
            <a:r>
              <a:rPr lang="de-DE" sz="1200" b="0" i="0" kern="1200">
                <a:solidFill>
                  <a:schemeClr val="tx1"/>
                </a:solidFill>
                <a:effectLst/>
                <a:latin typeface="+mn-lt"/>
                <a:ea typeface="+mn-ea"/>
                <a:cs typeface="+mn-cs"/>
              </a:rPr>
              <a:t>Im Jahr 2021 sind wir zur „</a:t>
            </a:r>
            <a:r>
              <a:rPr lang="de-DE" sz="1200" b="0" i="0" kern="1200" err="1">
                <a:solidFill>
                  <a:schemeClr val="tx1"/>
                </a:solidFill>
                <a:effectLst/>
                <a:latin typeface="+mn-lt"/>
                <a:ea typeface="+mn-ea"/>
                <a:cs typeface="+mn-cs"/>
              </a:rPr>
              <a:t>most</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strategic</a:t>
            </a:r>
            <a:r>
              <a:rPr lang="de-DE" sz="1200" b="0" i="0" kern="1200">
                <a:solidFill>
                  <a:schemeClr val="tx1"/>
                </a:solidFill>
                <a:effectLst/>
                <a:latin typeface="+mn-lt"/>
                <a:ea typeface="+mn-ea"/>
                <a:cs typeface="+mn-cs"/>
              </a:rPr>
              <a:t> IT Education </a:t>
            </a:r>
            <a:r>
              <a:rPr lang="de-DE" sz="1200" b="0" i="0" kern="1200" err="1">
                <a:solidFill>
                  <a:schemeClr val="tx1"/>
                </a:solidFill>
                <a:effectLst/>
                <a:latin typeface="+mn-lt"/>
                <a:ea typeface="+mn-ea"/>
                <a:cs typeface="+mn-cs"/>
              </a:rPr>
              <a:t>company</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worldwide</a:t>
            </a:r>
            <a:r>
              <a:rPr lang="de-DE" sz="1200" b="0" i="0" kern="1200">
                <a:solidFill>
                  <a:schemeClr val="tx1"/>
                </a:solidFill>
                <a:effectLst/>
                <a:latin typeface="+mn-lt"/>
                <a:ea typeface="+mn-ea"/>
                <a:cs typeface="+mn-cs"/>
              </a:rPr>
              <a:t>“ von der IDC im „</a:t>
            </a:r>
            <a:r>
              <a:rPr lang="de-DE" sz="1200" b="0" i="0" kern="1200" err="1">
                <a:solidFill>
                  <a:schemeClr val="tx1"/>
                </a:solidFill>
                <a:effectLst/>
                <a:latin typeface="+mn-lt"/>
                <a:ea typeface="+mn-ea"/>
                <a:cs typeface="+mn-cs"/>
              </a:rPr>
              <a:t>magic</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quadrant</a:t>
            </a:r>
            <a:r>
              <a:rPr lang="de-DE" sz="1200" b="0" i="0" kern="1200">
                <a:solidFill>
                  <a:schemeClr val="tx1"/>
                </a:solidFill>
                <a:effectLst/>
                <a:latin typeface="+mn-lt"/>
                <a:ea typeface="+mn-ea"/>
                <a:cs typeface="+mn-cs"/>
              </a:rPr>
              <a:t>“ aufgeführt worden !</a:t>
            </a:r>
          </a:p>
          <a:p>
            <a:endParaRPr lang="de-DE"/>
          </a:p>
          <a:p>
            <a:pPr marL="171450" indent="-171450">
              <a:buFont typeface="Wingdings" panose="05000000000000000000" pitchFamily="2" charset="2"/>
              <a:buChar char="Ø"/>
            </a:pPr>
            <a:r>
              <a:rPr lang="de-DE"/>
              <a:t>1 </a:t>
            </a:r>
            <a:r>
              <a:rPr lang="de-DE" err="1"/>
              <a:t>mio</a:t>
            </a:r>
            <a:r>
              <a:rPr lang="de-DE"/>
              <a:t> Teilnehmer insgesamt seit bestehen, 50.000+ </a:t>
            </a:r>
            <a:r>
              <a:rPr lang="de-DE" err="1"/>
              <a:t>Students</a:t>
            </a:r>
            <a:r>
              <a:rPr lang="de-DE"/>
              <a:t> </a:t>
            </a:r>
            <a:r>
              <a:rPr lang="de-DE" err="1"/>
              <a:t>ww</a:t>
            </a:r>
            <a:r>
              <a:rPr lang="de-DE"/>
              <a:t> </a:t>
            </a:r>
            <a:r>
              <a:rPr lang="de-DE" err="1"/>
              <a:t>p.A</a:t>
            </a:r>
            <a:r>
              <a:rPr lang="de-DE"/>
              <a:t>, 20.000 in DE pro Jahr</a:t>
            </a:r>
          </a:p>
          <a:p>
            <a:endParaRPr lang="de-DE"/>
          </a:p>
        </p:txBody>
      </p:sp>
      <p:sp>
        <p:nvSpPr>
          <p:cNvPr id="4" name="Foliennummernplatzhalter 3">
            <a:extLst>
              <a:ext uri="{FF2B5EF4-FFF2-40B4-BE49-F238E27FC236}">
                <a16:creationId xmlns:a16="http://schemas.microsoft.com/office/drawing/2014/main" id="{E147C99C-1C3E-1038-E7AD-EE3A64ED031D}"/>
              </a:ext>
            </a:extLst>
          </p:cNvPr>
          <p:cNvSpPr>
            <a:spLocks noGrp="1"/>
          </p:cNvSpPr>
          <p:nvPr>
            <p:ph type="sldNum" sz="quarter" idx="5"/>
          </p:nvPr>
        </p:nvSpPr>
        <p:spPr/>
        <p:txBody>
          <a:bodyPr/>
          <a:lstStyle/>
          <a:p>
            <a:pPr marL="0" marR="0" lvl="0" indent="0" algn="l" defTabSz="342900" rtl="0" eaLnBrk="1" fontAlgn="auto" latinLnBrk="0" hangingPunct="1">
              <a:lnSpc>
                <a:spcPct val="100000"/>
              </a:lnSpc>
              <a:spcBef>
                <a:spcPts val="0"/>
              </a:spcBef>
              <a:spcAft>
                <a:spcPts val="0"/>
              </a:spcAft>
              <a:buClrTx/>
              <a:buSzTx/>
              <a:buFontTx/>
              <a:buNone/>
              <a:tabLst/>
              <a:defRPr/>
            </a:pPr>
            <a:fld id="{0B0D7EAB-36F5-E04E-BA34-9D312A17DA3C}" type="slidenum">
              <a:rPr kumimoji="0" lang="en-HR" sz="7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342900" rtl="0" eaLnBrk="1" fontAlgn="auto" latinLnBrk="0" hangingPunct="1">
                <a:lnSpc>
                  <a:spcPct val="100000"/>
                </a:lnSpc>
                <a:spcBef>
                  <a:spcPts val="0"/>
                </a:spcBef>
                <a:spcAft>
                  <a:spcPts val="0"/>
                </a:spcAft>
                <a:buClrTx/>
                <a:buSzTx/>
                <a:buFontTx/>
                <a:buNone/>
                <a:tabLst/>
                <a:defRPr/>
              </a:pPr>
              <a:t>1</a:t>
            </a:fld>
            <a:endParaRPr kumimoji="0" lang="en-HR" sz="7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328446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Alexander Kastil, integrations.at. Four practice areas from AI at Work to team enablement. Certifications: Agentic AI Business Solutions Architect, Azure AI App and Agent Developer Associate, DevOps Engineer Expert.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6465364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Modules 4 to 6 connected Contoso Logistics to Service Bus, Event Hubs and Cosmos DB through their Azure SDKs. This module runs the same flow through Dapr building blocks, and the component files decide which Azure service sits behind each call.</a:t>
            </a:r>
          </a:p>
          <a:p/>
          <a:p>
            <a:r>
              <a:t>Sidecar and service calls: every service gets a Dapr sidecar from the Aspire AppHost, and services call each other by app ID instead of a host name.</a:t>
            </a:r>
          </a:p>
          <a:p/>
          <a:p>
            <a:r>
              <a:t>State and events: state writes carry ETag checks, and events go through a pub/sub component whose broker you can swap without touching the code.</a:t>
            </a:r>
          </a:p>
          <a:p/>
          <a:p>
            <a:r>
              <a:t>Policies, actors and hosting: retry and circuit breaker rules live in one resiliency spec, each van becomes a `VanActor`, and the last topic decides whether a service belongs on Container Apps or AKS.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walks once through the seven topics, which take one building block at a time. Each topic keeps the Contoso domain, so `shipping-api`, `tracking-service` and `routing-service` stay the same while the calls change.</a:t>
            </a:r>
          </a:p>
          <a:p/>
          <a:p>
            <a:r>
              <a:t>Sidecar first: the Aspire AppHost starts a Dapr sidecar beside each service, and component YAML describes the stores and brokers behind each block.</a:t>
            </a:r>
          </a:p>
          <a:p/>
          <a:p>
            <a:r>
              <a:t>Calls and state: `shipping-api` reaches `routing-service` by app ID over mTLS, and state writes use ETags so two writers cannot both win a transition that must happen once.</a:t>
            </a:r>
          </a:p>
          <a:p/>
          <a:p>
            <a:r>
              <a:t>Events: `ParcelScanned` events go through the pub/sub API, and swapping Service Bus for Redis or Kafka means replacing the component file.</a:t>
            </a:r>
          </a:p>
          <a:p/>
          <a:p>
            <a:r>
              <a:t>Policies, actors and hosting: one resiliency spec holds timeouts, retries and circuit breakers, `VanActor` gives each van one owner, and the last topic compares Container Apps with the AKS Dapr extension.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Contoso Logistics runs booking, tracking, routing and billing as separate processes, and each needs to find the others, save state and publish events without importing one cloud product's SDK. Dapr gives each service that portability through a sidecar and a set of building blocks.</a:t>
            </a:r>
          </a:p>
          <a:p/>
          <a:p>
            <a:r>
              <a:t>Separate process: Dapr runs beside the application, and the sidecar handles the connection to the infrastructure.</a:t>
            </a:r>
          </a:p>
          <a:p/>
          <a:p>
            <a:r>
              <a:t>Localhost calls: the application calls the sidecar over HTTP or gRPC on localhost. In Azure Container Apps the sidecar serves HTTP on port 3500 and gRPC on port 50001.</a:t>
            </a:r>
          </a:p>
          <a:p/>
          <a:p>
            <a:r>
              <a:t>Building blocks: these are the APIs the sidecar exposes. Service invocation, state management, pub/sub, bindings, actors, secrets and configuration are generally available in Container Apps.</a:t>
            </a:r>
          </a:p>
          <a:p/>
          <a:p>
            <a:r>
              <a:t>Components: each block delegates to a component, so the same call reaches Cosmos DB, Service Bus or Redis depending on the file the sidecar loads. The diagram shows `routing-service` saving state to Cosmos DB in one run and to Redis in the other with the same code.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With the sidecar model in place, this slide shows how a developer machine and the Aspire AppHost get Dapr running beside a service.</a:t>
            </a:r>
          </a:p>
          <a:p/>
          <a:p>
            <a:r>
              <a:t>Install and initialize: on Windows install the CLI with winget, run `dapr init` for the runtime, and check both versions with `dapr --version`.</a:t>
            </a:r>
          </a:p>
          <a:p/>
          <a:p>
            <a:r>
              <a:t>What init starts: a default self-hosted initialization starts Redis and Zipkin containers plus the placement and scheduler services that actors need, and writes default component files under `.dapr` in your profile. The `--slim` flag skips the containers and default files for teams that bring their own infrastructure.</a:t>
            </a:r>
          </a:p>
          <a:p/>
          <a:p>
            <a:r>
              <a:t>AppHost wiring: the Community Toolkit package adds `AddDapr`, `AddDaprComponent` registers a component, and `WithDaprSidecar` with `WithReference` gives the sidecar access to it. `DaprComponentOptions.LocalPath` points at the component file the sidecar reads at startup.</a:t>
            </a:r>
          </a:p>
          <a:p/>
          <a:p>
            <a:r>
              <a:t>One name: keep the component name in the AppHost identical to `metadata.name` in the file and use the same name in the service code. Production component files reference a secret store, because the file is usually committed.</a:t>
            </a:r>
          </a:p>
          <a:p/>
          <a:p>
            <a:r>
              <a:t>Dapr 1.18: the CLI and the runtime must both report 1.18.0, so rerun the version check after every CLI upgrade. The Community Toolkit README still names 1.15, so treat it as dated and follow the Dapr documentation.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When `shipping-api` books a parcel, it asks `routing-service` for van capacity and waits for the answer. Service invocation lets the sidecar find the target, so no service carries its own discovery logic.</a:t>
            </a:r>
          </a:p>
          <a:p/>
          <a:p>
            <a:r>
              <a:t>App IDs: callers use the app ID in place of a host name, and every replica of `routing-service` answers to the same ID. Naming app IDs after the Contoso services keeps the URLs in traces readable.</a:t>
            </a:r>
          </a:p>
          <a:p/>
          <a:p>
            <a:r>
              <a:t>The invoke URL: the segment after `invoke` is the app ID and the segment after `method` is the route on the callee.</a:t>
            </a:r>
          </a:p>
          <a:p/>
          <a:p>
            <a:r>
              <a:t>Name resolution: on Kubernetes the sidecar uses Kubernetes DNS, on a self-hosted machine it uses mDNS. In Azure Container Apps you set the ID with `--dapr-app-id`, and the diagram shows that the call stays the same there.</a:t>
            </a:r>
          </a:p>
          <a:p/>
          <a:p>
            <a:r>
              <a:t>Two .NET options: the typed `InvokeMethodAsync` overload serializes the request and deserializes the response. `CreateInvokeHttpClient` suits code that already uses typed HTTP clients.</a:t>
            </a:r>
          </a:p>
          <a:p/>
          <a:p>
            <a:r>
              <a:t>Obsolete overloads: the overloads that take an `HttpRequestMessage` are marked obsolete, so the helper is the supported path for raw HTTP calls.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call to `routing-service` has to travel over an encrypted connection and survive a brief outage of one replica. Both come from the platform, not from code in the caller.</a:t>
            </a:r>
          </a:p>
          <a:p/>
          <a:p>
            <a:r>
              <a:t>Sentry: Dapr secures every call between applications with mutual TLS, and the Sentry service issues and rotates the certificates.</a:t>
            </a:r>
          </a:p>
          <a:p/>
          <a:p>
            <a:r>
              <a:t>AKS defaults: the AKS Dapr extension enables mTLS by default with a workload certificate lifetime of 24 hours and a clock skew allowance of 15 minutes. Operations should know which certificate settings apply to each environment.</a:t>
            </a:r>
          </a:p>
          <a:p/>
          <a:p>
            <a:r>
              <a:t>Container Apps: invocation between Dapr-enabled apps is encrypted through the platform, and your code configures none of it.</a:t>
            </a:r>
          </a:p>
          <a:p/>
          <a:p>
            <a:r>
              <a:t>Retries: service invocation retries with backoff, driven by a resiliency spec that targets the app ID `routing-service`. The policies skip streaming requests, and the Container Apps service discovery resiliency feature does not apply to Dapr service invocation.</a:t>
            </a:r>
          </a:p>
          <a:p/>
          <a:p>
            <a:r>
              <a:t>Invocation or pub/sub: invocation is synchronous, so a slow callee slows the caller. When the caller needs no answer, such as a `ParcelScanned` event for the read model, pub/sub is the better fit.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customer cancels a shipment while a scanner marks the same parcel as picked up. Without a rule for conflicts, the last write silently replaces the first.</a:t>
            </a:r>
          </a:p>
          <a:p/>
          <a:p>
            <a:r>
              <a:t>Read with the ETag: the ETag is an opaque version token the store issues on every write. Keep it with the value you read, because the store compares it when you write again.</a:t>
            </a:r>
          </a:p>
          <a:p/>
          <a:p>
            <a:r>
              <a:t>First write wins: a write that carries an ETag succeeds only while that ETag still matches the stored one. `TrySaveStateAsync` returns `false` when another writer got there first.</a:t>
            </a:r>
          </a:p>
          <a:p/>
          <a:p>
            <a:r>
              <a:t>Redis behaves differently: the Redis state store throws a `DaprException` for the same conflict, so the caller catches it and treats it as a lost race.</a:t>
            </a:r>
          </a:p>
          <a:p/>
          <a:p>
            <a:r>
              <a:t>The retry loop: the handler reads, computes the change and tries again. The diagram shows the lab's version, where a second `reserve-capacity` request for the same parcel rereads, finds the record and returns `Results.Conflict()` after at most three attempts.</a:t>
            </a:r>
          </a:p>
          <a:p/>
          <a:p>
            <a:r>
              <a:t>Bounded attempts: after a fixed number of attempts the handler returns a conflict, so a customer request never loops forever.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ETag check is one of two write modes, and the right one depends on the data. This slide also covers changes that touch several keys and the Cosmos DB store behind the booking data.</a:t>
            </a:r>
          </a:p>
          <a:p/>
          <a:p>
            <a:r>
              <a:t>Last-write-wins: without an ETag the newest write replaces the stored value. That is fine where only the latest value matters, such as a driver's note on a parcel.</a:t>
            </a:r>
          </a:p>
          <a:p/>
          <a:p>
            <a:r>
              <a:t>First-write-wins: use it when two writers race for a transition that must happen once, such as a booking status moving from Booked to PickedUp.</a:t>
            </a:r>
          </a:p>
          <a:p/>
          <a:p>
            <a:r>
              <a:t>Consistency is a separate choice: eventual consistency, the default, acknowledges as soon as the store accepts the write. Strong consistency waits for all replicas or a designated quorum.</a:t>
            </a:r>
          </a:p>
          <a:p/>
          <a:p>
            <a:r>
              <a:t>Transactions: `ExecuteStateTransactionAsync` takes a list of `StateTransactionRequest` entries, and the store applies them atomically. A transaction covers one request and does not replace the ETag check for a read-modify-write across separate requests.</a:t>
            </a:r>
          </a:p>
          <a:p/>
          <a:p>
            <a:r>
              <a:t>Cosmos DB store: the `state.azure.cosmosdb` component is Tier 1 on Container Apps and needs URL, key, database and collection. With a managed identity, grant Cosmos DB Built-in Data Contributor and drop `masterKey`.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scan at a hub produces a `ParcelScanned` event that `tracking-service` and `notification-service` both need. The scanner should not know who listens or wait for them, and the code should not be tied to one broker.</a:t>
            </a:r>
          </a:p>
          <a:p/>
          <a:p>
            <a:r>
              <a:t>Publish: the publisher passes the component name, the topic and the payload, so the code holds no connection string and no broker type. An overload takes publish metadata, such as the `SessionId` the Service Bus component reads.</a:t>
            </a:r>
          </a:p>
          <a:p/>
          <a:p>
            <a:r>
              <a:t>Subscribe: the `Topic` attribute on a controller action, or `WithTopic` on a minimal API endpoint, takes the component name and the topic. The sidecar posts each matching message to that action.</a:t>
            </a:r>
          </a:p>
          <a:p/>
          <a:p>
            <a:r>
              <a:t>Startup and envelope: the sidecar calls the endpoint from `MapSubscribeHandler` at startup to read the subscriptions. Dapr wraps each payload in a CloudEvents 1.0 envelope whose id, source and type support tracing and deduplication.</a:t>
            </a:r>
          </a:p>
          <a:p/>
          <a:p>
            <a:r>
              <a:t>Broker swap: replace the component file and keep the code. Service Bus topics and Event Hubs are Tier 1 on Container Apps, Redis Streams and Kafka are Tier 2, and a local run can use the Redis container that `dapr init` starts.</a:t>
            </a:r>
          </a:p>
          <a:p/>
          <a:p>
            <a:r>
              <a:t>What Dapr hides: the component renews message locks and exposes settings such as `maxConcurrentHandlers`. Session state and the session receiver are not documented for Dapr, so use the native SDK when the processing depends on them.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scan message that keeps failing needs a place to go, and two mechanisms decide where: Dapr's own dead-letter topic and the Service Bus broker's dead-letter queue.</a:t>
            </a:r>
          </a:p>
          <a:p/>
          <a:p>
            <a:r>
              <a:t>Subscription file: the Dapr 1.18 documentation uses the `dapr.io/v2alpha1` form of the `Subscription` kind, which routes `parcel-events` to `/parcel-events`. The `Topic` attribute overload with a dead-letter topic sets the same value in code.</a:t>
            </a:r>
          </a:p>
          <a:p/>
          <a:p>
            <a:r>
              <a:t>Dead-letter topic: a message that still fails after the retries lands on `poison-scans`.</a:t>
            </a:r>
          </a:p>
          <a:p/>
          <a:p>
            <a:r>
              <a:t>Dapr retries: the resiliency spec controls them, which the resiliency topic covers next.</a:t>
            </a:r>
          </a:p>
          <a:p/>
          <a:p>
            <a:r>
              <a:t>Broker limit: Service Bus has its own rule, and a message that exceeds the default `MaxDeliveryCount` of 10 moves to the broker dead-letter queue with the reason `MaxDeliveryCountExceeded`.</a:t>
            </a:r>
          </a:p>
          <a:p/>
          <a:p>
            <a:r>
              <a:t>Creation-time settings: component settings apply to every topic that uses the component. `maxDeliveryCount` and the other subscription settings apply only when Dapr creates the subscription, so a later change does not alter an existing one.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 a busy evening `routing-service` slows down, and every waiting request from `shipping-api` holds a connection and a thread. The fix is a small set of rules: give up after a fixed time, retry a few times with spacing, and stop calling a service that keeps failing.</a:t>
            </a:r>
          </a:p>
          <a:p/>
          <a:p>
            <a:r>
              <a:t>Two parts: the `policies` section defines named timeouts, retry policies and circuit breakers, and the `targets` section attaches those names to what Dapr calls. Change a policy in one place and every target that uses it follows.</a:t>
            </a:r>
          </a:p>
          <a:p/>
          <a:p>
            <a:r>
              <a:t>Timeout: `shipping-resiliency` limits each attempt to five seconds, and a timeout that fires ends only that attempt.</a:t>
            </a:r>
          </a:p>
          <a:p/>
          <a:p>
            <a:r>
              <a:t>Retry: the policy retries a failed attempt up to three times with a constant two-second delay, only for HTTP 500 to 599. The diagram shows the lab's version, where a 409 conflict returns at once without a retry.</a:t>
            </a:r>
          </a:p>
          <a:p/>
          <a:p>
            <a:r>
              <a:t>Total wait: the full call can take the timeout multiplied by the number of attempts, plus the delays between them. Set the timeout for one attempt, then budget the total.</a:t>
            </a:r>
          </a:p>
          <a:p/>
          <a:p>
            <a:r>
              <a:t>Loading the file: the sidecar reads the spec only when the AppHost sets `ResourcesPaths` in the sidecar options to the folder that holds it.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6105879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timeout ends one attempt and a retry repeats it, while a circuit breaker stops attempts entirely once a target has failed too often. That gives the target room to recover.</a:t>
            </a:r>
          </a:p>
          <a:p/>
          <a:p>
            <a:r>
              <a:t>Trip condition: the `trip` field holds a condition such as `consecutiveFailures &gt;= 5`. In the diagram, the four failed attempts of call 1 and the first attempt of call 2 make five failures in a row.</a:t>
            </a:r>
          </a:p>
          <a:p/>
          <a:p>
            <a:r>
              <a:t>Open: the breaker's `timeout` controls how long it stays open before it allows a probe, and the lab's `cbPolicy` keeps the default of 60 seconds. During that time the retry of call 2 and every new call are rejected at once.</a:t>
            </a:r>
          </a:p>
          <a:p/>
          <a:p>
            <a:r>
              <a:t>Half-open: `maxRequests` limits how many requests pass while the breaker probes, with a default of 1. One successful probe closes the breaker again.</a:t>
            </a:r>
          </a:p>
          <a:p/>
          <a:p>
            <a:r>
              <a:t>Interval: the lab's policy sets only `trip`, so `interval` keeps its default of 0 seconds, which never clears the failure count while the breaker is closed.</a:t>
            </a:r>
          </a:p>
          <a:p/>
          <a:p>
            <a:r>
              <a:t>Scope: Dapr creates circuit breakers per component and per app instance, so one unhealthy replica does not block the whole service.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6734591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target decides where a policy applies. The same named policies can protect a peer service, an actor type, a store and a broker.</a:t>
            </a:r>
          </a:p>
          <a:p/>
          <a:p>
            <a:r>
              <a:t>Three sections: the `apps` section keys entries by app ID, the `actors` section by actor type such as `VanActor`, and the `components` section by component name.</a:t>
            </a:r>
          </a:p>
          <a:p/>
          <a:p>
            <a:r>
              <a:t>Direction: component targets split into `outbound` for calls from the sidecar to the component, such as the state write, and `inbound` for delivery of a subscription message from the component to your app.</a:t>
            </a:r>
          </a:p>
          <a:p/>
          <a:p>
            <a:r>
              <a:t>Container Apps: the preview feature offers the same policy model for components on a managed Dapr environment, with timeouts, HTTP retries and circuit breakers. You attach a policy to a component already registered on the environment.</a:t>
            </a:r>
          </a:p>
          <a:p/>
          <a:p>
            <a:r>
              <a:t>The CLI: the command attaches, for example, an outbound timeout to the component `pubsub`, then you restart the Dapr applications. The portal supports only timeout and retry policies, so check circuit breaker behaviour against your CLI version.</a:t>
            </a:r>
          </a:p>
          <a:p/>
          <a:p>
            <a:r>
              <a:t>Service discovery: that separate Container Apps feature covers requests addressed by container app name, not calls through the Dapr Service Invocation API. Dapr calls use the Dapr spec or the component policy.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7155469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van has one piece of state that changes all day: the parcels on it and its last position. Two routing requests can arrive for the same van in the same second, and both must see the true load.</a:t>
            </a:r>
          </a:p>
          <a:p/>
          <a:p>
            <a:r>
              <a:t>Activation: an actor is a unit of state and behaviour with an identity, and the runtime activates it the first time a request arrives for its ID. You never create or destroy one explicitly.</a:t>
            </a:r>
          </a:p>
          <a:p/>
          <a:p>
            <a:r>
              <a:t>Deactivation: when an actor stays idle, the runtime garbage-collects the in-memory object but keeps the actor known. The next request reactivates it with its saved state.</a:t>
            </a:r>
          </a:p>
          <a:p/>
          <a:p>
            <a:r>
              <a:t>Turn-based access: each method call or timer callback runs to completion before the next one starts, so actor code needs no locks for its own data. In the diagram `PKG-778` takes the last slot on `van-42`, and `PKG-779` waits, sees a full van and gets `false`.</a:t>
            </a:r>
          </a:p>
          <a:p/>
          <a:p>
            <a:r>
              <a:t>The .NET shape: the interface derives from `IActor`, the class derives from `Actor` and receives an `ActorHost`. `AddActors` and `MapActorsHandlers` host it, and `ActorProxy.Create&lt;IVanActor&gt;` routes each call to the instance that holds the state.</a:t>
            </a:r>
          </a:p>
          <a:p/>
          <a:p>
            <a:r>
              <a:t>State store: the runtime persists actor state in the state store, so the load survives restarts. The Cosmos DB component marks itself as the actor store with `actorStateStore` set to `"true"`.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2140347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Actors can schedule their own work, and the choice between a timer and a reminder decides whether that work survives deactivation.</a:t>
            </a:r>
          </a:p>
          <a:p/>
          <a:p>
            <a:r>
              <a:t>Timers: a timer calls back into the actor on a schedule and lives only while the actor is active. That suits a heartbeat check on an active van, which can restart on the next activation.</a:t>
            </a:r>
          </a:p>
          <a:p/>
          <a:p>
            <a:r>
              <a:t>Reminders: a reminder is persisted through the actor state provider and survives deactivation and restarts. `VanActor` registers `van-service-check` with a due time of one minute and a period of 24 hours, a daily service check that must fire after hours of idle time.</a:t>
            </a:r>
          </a:p>
          <a:p/>
          <a:p>
            <a:r>
              <a:t>Callbacks: the callback named in `RegisterTimerAsync` must match a method on the same class, and the runtime invokes `ReceiveReminderAsync` for every reminder that fires.</a:t>
            </a:r>
          </a:p>
          <a:p/>
          <a:p>
            <a:r>
              <a:t>Cost: reminders cost more than timers because the runtime writes them to storage, and in Container Apps they need at least one replica to fire reliably.</a:t>
            </a:r>
          </a:p>
          <a:p/>
          <a:p>
            <a:r>
              <a:t>Hosting rule: Container Apps states that the Dapr actor and workflow SDK packages are not compatible with it. Run `VanActor` locally with the Aspire AppHost or on AKS with the Dapr extension.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42332082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Booking and tracking are stateless request handlers that suit Container Apps. This slide shows how managed Dapr works there and which limits come with it.</a:t>
            </a:r>
          </a:p>
          <a:p/>
          <a:p>
            <a:r>
              <a:t>Per app: Container Apps enables Dapr through each app's Dapr settings, and the sidecar exposes the building block APIs on port 3500. Only the listed sidecar options are available, and the Dapr configuration spec is not supported.</a:t>
            </a:r>
          </a:p>
          <a:p/>
          <a:p>
            <a:r>
              <a:t>Environment components: components are defined once on the managed environment, and their scopes list the app IDs that load each one. The diagram shows the lab's environment `cae-azn-labs-07`, where `pubsub` goes to `tracking-service` and `notification-service`, and `statestore` to `routing-service`.</a:t>
            </a:r>
          </a:p>
          <a:p/>
          <a:p>
            <a:r>
              <a:t>Tiers: Tier 1 components get immediate investigation for security or serious regressions, Tier 2 components a lower priority. The Cosmos DB state store and the Service Bus topics component are both Tier 1.</a:t>
            </a:r>
          </a:p>
          <a:p/>
          <a:p>
            <a:r>
              <a:t>Versions: you cannot choose a Dapr version, and the environment is upgraded automatically on a best-effort basis. Planned maintenance controls when upgrades happen, not which version arrives.</a:t>
            </a:r>
          </a:p>
          <a:p/>
          <a:p>
            <a:r>
              <a:t>Limits: the Dapr server extensions, actor and workflow SDK packages are not compatible with Container Apps, and Dapr is not supported for jobs. Container Apps Express supports neither Dapr nor jobs.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1026939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Both platforms offer Dapr, but they differ in who picks the version, which components are supported and which features exist at all. The decision flow asks four questions per service.</a:t>
            </a:r>
          </a:p>
          <a:p/>
          <a:p>
            <a:r>
              <a:t>The extension: the Dapr extension for AKS is a cluster extension of type `Microsoft.Dapr`, so it follows the AKS support policy.</a:t>
            </a:r>
          </a:p>
          <a:p/>
          <a:p>
            <a:r>
              <a:t>Version window: the extension supports the current and the previous Dapr versions, and keeping inside that window is the cluster owner's job. An old cluster may need intermediate upgrades.</a:t>
            </a:r>
          </a:p>
          <a:p/>
          <a:p>
            <a:r>
              <a:t>Pinning: `stable` is the default release train, and `dev` carries experimental features unsuitable for production. Set `--version` together with `--auto-upgrade-minor-version false` to pin a version.</a:t>
            </a:r>
          </a:p>
          <a:p/>
          <a:p>
            <a:r>
              <a:t>Defaults: a new cluster starts with three control-plane replicas and workload certificates that last 24 hours. The Container Apps actor restriction does not apply, so AKS is the path for `routing-service` with `VanActor`.</a:t>
            </a:r>
          </a:p>
          <a:p/>
          <a:p>
            <a:r>
              <a:t>The rule: choose Container Apps for stateless services on Tier 1 components and accept the platform's upgrade timing. Choose AKS for services that host actors, need a pinned version or depend on a component outside the Container Apps list.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0999613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lab starts with the Contoso Logistics services calling Service Bus, Cosmos DB and Redis through their own SDKs, and moves them onto Dapr building blocks in about 65 minutes. What you practise is swapping an infrastructure dependency behind a named building block.</a:t>
            </a:r>
          </a:p>
          <a:p/>
          <a:p>
            <a:r>
              <a:t>Step 1: a new `notification-service` joins, and the AppHost gives `tracking-service`, `notification-service` and `shipping-api` sidecars that load `pubsub` and `statestore`, both on the Redis container from `dapr init`. Push back if a sidecar starts with no component file behind it.</a:t>
            </a:r>
          </a:p>
          <a:p/>
          <a:p>
            <a:r>
              <a:t>Step 2: `tracking-service` publishes each `ParcelScanned` through `pubsub` to `parcel-events` with the tracking number as `SessionId`, and `notification-service` receives it through a Dapr subscription. No `Azure.Messaging.ServiceBus` type stays in this flow.</a:t>
            </a:r>
          </a:p>
          <a:p/>
          <a:p>
            <a:r>
              <a:t>Steps 3 and 4: the new `routing-service` stores each parcel assignment with first-write-wins and returns a conflict for a second van. `shipping-api` reaches it with `InvokeMethodAsync` by app ID and builds no host name.</a:t>
            </a:r>
          </a:p>
          <a:p/>
          <a:p>
            <a:r>
              <a:t>Steps 5 and 6: one resiliency spec holds the timeout, the retries on 500 to 599 and the breaker, so `shipping-api` keeps no retry loop. `VanActor` keeps each van within its capacity and runs on the local AppHost only.</a:t>
            </a:r>
          </a:p>
          <a:p/>
          <a:p>
            <a:r>
              <a:t>Step 7: the Azure component files register `pubsub` and `statestore` on `cae-azn-labs-07` with Tier 1 types and scopes. Push back if an Azure file uses a Redis type, because Redis is Tier 2 on Container Apps.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8088807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the decisions this module asks for, each one made in a file or a hosting choice rather than in scattered SDK code.</a:t>
            </a:r>
          </a:p>
          <a:p/>
          <a:p>
            <a:r>
              <a:t>Components: the code names `pubsub` and `statestore`, and the YAML decides whether Cosmos DB, Service Bus or Redis sits behind them. A broker swap replaces a file and leaves the publisher and subscriber alone.</a:t>
            </a:r>
          </a:p>
          <a:p/>
          <a:p>
            <a:r>
              <a:t>Calls and policies: services reach each other by app ID over mTLS, and timeouts, retries and breakers live in one resiliency spec instead of retry loops in the caller.</a:t>
            </a:r>
          </a:p>
          <a:p/>
          <a:p>
            <a:r>
              <a:t>State: a transition that must happen once, such as a booking moving from Booked to PickedUp, uses an ETag with first-write-wins and a bounded reread loop.</a:t>
            </a:r>
          </a:p>
          <a:p/>
          <a:p>
            <a:r>
              <a:t>Actors: `VanActor` runs one call at a time per van, so capacity holds without locks. The actor packages do not run on Container Apps, so it lives on the AppHost or AKS.</a:t>
            </a:r>
          </a:p>
          <a:p/>
          <a:p>
            <a:r>
              <a:t>Hosting: Container Apps manages the version and limits the components, AKS hands you the version window. The next module, durable execution, builds on these services to make long-running processes survive restarts.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4228264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Intro Slide">
    <p:bg>
      <p:bgPr>
        <a:solidFill>
          <a:schemeClr val="bg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BFF5F0EB-5CD2-194F-BB8C-91CBF8948E37}"/>
              </a:ext>
            </a:extLst>
          </p:cNvPr>
          <p:cNvSpPr>
            <a:spLocks noGrp="1"/>
          </p:cNvSpPr>
          <p:nvPr>
            <p:ph type="pic" sz="quarter" idx="10" hasCustomPrompt="1"/>
          </p:nvPr>
        </p:nvSpPr>
        <p:spPr>
          <a:xfrm>
            <a:off x="0" y="0"/>
            <a:ext cx="12192000" cy="6858000"/>
          </a:xfrm>
          <a:prstGeom prst="rect">
            <a:avLst/>
          </a:prstGeom>
          <a:solidFill>
            <a:schemeClr val="tx1">
              <a:lumMod val="75000"/>
              <a:lumOff val="25000"/>
            </a:schemeClr>
          </a:solidFill>
          <a:ln>
            <a:noFill/>
          </a:ln>
        </p:spPr>
        <p:txBody>
          <a:bodyPr/>
          <a:lstStyle>
            <a:lvl1pPr marL="0" indent="0">
              <a:buNone/>
              <a:defRPr/>
            </a:lvl1pPr>
          </a:lstStyle>
          <a:p>
            <a:r>
              <a:rPr lang="en-HR"/>
              <a:t>Click or drag to add picture</a:t>
            </a:r>
          </a:p>
        </p:txBody>
      </p:sp>
      <p:sp>
        <p:nvSpPr>
          <p:cNvPr id="13" name="Text Placeholder 13">
            <a:extLst>
              <a:ext uri="{FF2B5EF4-FFF2-40B4-BE49-F238E27FC236}">
                <a16:creationId xmlns:a16="http://schemas.microsoft.com/office/drawing/2014/main" id="{128D6CBD-EAC7-0540-9B7E-CC16CC95FE7D}"/>
              </a:ext>
            </a:extLst>
          </p:cNvPr>
          <p:cNvSpPr>
            <a:spLocks noGrp="1"/>
          </p:cNvSpPr>
          <p:nvPr>
            <p:ph type="body" sz="quarter" idx="12"/>
          </p:nvPr>
        </p:nvSpPr>
        <p:spPr>
          <a:xfrm>
            <a:off x="334965" y="390742"/>
            <a:ext cx="5856831" cy="692471"/>
          </a:xfrm>
          <a:prstGeom prst="rect">
            <a:avLst/>
          </a:prstGeom>
        </p:spPr>
        <p:txBody>
          <a:bodyPr/>
          <a:lstStyle>
            <a:lvl1pPr marL="0" indent="0">
              <a:buNone/>
              <a:defRPr sz="4400" b="1">
                <a:solidFill>
                  <a:schemeClr val="bg1"/>
                </a:solidFill>
                <a:latin typeface="IBM Plex Sans" panose="020B0503050203000203" pitchFamily="34" charset="0"/>
              </a:defRPr>
            </a:lvl1pPr>
          </a:lstStyle>
          <a:p>
            <a:pPr lvl="0"/>
            <a:endParaRPr lang="en-HR"/>
          </a:p>
        </p:txBody>
      </p:sp>
      <p:sp>
        <p:nvSpPr>
          <p:cNvPr id="15" name="Text Placeholder 13">
            <a:extLst>
              <a:ext uri="{FF2B5EF4-FFF2-40B4-BE49-F238E27FC236}">
                <a16:creationId xmlns:a16="http://schemas.microsoft.com/office/drawing/2014/main" id="{192EB840-6AE9-194D-B55E-C0698CCD4788}"/>
              </a:ext>
            </a:extLst>
          </p:cNvPr>
          <p:cNvSpPr>
            <a:spLocks noGrp="1"/>
          </p:cNvSpPr>
          <p:nvPr>
            <p:ph type="body" sz="quarter" idx="13"/>
          </p:nvPr>
        </p:nvSpPr>
        <p:spPr>
          <a:xfrm>
            <a:off x="334965" y="1122467"/>
            <a:ext cx="5856831" cy="3593431"/>
          </a:xfrm>
          <a:prstGeom prst="rect">
            <a:avLst/>
          </a:prstGeom>
        </p:spPr>
        <p:txBody>
          <a:bodyPr/>
          <a:lstStyle>
            <a:lvl1pPr marL="0" indent="0">
              <a:buNone/>
              <a:defRPr sz="4400" b="0">
                <a:solidFill>
                  <a:srgbClr val="09A9AB"/>
                </a:solidFill>
                <a:latin typeface="IBM Plex Sans" panose="020B0503050203000203" pitchFamily="34" charset="0"/>
              </a:defRPr>
            </a:lvl1pPr>
          </a:lstStyle>
          <a:p>
            <a:pPr lvl="0"/>
            <a:endParaRPr lang="en-HR"/>
          </a:p>
        </p:txBody>
      </p:sp>
      <p:sp>
        <p:nvSpPr>
          <p:cNvPr id="17" name="Text Placeholder 16">
            <a:extLst>
              <a:ext uri="{FF2B5EF4-FFF2-40B4-BE49-F238E27FC236}">
                <a16:creationId xmlns:a16="http://schemas.microsoft.com/office/drawing/2014/main" id="{A54B9BAF-8941-AB4D-89A7-466A5BA376C2}"/>
              </a:ext>
            </a:extLst>
          </p:cNvPr>
          <p:cNvSpPr>
            <a:spLocks noGrp="1"/>
          </p:cNvSpPr>
          <p:nvPr>
            <p:ph type="body" sz="quarter" idx="14" hasCustomPrompt="1"/>
          </p:nvPr>
        </p:nvSpPr>
        <p:spPr>
          <a:xfrm>
            <a:off x="334965" y="5989388"/>
            <a:ext cx="5856831" cy="254659"/>
          </a:xfrm>
          <a:prstGeom prst="rect">
            <a:avLst/>
          </a:prstGeom>
        </p:spPr>
        <p:txBody>
          <a:bodyPr/>
          <a:lstStyle>
            <a:lvl1pPr marL="0" indent="0">
              <a:buNone/>
              <a:defRPr sz="1400" b="1">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lvl="0"/>
            <a:r>
              <a:rPr lang="en-HR"/>
              <a:t>Name Surname</a:t>
            </a:r>
          </a:p>
        </p:txBody>
      </p:sp>
      <p:sp>
        <p:nvSpPr>
          <p:cNvPr id="18" name="Text Placeholder 16">
            <a:extLst>
              <a:ext uri="{FF2B5EF4-FFF2-40B4-BE49-F238E27FC236}">
                <a16:creationId xmlns:a16="http://schemas.microsoft.com/office/drawing/2014/main" id="{FBA33DA8-0E61-0B43-9081-719F5B2D9FA9}"/>
              </a:ext>
            </a:extLst>
          </p:cNvPr>
          <p:cNvSpPr>
            <a:spLocks noGrp="1"/>
          </p:cNvSpPr>
          <p:nvPr>
            <p:ph type="body" sz="quarter" idx="15" hasCustomPrompt="1"/>
          </p:nvPr>
        </p:nvSpPr>
        <p:spPr>
          <a:xfrm>
            <a:off x="334965" y="6283301"/>
            <a:ext cx="5856831" cy="254659"/>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b="0">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a:solidFill>
                  <a:srgbClr val="FFFFFF"/>
                </a:solidFill>
                <a:latin typeface="IBM Plex Sans Light" panose="020B0403050203000203" pitchFamily="34" charset="0"/>
                <a:ea typeface="Verdana" panose="020B0604030504040204" pitchFamily="34" charset="0"/>
                <a:cs typeface="Verdana" panose="020B0604030504040204" pitchFamily="34" charset="0"/>
              </a:rPr>
              <a:t>Global Director Digital Strategy</a:t>
            </a:r>
          </a:p>
          <a:p>
            <a:pPr lvl="0"/>
            <a:endParaRPr lang="en-HR"/>
          </a:p>
        </p:txBody>
      </p:sp>
      <p:pic>
        <p:nvPicPr>
          <p:cNvPr id="9" name="Picture 8">
            <a:extLst>
              <a:ext uri="{FF2B5EF4-FFF2-40B4-BE49-F238E27FC236}">
                <a16:creationId xmlns:a16="http://schemas.microsoft.com/office/drawing/2014/main" id="{F7804F17-E6E2-C546-9FB7-F619A6FF900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Tree>
    <p:extLst>
      <p:ext uri="{BB962C8B-B14F-4D97-AF65-F5344CB8AC3E}">
        <p14:creationId xmlns:p14="http://schemas.microsoft.com/office/powerpoint/2010/main" val="6408445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9246991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1.emf"/><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1.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4.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5.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6.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7.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8.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9.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0.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B642C-D847-89BF-1014-698D4947DFA1}"/>
            </a:ext>
          </a:extLst>
        </p:cNvPr>
        <p:cNvGrpSpPr/>
        <p:nvPr/>
      </p:nvGrpSpPr>
      <p:grpSpPr>
        <a:xfrm>
          <a:off x="0" y="0"/>
          <a:ext cx="0" cy="0"/>
          <a:chOff x="0" y="0"/>
          <a:chExt cx="0" cy="0"/>
        </a:xfrm>
      </p:grpSpPr>
      <p:pic>
        <p:nvPicPr>
          <p:cNvPr id="8" name="Picture Placeholder 15" descr="Woman walking in office">
            <a:extLst>
              <a:ext uri="{FF2B5EF4-FFF2-40B4-BE49-F238E27FC236}">
                <a16:creationId xmlns:a16="http://schemas.microsoft.com/office/drawing/2014/main" id="{92CB83EA-0659-E370-8CB8-52A704AFB40A}"/>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a:stretch/>
        </p:blipFill>
        <p:spPr>
          <a:xfrm>
            <a:off x="5756109" y="1"/>
            <a:ext cx="6435892" cy="6858000"/>
          </a:xfrm>
          <a:ln>
            <a:noFill/>
          </a:ln>
        </p:spPr>
      </p:pic>
      <p:pic>
        <p:nvPicPr>
          <p:cNvPr id="9" name="Picture 8" descr="Background pattern&#10;&#10;Description automatically generated">
            <a:extLst>
              <a:ext uri="{FF2B5EF4-FFF2-40B4-BE49-F238E27FC236}">
                <a16:creationId xmlns:a16="http://schemas.microsoft.com/office/drawing/2014/main" id="{CAAB5C21-DEC6-1D47-0353-AD276084FCB8}"/>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a:off x="12073020" y="1"/>
            <a:ext cx="118981" cy="6858000"/>
          </a:xfrm>
          <a:prstGeom prst="rect">
            <a:avLst/>
          </a:prstGeom>
          <a:effectLst/>
        </p:spPr>
      </p:pic>
      <p:sp>
        <p:nvSpPr>
          <p:cNvPr id="3" name="Text Placeholder 2">
            <a:extLst>
              <a:ext uri="{FF2B5EF4-FFF2-40B4-BE49-F238E27FC236}">
                <a16:creationId xmlns:a16="http://schemas.microsoft.com/office/drawing/2014/main" id="{168D64F3-EA49-4D44-720E-6DEF74D4F314}"/>
              </a:ext>
            </a:extLst>
          </p:cNvPr>
          <p:cNvSpPr>
            <a:spLocks noGrp="1"/>
          </p:cNvSpPr>
          <p:nvPr>
            <p:ph type="body" sz="quarter" idx="12"/>
          </p:nvPr>
        </p:nvSpPr>
        <p:spPr>
          <a:xfrm>
            <a:off x="334965" y="1143000"/>
            <a:ext cx="5856831" cy="692471"/>
          </a:xfrm>
        </p:spPr>
        <p:txBody>
          <a:bodyPr/>
          <a:lstStyle/>
          <a:p>
            <a:r>
              <a:rPr lang="en-GB">
                <a:solidFill>
                  <a:srgbClr val="09A9AB"/>
                </a:solidFill>
              </a:rPr>
              <a:t>Fast Lane Group</a:t>
            </a:r>
          </a:p>
          <a:p>
            <a:endParaRPr lang="en-HR">
              <a:solidFill>
                <a:srgbClr val="09A9AB"/>
              </a:solidFill>
            </a:endParaRPr>
          </a:p>
        </p:txBody>
      </p:sp>
      <p:sp>
        <p:nvSpPr>
          <p:cNvPr id="4" name="Text Placeholder 3">
            <a:extLst>
              <a:ext uri="{FF2B5EF4-FFF2-40B4-BE49-F238E27FC236}">
                <a16:creationId xmlns:a16="http://schemas.microsoft.com/office/drawing/2014/main" id="{CE056563-3889-E68E-51A3-F6FD61A4B2A9}"/>
              </a:ext>
            </a:extLst>
          </p:cNvPr>
          <p:cNvSpPr>
            <a:spLocks noGrp="1"/>
          </p:cNvSpPr>
          <p:nvPr>
            <p:ph type="body" sz="quarter" idx="13"/>
          </p:nvPr>
        </p:nvSpPr>
        <p:spPr>
          <a:xfrm>
            <a:off x="334964" y="1908623"/>
            <a:ext cx="5108907" cy="1188720"/>
          </a:xfrm>
        </p:spPr>
        <p:txBody>
          <a:bodyPr/>
          <a:lstStyle/>
          <a:p>
            <a:pPr>
              <a:lnSpc>
                <a:spcPct val="110000"/>
              </a:lnSpc>
              <a:spcBef>
                <a:spcPts val="0"/>
              </a:spcBef>
            </a:pPr>
            <a:r>
              <a:rPr lang="en-GB" sz="3200">
                <a:solidFill>
                  <a:srgbClr val="04282E"/>
                </a:solidFill>
              </a:rPr>
              <a:t>Worldwide Education &amp;</a:t>
            </a:r>
          </a:p>
          <a:p>
            <a:pPr>
              <a:lnSpc>
                <a:spcPct val="110000"/>
              </a:lnSpc>
              <a:spcBef>
                <a:spcPts val="0"/>
              </a:spcBef>
            </a:pPr>
            <a:r>
              <a:rPr lang="en-GB" sz="3200">
                <a:solidFill>
                  <a:srgbClr val="04282E"/>
                </a:solidFill>
              </a:rPr>
              <a:t>Professional Services</a:t>
            </a:r>
          </a:p>
          <a:p>
            <a:pPr>
              <a:lnSpc>
                <a:spcPct val="110000"/>
              </a:lnSpc>
              <a:spcBef>
                <a:spcPts val="0"/>
              </a:spcBef>
            </a:pPr>
            <a:endParaRPr lang="en-HR">
              <a:solidFill>
                <a:srgbClr val="04282E"/>
              </a:solidFill>
            </a:endParaRPr>
          </a:p>
        </p:txBody>
      </p:sp>
      <p:pic>
        <p:nvPicPr>
          <p:cNvPr id="10" name="Picture 9">
            <a:extLst>
              <a:ext uri="{FF2B5EF4-FFF2-40B4-BE49-F238E27FC236}">
                <a16:creationId xmlns:a16="http://schemas.microsoft.com/office/drawing/2014/main" id="{B73A0D74-6908-2F97-B10F-2125282EE6C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
        <p:nvSpPr>
          <p:cNvPr id="14" name="Text Placeholder 5">
            <a:extLst>
              <a:ext uri="{FF2B5EF4-FFF2-40B4-BE49-F238E27FC236}">
                <a16:creationId xmlns:a16="http://schemas.microsoft.com/office/drawing/2014/main" id="{F9F0E5C2-05DA-E683-5802-C835061B32C9}"/>
              </a:ext>
            </a:extLst>
          </p:cNvPr>
          <p:cNvSpPr>
            <a:spLocks noGrp="1"/>
          </p:cNvSpPr>
          <p:nvPr>
            <p:ph type="body" sz="quarter" idx="15"/>
          </p:nvPr>
        </p:nvSpPr>
        <p:spPr>
          <a:xfrm>
            <a:off x="334965" y="6283301"/>
            <a:ext cx="5856831" cy="254659"/>
          </a:xfrm>
        </p:spPr>
        <p:txBody>
          <a:bodyPr lIns="91440" tIns="45720" rIns="91440" bIns="45720" anchor="t"/>
          <a:lstStyle/>
          <a:p>
            <a:r>
              <a:rPr lang="en-GB" sz="1050" b="0">
                <a:solidFill>
                  <a:schemeClr val="tx1"/>
                </a:solidFill>
                <a:latin typeface="IBM Plex Sans"/>
              </a:rPr>
              <a:t>www.flane.de | © 2026 Fast Lane Institute for Knowledge Transfer GmbH</a:t>
            </a:r>
            <a:endParaRPr lang="en-GB" sz="1050" b="0">
              <a:solidFill>
                <a:schemeClr val="tx1"/>
              </a:solidFill>
            </a:endParaRPr>
          </a:p>
          <a:p>
            <a:endParaRPr lang="en-HR" sz="1050" b="0">
              <a:solidFill>
                <a:schemeClr val="tx1"/>
              </a:solidFill>
            </a:endParaRPr>
          </a:p>
        </p:txBody>
      </p:sp>
      <p:pic>
        <p:nvPicPr>
          <p:cNvPr id="2" name="Grafik 1" descr="Ein Bild, das Text, Screenshot, Schrift, Logo enthält.&#10;&#10;KI-generierte Inhalte können fehlerhaft sein.">
            <a:extLst>
              <a:ext uri="{FF2B5EF4-FFF2-40B4-BE49-F238E27FC236}">
                <a16:creationId xmlns:a16="http://schemas.microsoft.com/office/drawing/2014/main" id="{44898A48-153F-AE4B-CCD7-54A6700C10AC}"/>
              </a:ext>
            </a:extLst>
          </p:cNvPr>
          <p:cNvPicPr>
            <a:picLocks noChangeAspect="1"/>
          </p:cNvPicPr>
          <p:nvPr/>
        </p:nvPicPr>
        <p:blipFill>
          <a:blip r:embed="rId6"/>
          <a:stretch>
            <a:fillRect/>
          </a:stretch>
        </p:blipFill>
        <p:spPr>
          <a:xfrm>
            <a:off x="405687" y="3814083"/>
            <a:ext cx="2718708" cy="2013469"/>
          </a:xfrm>
          <a:prstGeom prst="rect">
            <a:avLst/>
          </a:prstGeom>
        </p:spPr>
      </p:pic>
    </p:spTree>
    <p:extLst>
      <p:ext uri="{BB962C8B-B14F-4D97-AF65-F5344CB8AC3E}">
        <p14:creationId xmlns:p14="http://schemas.microsoft.com/office/powerpoint/2010/main" val="3477521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127999" y="0"/>
            <a:ext cx="4064000" cy="6857999"/>
          </a:xfrm>
          <a:prstGeom prst="rect">
            <a:avLst/>
          </a:prstGeom>
          <a:gradFill rotWithShape="1">
            <a:gsLst>
              <a:gs pos="0">
                <a:srgbClr val="353D40"/>
              </a:gs>
              <a:gs pos="55000">
                <a:srgbClr val="2D3436"/>
              </a:gs>
              <a:gs pos="100000">
                <a:srgbClr val="262C2E"/>
              </a:gs>
            </a:gsLst>
            <a:lin ang="4200000" scaled="0"/>
          </a:gradFill>
          <a:ln/>
        </p:spPr>
        <p:txBody>
          <a:bodyPr/>
          <a:lstStyle/>
          <a:p>
            <a:endParaRPr lang="en-AT"/>
          </a:p>
        </p:txBody>
      </p:sp>
      <p:sp>
        <p:nvSpPr>
          <p:cNvPr id="3" name="Shape 1"/>
          <p:cNvSpPr/>
          <p:nvPr/>
        </p:nvSpPr>
        <p:spPr>
          <a:xfrm>
            <a:off x="8127999" y="0"/>
            <a:ext cx="38089" cy="6857999"/>
          </a:xfrm>
          <a:prstGeom prst="rect">
            <a:avLst/>
          </a:prstGeom>
          <a:solidFill>
            <a:srgbClr val="D4B483"/>
          </a:solidFill>
          <a:ln/>
        </p:spPr>
        <p:txBody>
          <a:bodyPr/>
          <a:lstStyle/>
          <a:p>
            <a:endParaRPr lang="en-AT"/>
          </a:p>
        </p:txBody>
      </p:sp>
      <p:pic>
        <p:nvPicPr>
          <p:cNvPr id="4" name="Image 0" descr="integrations logo"/>
          <p:cNvPicPr>
            <a:picLocks noChangeAspect="1"/>
          </p:cNvPicPr>
          <p:nvPr/>
        </p:nvPicPr>
        <p:blipFill>
          <a:blip r:embed="rId3"/>
          <a:srcRect l="-23" r="-23"/>
          <a:stretch/>
        </p:blipFill>
        <p:spPr>
          <a:xfrm>
            <a:off x="8889999" y="457178"/>
            <a:ext cx="2540000" cy="527017"/>
          </a:xfrm>
          <a:prstGeom prst="rect">
            <a:avLst/>
          </a:prstGeom>
        </p:spPr>
      </p:pic>
      <p:sp>
        <p:nvSpPr>
          <p:cNvPr id="5" name="Text 2"/>
          <p:cNvSpPr/>
          <p:nvPr/>
        </p:nvSpPr>
        <p:spPr>
          <a:xfrm>
            <a:off x="8590279" y="1079500"/>
            <a:ext cx="3139440" cy="391186"/>
          </a:xfrm>
          <a:prstGeom prst="rect">
            <a:avLst/>
          </a:prstGeom>
          <a:noFill/>
          <a:ln/>
        </p:spPr>
        <p:txBody>
          <a:bodyPr wrap="square" lIns="0" tIns="0" rIns="0" bIns="0" rtlCol="0" anchor="t">
            <a:normAutofit/>
          </a:bodyPr>
          <a:lstStyle/>
          <a:p>
            <a:pPr marL="0" indent="0" algn="ctr">
              <a:lnSpc>
                <a:spcPts val="1440"/>
              </a:lnSpc>
              <a:buNone/>
            </a:pPr>
            <a:r>
              <a:rPr lang="en-US" sz="1200" kern="0" spc="200" dirty="0">
                <a:solidFill>
                  <a:srgbClr val="C9CFD3"/>
                </a:solidFill>
                <a:latin typeface="Poppins" pitchFamily="34" charset="0"/>
                <a:ea typeface="Poppins" pitchFamily="34" charset="-122"/>
                <a:cs typeface="Poppins" pitchFamily="34" charset="-120"/>
              </a:rPr>
              <a:t>AGENTIC AI CONSULTING · VIENNA</a:t>
            </a:r>
            <a:endParaRPr lang="en-US" sz="1200" dirty="0"/>
          </a:p>
        </p:txBody>
      </p:sp>
      <p:pic>
        <p:nvPicPr>
          <p:cNvPr id="6" name="Image 1" descr="Portrait of Alexander Kastil"/>
          <p:cNvPicPr>
            <a:picLocks noChangeAspect="1"/>
          </p:cNvPicPr>
          <p:nvPr/>
        </p:nvPicPr>
        <p:blipFill>
          <a:blip r:embed="rId4"/>
          <a:srcRect/>
          <a:stretch/>
        </p:blipFill>
        <p:spPr>
          <a:xfrm>
            <a:off x="8953499" y="1549356"/>
            <a:ext cx="2413000" cy="2413000"/>
          </a:xfrm>
          <a:prstGeom prst="ellipse">
            <a:avLst/>
          </a:prstGeom>
        </p:spPr>
      </p:pic>
      <p:pic>
        <p:nvPicPr>
          <p:cNvPr id="7" name="Image 2" descr="Microsoft Certified: Agentic AI Business Solutions Architect"/>
          <p:cNvPicPr>
            <a:picLocks noChangeAspect="1"/>
          </p:cNvPicPr>
          <p:nvPr/>
        </p:nvPicPr>
        <p:blipFill>
          <a:blip r:embed="rId5"/>
          <a:srcRect l="-86" r="-86"/>
          <a:stretch/>
        </p:blipFill>
        <p:spPr>
          <a:xfrm>
            <a:off x="8718517" y="4267178"/>
            <a:ext cx="762000" cy="812767"/>
          </a:xfrm>
          <a:prstGeom prst="rect">
            <a:avLst/>
          </a:prstGeom>
        </p:spPr>
      </p:pic>
      <p:pic>
        <p:nvPicPr>
          <p:cNvPr id="8" name="Image 3" descr="Microsoft Certified: Azure AI App and Agent Developer Associate"/>
          <p:cNvPicPr>
            <a:picLocks noChangeAspect="1"/>
          </p:cNvPicPr>
          <p:nvPr/>
        </p:nvPicPr>
        <p:blipFill>
          <a:blip r:embed="rId6"/>
          <a:srcRect t="-25" b="-25"/>
          <a:stretch/>
        </p:blipFill>
        <p:spPr>
          <a:xfrm>
            <a:off x="9734517" y="4267178"/>
            <a:ext cx="806428" cy="812767"/>
          </a:xfrm>
          <a:prstGeom prst="rect">
            <a:avLst/>
          </a:prstGeom>
        </p:spPr>
      </p:pic>
      <p:pic>
        <p:nvPicPr>
          <p:cNvPr id="9" name="Image 4" descr="Microsoft Certified: DevOps Engineer Expert"/>
          <p:cNvPicPr>
            <a:picLocks noChangeAspect="1"/>
          </p:cNvPicPr>
          <p:nvPr/>
        </p:nvPicPr>
        <p:blipFill>
          <a:blip r:embed="rId7"/>
          <a:srcRect t="-5" b="-5"/>
          <a:stretch/>
        </p:blipFill>
        <p:spPr>
          <a:xfrm>
            <a:off x="10794999" y="4267178"/>
            <a:ext cx="806428" cy="812767"/>
          </a:xfrm>
          <a:prstGeom prst="rect">
            <a:avLst/>
          </a:prstGeom>
        </p:spPr>
      </p:pic>
      <p:pic>
        <p:nvPicPr>
          <p:cNvPr id="10" name="Image 5" descr="line"/>
          <p:cNvPicPr>
            <a:picLocks noChangeAspect="1"/>
          </p:cNvPicPr>
          <p:nvPr/>
        </p:nvPicPr>
        <p:blipFill>
          <a:blip r:embed="rId8"/>
          <a:srcRect t="-5559" b="-5559"/>
          <a:stretch/>
        </p:blipFill>
        <p:spPr>
          <a:xfrm>
            <a:off x="8889999" y="5334000"/>
            <a:ext cx="2540000" cy="7056"/>
          </a:xfrm>
          <a:prstGeom prst="rect">
            <a:avLst/>
          </a:prstGeom>
        </p:spPr>
      </p:pic>
      <p:sp>
        <p:nvSpPr>
          <p:cNvPr id="11" name="Shape 3"/>
          <p:cNvSpPr/>
          <p:nvPr/>
        </p:nvSpPr>
        <p:spPr>
          <a:xfrm>
            <a:off x="8978855" y="5638767"/>
            <a:ext cx="635000" cy="635000"/>
          </a:xfrm>
          <a:prstGeom prst="roundRect">
            <a:avLst>
              <a:gd name="adj" fmla="val 10000"/>
            </a:avLst>
          </a:prstGeom>
          <a:solidFill>
            <a:srgbClr val="FFFFFF"/>
          </a:solidFill>
          <a:ln/>
        </p:spPr>
        <p:txBody>
          <a:bodyPr/>
          <a:lstStyle/>
          <a:p>
            <a:endParaRPr lang="en-AT"/>
          </a:p>
        </p:txBody>
      </p:sp>
      <p:pic>
        <p:nvPicPr>
          <p:cNvPr id="12" name="Image 6" descr="QR code"/>
          <p:cNvPicPr>
            <a:picLocks noChangeAspect="1"/>
          </p:cNvPicPr>
          <p:nvPr/>
        </p:nvPicPr>
        <p:blipFill>
          <a:blip r:embed="rId9"/>
          <a:srcRect t="-338" b="-338"/>
          <a:stretch/>
        </p:blipFill>
        <p:spPr>
          <a:xfrm>
            <a:off x="9029622" y="5689533"/>
            <a:ext cx="533356" cy="533356"/>
          </a:xfrm>
          <a:prstGeom prst="rect">
            <a:avLst/>
          </a:prstGeom>
        </p:spPr>
      </p:pic>
      <p:sp>
        <p:nvSpPr>
          <p:cNvPr id="13" name="Text 4"/>
          <p:cNvSpPr/>
          <p:nvPr/>
        </p:nvSpPr>
        <p:spPr>
          <a:xfrm>
            <a:off x="9766267" y="5715000"/>
            <a:ext cx="1701800" cy="208293"/>
          </a:xfrm>
          <a:prstGeom prst="rect">
            <a:avLst/>
          </a:prstGeom>
          <a:noFill/>
          <a:ln/>
        </p:spPr>
        <p:txBody>
          <a:bodyPr wrap="square" lIns="0" tIns="0" rIns="0" bIns="0" rtlCol="0" anchor="t">
            <a:normAutofit/>
          </a:bodyPr>
          <a:lstStyle/>
          <a:p>
            <a:pPr marL="0" indent="0" algn="l">
              <a:lnSpc>
                <a:spcPts val="1440"/>
              </a:lnSpc>
              <a:buNone/>
            </a:pPr>
            <a:r>
              <a:rPr lang="en-US" sz="1200" kern="0" spc="100" dirty="0">
                <a:solidFill>
                  <a:srgbClr val="D4B483"/>
                </a:solidFill>
                <a:latin typeface="Poppins" pitchFamily="34" charset="0"/>
                <a:ea typeface="Poppins" pitchFamily="34" charset="-122"/>
                <a:cs typeface="Poppins" pitchFamily="34" charset="-120"/>
              </a:rPr>
              <a:t>SCAN TO CONNECT</a:t>
            </a:r>
            <a:endParaRPr lang="en-US" sz="1200" dirty="0"/>
          </a:p>
        </p:txBody>
      </p:sp>
      <p:sp>
        <p:nvSpPr>
          <p:cNvPr id="14" name="Text 5"/>
          <p:cNvSpPr/>
          <p:nvPr/>
        </p:nvSpPr>
        <p:spPr>
          <a:xfrm>
            <a:off x="9766267" y="5930855"/>
            <a:ext cx="1701800" cy="269203"/>
          </a:xfrm>
          <a:prstGeom prst="rect">
            <a:avLst/>
          </a:prstGeom>
          <a:noFill/>
          <a:ln/>
        </p:spPr>
        <p:txBody>
          <a:bodyPr wrap="square" lIns="0" tIns="0" rIns="0" bIns="0" rtlCol="0" anchor="t">
            <a:normAutofit/>
          </a:bodyPr>
          <a:lstStyle/>
          <a:p>
            <a:pPr marL="0" indent="0" algn="l">
              <a:lnSpc>
                <a:spcPts val="1920"/>
              </a:lnSpc>
              <a:buNone/>
            </a:pPr>
            <a:r>
              <a:rPr lang="en-US" sz="1600" b="1" kern="0" spc="-15" dirty="0">
                <a:solidFill>
                  <a:srgbClr val="FFFFFF"/>
                </a:solidFill>
                <a:latin typeface="Montserrat" pitchFamily="34" charset="0"/>
                <a:ea typeface="Montserrat" pitchFamily="34" charset="-122"/>
                <a:cs typeface="Montserrat" pitchFamily="34" charset="-120"/>
              </a:rPr>
              <a:t>integrations.at</a:t>
            </a:r>
            <a:endParaRPr lang="en-US" sz="1600" dirty="0"/>
          </a:p>
        </p:txBody>
      </p:sp>
      <p:sp>
        <p:nvSpPr>
          <p:cNvPr id="15" name="Shape 6"/>
          <p:cNvSpPr/>
          <p:nvPr/>
        </p:nvSpPr>
        <p:spPr>
          <a:xfrm>
            <a:off x="812767" y="740392"/>
            <a:ext cx="254000" cy="19017"/>
          </a:xfrm>
          <a:prstGeom prst="rect">
            <a:avLst/>
          </a:prstGeom>
          <a:solidFill>
            <a:srgbClr val="4A9EFF"/>
          </a:solidFill>
          <a:ln/>
        </p:spPr>
        <p:txBody>
          <a:bodyPr/>
          <a:lstStyle/>
          <a:p>
            <a:endParaRPr lang="en-AT"/>
          </a:p>
        </p:txBody>
      </p:sp>
      <p:sp>
        <p:nvSpPr>
          <p:cNvPr id="16" name="Text 7"/>
          <p:cNvSpPr/>
          <p:nvPr/>
        </p:nvSpPr>
        <p:spPr>
          <a:xfrm>
            <a:off x="1193767" y="609589"/>
            <a:ext cx="5743944" cy="306079"/>
          </a:xfrm>
          <a:prstGeom prst="rect">
            <a:avLst/>
          </a:prstGeom>
          <a:noFill/>
          <a:ln/>
        </p:spPr>
        <p:txBody>
          <a:bodyPr wrap="square" lIns="0" tIns="0" rIns="0" bIns="0" rtlCol="0" anchor="t">
            <a:normAutofit/>
          </a:bodyPr>
          <a:lstStyle/>
          <a:p>
            <a:pPr marL="0" indent="0" algn="l">
              <a:lnSpc>
                <a:spcPts val="2210"/>
              </a:lnSpc>
              <a:buNone/>
            </a:pPr>
            <a:r>
              <a:rPr lang="en-US" sz="1700" b="1" kern="0" spc="35" dirty="0">
                <a:solidFill>
                  <a:srgbClr val="2D3436"/>
                </a:solidFill>
                <a:latin typeface="Montserrat" pitchFamily="34" charset="0"/>
                <a:ea typeface="Montserrat" pitchFamily="34" charset="-122"/>
                <a:cs typeface="Montserrat" pitchFamily="34" charset="-120"/>
              </a:rPr>
              <a:t>AGENTIC AI: FROM STRATEGY TO </a:t>
            </a:r>
            <a:r>
              <a:rPr lang="en-US" sz="1700" b="1" kern="0" spc="35" dirty="0">
                <a:solidFill>
                  <a:srgbClr val="1462C6"/>
                </a:solidFill>
                <a:latin typeface="Montserrat" pitchFamily="34" charset="0"/>
                <a:ea typeface="Montserrat" pitchFamily="34" charset="-122"/>
                <a:cs typeface="Montserrat" pitchFamily="34" charset="-120"/>
              </a:rPr>
              <a:t>PRODUCTION.</a:t>
            </a:r>
            <a:endParaRPr lang="en-US" sz="1700" dirty="0"/>
          </a:p>
        </p:txBody>
      </p:sp>
      <p:sp>
        <p:nvSpPr>
          <p:cNvPr id="17" name="Text 8"/>
          <p:cNvSpPr/>
          <p:nvPr/>
        </p:nvSpPr>
        <p:spPr>
          <a:xfrm>
            <a:off x="812767" y="1017268"/>
            <a:ext cx="6906756" cy="1476199"/>
          </a:xfrm>
          <a:prstGeom prst="rect">
            <a:avLst/>
          </a:prstGeom>
          <a:noFill/>
          <a:ln/>
        </p:spPr>
        <p:txBody>
          <a:bodyPr wrap="square" lIns="0" tIns="0" rIns="0" bIns="0" rtlCol="0" anchor="t">
            <a:normAutofit/>
          </a:bodyPr>
          <a:lstStyle/>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Alexander</a:t>
            </a:r>
            <a:endParaRPr lang="en-US" sz="5600" dirty="0"/>
          </a:p>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Kastil</a:t>
            </a:r>
            <a:endParaRPr lang="en-US" sz="5600" dirty="0"/>
          </a:p>
        </p:txBody>
      </p:sp>
      <p:sp>
        <p:nvSpPr>
          <p:cNvPr id="18" name="Text 9"/>
          <p:cNvSpPr/>
          <p:nvPr/>
        </p:nvSpPr>
        <p:spPr>
          <a:xfrm>
            <a:off x="812767" y="2620466"/>
            <a:ext cx="6906756" cy="27428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95F67"/>
                </a:solidFill>
                <a:latin typeface="Poppins" pitchFamily="34" charset="0"/>
                <a:ea typeface="Poppins" pitchFamily="34" charset="-122"/>
                <a:cs typeface="Poppins" pitchFamily="34" charset="-120"/>
              </a:rPr>
              <a:t>Full stack, from enterprise software to agentic AI. Since 1996</a:t>
            </a:r>
            <a:endParaRPr lang="en-US" sz="1400" dirty="0"/>
          </a:p>
        </p:txBody>
      </p:sp>
      <p:sp>
        <p:nvSpPr>
          <p:cNvPr id="19" name="Shape 10"/>
          <p:cNvSpPr/>
          <p:nvPr/>
        </p:nvSpPr>
        <p:spPr>
          <a:xfrm>
            <a:off x="822292" y="3322781"/>
            <a:ext cx="0" cy="704784"/>
          </a:xfrm>
          <a:prstGeom prst="line">
            <a:avLst/>
          </a:prstGeom>
          <a:noFill/>
          <a:ln w="19050">
            <a:solidFill>
              <a:srgbClr val="D4B483"/>
            </a:solidFill>
            <a:prstDash val="solid"/>
          </a:ln>
        </p:spPr>
        <p:txBody>
          <a:bodyPr/>
          <a:lstStyle/>
          <a:p>
            <a:endParaRPr lang="en-AT"/>
          </a:p>
        </p:txBody>
      </p:sp>
      <p:sp>
        <p:nvSpPr>
          <p:cNvPr id="20" name="Text 11"/>
          <p:cNvSpPr/>
          <p:nvPr/>
        </p:nvSpPr>
        <p:spPr>
          <a:xfrm>
            <a:off x="982762" y="3335458"/>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AI at Work</a:t>
            </a:r>
            <a:endParaRPr lang="en-US" sz="1300" dirty="0"/>
          </a:p>
        </p:txBody>
      </p:sp>
      <p:sp>
        <p:nvSpPr>
          <p:cNvPr id="21" name="Text 12"/>
          <p:cNvSpPr/>
          <p:nvPr/>
        </p:nvSpPr>
        <p:spPr>
          <a:xfrm>
            <a:off x="982762" y="358813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Value discovery, KPI mapping and roadmap</a:t>
            </a:r>
            <a:endParaRPr lang="en-US" sz="1200" dirty="0"/>
          </a:p>
        </p:txBody>
      </p:sp>
      <p:sp>
        <p:nvSpPr>
          <p:cNvPr id="22" name="Shape 13"/>
          <p:cNvSpPr/>
          <p:nvPr/>
        </p:nvSpPr>
        <p:spPr>
          <a:xfrm>
            <a:off x="4378237" y="3322781"/>
            <a:ext cx="0" cy="704784"/>
          </a:xfrm>
          <a:prstGeom prst="line">
            <a:avLst/>
          </a:prstGeom>
          <a:noFill/>
          <a:ln w="19050">
            <a:solidFill>
              <a:srgbClr val="D4B483"/>
            </a:solidFill>
            <a:prstDash val="solid"/>
          </a:ln>
        </p:spPr>
        <p:txBody>
          <a:bodyPr/>
          <a:lstStyle/>
          <a:p>
            <a:endParaRPr lang="en-AT"/>
          </a:p>
        </p:txBody>
      </p:sp>
      <p:sp>
        <p:nvSpPr>
          <p:cNvPr id="23" name="Text 14"/>
          <p:cNvSpPr/>
          <p:nvPr/>
        </p:nvSpPr>
        <p:spPr>
          <a:xfrm>
            <a:off x="4538706" y="3335458"/>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Enterprise AI</a:t>
            </a:r>
            <a:endParaRPr lang="en-US" sz="1300" dirty="0"/>
          </a:p>
        </p:txBody>
      </p:sp>
      <p:sp>
        <p:nvSpPr>
          <p:cNvPr id="24" name="Text 15"/>
          <p:cNvSpPr/>
          <p:nvPr/>
        </p:nvSpPr>
        <p:spPr>
          <a:xfrm>
            <a:off x="4538706" y="358813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Governed multi-agent systems on Microsoft Copilot and Foundry</a:t>
            </a:r>
            <a:endParaRPr lang="en-US" sz="1200" dirty="0"/>
          </a:p>
        </p:txBody>
      </p:sp>
      <p:sp>
        <p:nvSpPr>
          <p:cNvPr id="25" name="Shape 16"/>
          <p:cNvSpPr/>
          <p:nvPr/>
        </p:nvSpPr>
        <p:spPr>
          <a:xfrm>
            <a:off x="822292" y="4332331"/>
            <a:ext cx="0" cy="704784"/>
          </a:xfrm>
          <a:prstGeom prst="line">
            <a:avLst/>
          </a:prstGeom>
          <a:noFill/>
          <a:ln w="19050">
            <a:solidFill>
              <a:srgbClr val="D4B483"/>
            </a:solidFill>
            <a:prstDash val="solid"/>
          </a:ln>
        </p:spPr>
        <p:txBody>
          <a:bodyPr/>
          <a:lstStyle/>
          <a:p>
            <a:endParaRPr lang="en-AT"/>
          </a:p>
        </p:txBody>
      </p:sp>
      <p:sp>
        <p:nvSpPr>
          <p:cNvPr id="26" name="Text 17"/>
          <p:cNvSpPr/>
          <p:nvPr/>
        </p:nvSpPr>
        <p:spPr>
          <a:xfrm>
            <a:off x="982762" y="4345009"/>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Agentic Software Engineering</a:t>
            </a:r>
            <a:endParaRPr lang="en-US" sz="1300" dirty="0"/>
          </a:p>
        </p:txBody>
      </p:sp>
      <p:sp>
        <p:nvSpPr>
          <p:cNvPr id="27" name="Text 18"/>
          <p:cNvSpPr/>
          <p:nvPr/>
        </p:nvSpPr>
        <p:spPr>
          <a:xfrm>
            <a:off x="982762" y="459768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Harness architecture for Claude Code and GitHub Copilot</a:t>
            </a:r>
            <a:endParaRPr lang="en-US" sz="1200" dirty="0"/>
          </a:p>
        </p:txBody>
      </p:sp>
      <p:sp>
        <p:nvSpPr>
          <p:cNvPr id="28" name="Shape 19"/>
          <p:cNvSpPr/>
          <p:nvPr/>
        </p:nvSpPr>
        <p:spPr>
          <a:xfrm>
            <a:off x="4378237" y="4332331"/>
            <a:ext cx="0" cy="704784"/>
          </a:xfrm>
          <a:prstGeom prst="line">
            <a:avLst/>
          </a:prstGeom>
          <a:noFill/>
          <a:ln w="19050">
            <a:solidFill>
              <a:srgbClr val="D4B483"/>
            </a:solidFill>
            <a:prstDash val="solid"/>
          </a:ln>
        </p:spPr>
        <p:txBody>
          <a:bodyPr/>
          <a:lstStyle/>
          <a:p>
            <a:endParaRPr lang="en-AT"/>
          </a:p>
        </p:txBody>
      </p:sp>
      <p:sp>
        <p:nvSpPr>
          <p:cNvPr id="29" name="Text 20"/>
          <p:cNvSpPr/>
          <p:nvPr/>
        </p:nvSpPr>
        <p:spPr>
          <a:xfrm>
            <a:off x="4538706" y="4345009"/>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Team Enablement</a:t>
            </a:r>
            <a:endParaRPr lang="en-US" sz="1300" dirty="0"/>
          </a:p>
        </p:txBody>
      </p:sp>
      <p:sp>
        <p:nvSpPr>
          <p:cNvPr id="30" name="Text 21"/>
          <p:cNvSpPr/>
          <p:nvPr/>
        </p:nvSpPr>
        <p:spPr>
          <a:xfrm>
            <a:off x="4538706" y="459768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AI driven content production and delivery</a:t>
            </a:r>
            <a:endParaRPr lang="en-US" sz="1200" dirty="0"/>
          </a:p>
        </p:txBody>
      </p:sp>
      <p:sp>
        <p:nvSpPr>
          <p:cNvPr id="31" name="Shape 22"/>
          <p:cNvSpPr/>
          <p:nvPr/>
        </p:nvSpPr>
        <p:spPr>
          <a:xfrm>
            <a:off x="812767" y="5493775"/>
            <a:ext cx="6705588" cy="0"/>
          </a:xfrm>
          <a:prstGeom prst="line">
            <a:avLst/>
          </a:prstGeom>
          <a:noFill/>
          <a:ln w="6350">
            <a:solidFill>
              <a:srgbClr val="E0E0E0"/>
            </a:solidFill>
            <a:prstDash val="solid"/>
          </a:ln>
        </p:spPr>
        <p:txBody>
          <a:bodyPr/>
          <a:lstStyle/>
          <a:p>
            <a:endParaRPr lang="en-AT"/>
          </a:p>
        </p:txBody>
      </p:sp>
      <p:sp>
        <p:nvSpPr>
          <p:cNvPr id="32" name="Text 23"/>
          <p:cNvSpPr/>
          <p:nvPr/>
        </p:nvSpPr>
        <p:spPr>
          <a:xfrm>
            <a:off x="812767" y="560839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integrations.at</a:t>
            </a:r>
            <a:endParaRPr lang="en-US" sz="1200" dirty="0"/>
          </a:p>
        </p:txBody>
      </p:sp>
      <p:sp>
        <p:nvSpPr>
          <p:cNvPr id="33" name="Text 24"/>
          <p:cNvSpPr/>
          <p:nvPr/>
        </p:nvSpPr>
        <p:spPr>
          <a:xfrm>
            <a:off x="4368712" y="560839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github.com/alexander-kastil</a:t>
            </a:r>
            <a:endParaRPr lang="en-US" sz="1200" dirty="0"/>
          </a:p>
        </p:txBody>
      </p:sp>
      <p:sp>
        <p:nvSpPr>
          <p:cNvPr id="34" name="Text 25"/>
          <p:cNvSpPr/>
          <p:nvPr/>
        </p:nvSpPr>
        <p:spPr>
          <a:xfrm>
            <a:off x="812767" y="583946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alexander.kastil@integrations.at</a:t>
            </a:r>
            <a:endParaRPr lang="en-US" sz="1200" dirty="0"/>
          </a:p>
        </p:txBody>
      </p:sp>
      <p:sp>
        <p:nvSpPr>
          <p:cNvPr id="35" name="Text 26"/>
          <p:cNvSpPr/>
          <p:nvPr/>
        </p:nvSpPr>
        <p:spPr>
          <a:xfrm>
            <a:off x="4368712" y="583946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linkedin.com/in/alexander-kastil</a:t>
            </a:r>
            <a:endParaRPr lang="en-US" sz="1200" dirty="0"/>
          </a:p>
        </p:txBody>
      </p:sp>
    </p:spTree>
    <p:extLst>
      <p:ext uri="{BB962C8B-B14F-4D97-AF65-F5344CB8AC3E}">
        <p14:creationId xmlns:p14="http://schemas.microsoft.com/office/powerpoint/2010/main" val="1754773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127999"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odule-photo.jpg"/>
          <p:cNvPicPr>
            <a:picLocks noChangeAspect="1"/>
          </p:cNvPicPr>
          <p:nvPr/>
        </p:nvPicPr>
        <p:blipFill>
          <a:blip r:embed="rId2"/>
          <a:stretch>
            <a:fillRect/>
          </a:stretch>
        </p:blipFill>
        <p:spPr>
          <a:xfrm>
            <a:off x="8166088" y="0"/>
            <a:ext cx="4025912" cy="6858000"/>
          </a:xfrm>
          <a:prstGeom prst="rect">
            <a:avLst/>
          </a:prstGeom>
        </p:spPr>
      </p:pic>
      <p:sp>
        <p:nvSpPr>
          <p:cNvPr id="4" name="Rectangle 3"/>
          <p:cNvSpPr/>
          <p:nvPr/>
        </p:nvSpPr>
        <p:spPr>
          <a:xfrm>
            <a:off x="8127999" y="0"/>
            <a:ext cx="38089" cy="6858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12767" y="1740392"/>
            <a:ext cx="254000" cy="19017"/>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0000" y="1580000"/>
            <a:ext cx="6700000" cy="400000"/>
          </a:xfrm>
          <a:prstGeom prst="rect">
            <a:avLst/>
          </a:prstGeom>
          <a:noFill/>
        </p:spPr>
        <p:txBody>
          <a:bodyPr wrap="square">
            <a:spAutoFit/>
          </a:bodyPr>
          <a:lstStyle/>
          <a:p>
            <a:pPr>
              <a:lnSpc>
                <a:spcPct val="95000"/>
              </a:lnSpc>
            </a:pPr>
            <a:r>
              <a:rPr sz="1700" b="1">
                <a:solidFill>
                  <a:srgbClr val="2D3436"/>
                </a:solidFill>
                <a:latin typeface="Montserrat"/>
              </a:rPr>
              <a:t>MODULE 7</a:t>
            </a:r>
          </a:p>
        </p:txBody>
      </p:sp>
      <p:sp>
        <p:nvSpPr>
          <p:cNvPr id="7" name="TextBox 6"/>
          <p:cNvSpPr txBox="1"/>
          <p:nvPr/>
        </p:nvSpPr>
        <p:spPr>
          <a:xfrm>
            <a:off x="780000" y="2150000"/>
            <a:ext cx="7100000" cy="2200000"/>
          </a:xfrm>
          <a:prstGeom prst="rect">
            <a:avLst/>
          </a:prstGeom>
          <a:noFill/>
        </p:spPr>
        <p:txBody>
          <a:bodyPr wrap="square">
            <a:spAutoFit/>
          </a:bodyPr>
          <a:lstStyle/>
          <a:p>
            <a:pPr>
              <a:lnSpc>
                <a:spcPct val="95000"/>
              </a:lnSpc>
            </a:pPr>
            <a:r>
              <a:rPr sz="5000" b="1">
                <a:solidFill>
                  <a:srgbClr val="2D3436"/>
                </a:solidFill>
                <a:latin typeface="Montserrat"/>
              </a:rPr>
              <a:t>Dapr Building Blocks for Portable Services</a:t>
            </a:r>
          </a:p>
        </p:txBody>
      </p:sp>
      <p:sp>
        <p:nvSpPr>
          <p:cNvPr id="8" name="TextBox 7"/>
          <p:cNvSpPr txBox="1"/>
          <p:nvPr/>
        </p:nvSpPr>
        <p:spPr>
          <a:xfrm>
            <a:off x="812767" y="4500000"/>
            <a:ext cx="7000000" cy="500000"/>
          </a:xfrm>
          <a:prstGeom prst="rect">
            <a:avLst/>
          </a:prstGeom>
          <a:noFill/>
        </p:spPr>
        <p:txBody>
          <a:bodyPr wrap="square">
            <a:spAutoFit/>
          </a:bodyPr>
          <a:lstStyle/>
          <a:p>
            <a:pPr>
              <a:lnSpc>
                <a:spcPct val="95000"/>
              </a:lnSpc>
            </a:pPr>
            <a:r>
              <a:rPr sz="2000" b="0">
                <a:solidFill>
                  <a:srgbClr val="595F67"/>
                </a:solidFill>
                <a:latin typeface="Poppins"/>
              </a:rPr>
              <a:t>The Contoso Logistics flow on sidecars and component files</a:t>
            </a:r>
          </a:p>
        </p:txBody>
      </p:sp>
      <p:sp>
        <p:nvSpPr>
          <p:cNvPr id="9" name="Rectangle 8"/>
          <p:cNvSpPr/>
          <p:nvPr/>
        </p:nvSpPr>
        <p:spPr>
          <a:xfrm>
            <a:off x="812767" y="5500000"/>
            <a:ext cx="6900000"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2767" y="5620000"/>
            <a:ext cx="7000000" cy="400000"/>
          </a:xfrm>
          <a:prstGeom prst="rect">
            <a:avLst/>
          </a:prstGeom>
          <a:noFill/>
        </p:spPr>
        <p:txBody>
          <a:bodyPr wrap="square">
            <a:spAutoFit/>
          </a:bodyPr>
          <a:lstStyle/>
          <a:p>
            <a:pPr>
              <a:lnSpc>
                <a:spcPct val="95000"/>
              </a:lnSpc>
            </a:pPr>
            <a:r>
              <a:rPr sz="1200" b="0">
                <a:solidFill>
                  <a:srgbClr val="595F67"/>
                </a:solidFill>
                <a:latin typeface="Poppins"/>
              </a:rPr>
              <a:t>Event-Driven Distributed Apps on Azure: Aspire, Dapr &amp; Durable Execution</a:t>
            </a:r>
          </a:p>
        </p:txBody>
      </p:sp>
    </p:spTree>
    <p:extLst>
      <p:ext uri="{BB962C8B-B14F-4D97-AF65-F5344CB8AC3E}">
        <p14:creationId xmlns:p14="http://schemas.microsoft.com/office/powerpoint/2010/main" val="534160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box"/>
          <p:cNvSpPr/>
          <p:nvPr/>
        </p:nvSpPr>
        <p:spPr>
          <a:xfrm>
            <a:off x="812767"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gd-topics-box"/>
          <p:cNvSpPr/>
          <p:nvPr/>
        </p:nvSpPr>
        <p:spPr>
          <a:xfrm>
            <a:off x="81276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1042767" y="9857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01</a:t>
            </a:r>
          </a:p>
        </p:txBody>
      </p:sp>
      <p:sp>
        <p:nvSpPr>
          <p:cNvPr id="5" name="gd-topics-text"/>
          <p:cNvSpPr txBox="1"/>
          <p:nvPr/>
        </p:nvSpPr>
        <p:spPr>
          <a:xfrm>
            <a:off x="1042767" y="16257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Dapr Sidecar: Run with Aspire</a:t>
            </a:r>
          </a:p>
          <a:p>
            <a:pPr>
              <a:lnSpc>
                <a:spcPct val="95000"/>
              </a:lnSpc>
              <a:spcBef>
                <a:spcPts val="600"/>
              </a:spcBef>
            </a:pPr>
            <a:r>
              <a:rPr sz="1200" b="0">
                <a:solidFill>
                  <a:srgbClr val="595F67"/>
                </a:solidFill>
                <a:latin typeface="Poppins"/>
              </a:rPr>
              <a:t>dapr init, AddDapr, WithDaprSidecar and component YAML</a:t>
            </a:r>
          </a:p>
        </p:txBody>
      </p:sp>
      <p:sp>
        <p:nvSpPr>
          <p:cNvPr id="6" name="gd-topics-box"/>
          <p:cNvSpPr/>
          <p:nvPr/>
        </p:nvSpPr>
        <p:spPr>
          <a:xfrm>
            <a:off x="3511533"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3511533"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text"/>
          <p:cNvSpPr txBox="1"/>
          <p:nvPr/>
        </p:nvSpPr>
        <p:spPr>
          <a:xfrm>
            <a:off x="3741533" y="9857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02</a:t>
            </a:r>
          </a:p>
        </p:txBody>
      </p:sp>
      <p:sp>
        <p:nvSpPr>
          <p:cNvPr id="9" name="gd-topics-text"/>
          <p:cNvSpPr txBox="1"/>
          <p:nvPr/>
        </p:nvSpPr>
        <p:spPr>
          <a:xfrm>
            <a:off x="3741533" y="16257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Service Invocation: mTLS &amp; Retries</a:t>
            </a:r>
          </a:p>
          <a:p>
            <a:pPr>
              <a:lnSpc>
                <a:spcPct val="95000"/>
              </a:lnSpc>
              <a:spcBef>
                <a:spcPts val="600"/>
              </a:spcBef>
            </a:pPr>
            <a:r>
              <a:rPr sz="1200" b="0">
                <a:solidFill>
                  <a:srgbClr val="595F67"/>
                </a:solidFill>
                <a:latin typeface="Poppins"/>
              </a:rPr>
              <a:t>App IDs, InvokeMethodAsync and Sentry certificates</a:t>
            </a:r>
          </a:p>
        </p:txBody>
      </p:sp>
      <p:sp>
        <p:nvSpPr>
          <p:cNvPr id="10" name="gd-topics-box"/>
          <p:cNvSpPr/>
          <p:nvPr/>
        </p:nvSpPr>
        <p:spPr>
          <a:xfrm>
            <a:off x="6210299"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6210299"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6440299" y="9857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03</a:t>
            </a:r>
          </a:p>
        </p:txBody>
      </p:sp>
      <p:sp>
        <p:nvSpPr>
          <p:cNvPr id="13" name="gd-topics-text"/>
          <p:cNvSpPr txBox="1"/>
          <p:nvPr/>
        </p:nvSpPr>
        <p:spPr>
          <a:xfrm>
            <a:off x="6440299" y="16257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State Stores: ETags &amp; Concurrency</a:t>
            </a:r>
          </a:p>
          <a:p>
            <a:pPr>
              <a:lnSpc>
                <a:spcPct val="95000"/>
              </a:lnSpc>
              <a:spcBef>
                <a:spcPts val="600"/>
              </a:spcBef>
            </a:pPr>
            <a:r>
              <a:rPr sz="1200" b="0">
                <a:solidFill>
                  <a:srgbClr val="595F67"/>
                </a:solidFill>
                <a:latin typeface="Poppins"/>
              </a:rPr>
              <a:t>ETag checks, transactions and the Cosmos DB store</a:t>
            </a:r>
          </a:p>
        </p:txBody>
      </p:sp>
      <p:sp>
        <p:nvSpPr>
          <p:cNvPr id="14" name="gd-topics-box"/>
          <p:cNvSpPr/>
          <p:nvPr/>
        </p:nvSpPr>
        <p:spPr>
          <a:xfrm>
            <a:off x="8909065"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gd-topics-box"/>
          <p:cNvSpPr/>
          <p:nvPr/>
        </p:nvSpPr>
        <p:spPr>
          <a:xfrm>
            <a:off x="8909065"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gd-topics-text"/>
          <p:cNvSpPr txBox="1"/>
          <p:nvPr/>
        </p:nvSpPr>
        <p:spPr>
          <a:xfrm>
            <a:off x="9139065" y="9857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04</a:t>
            </a:r>
          </a:p>
        </p:txBody>
      </p:sp>
      <p:sp>
        <p:nvSpPr>
          <p:cNvPr id="17" name="gd-topics-text"/>
          <p:cNvSpPr txBox="1"/>
          <p:nvPr/>
        </p:nvSpPr>
        <p:spPr>
          <a:xfrm>
            <a:off x="9139065" y="16257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Pub/Sub: Swap Brokers via Components</a:t>
            </a:r>
          </a:p>
          <a:p>
            <a:pPr>
              <a:lnSpc>
                <a:spcPct val="95000"/>
              </a:lnSpc>
              <a:spcBef>
                <a:spcPts val="600"/>
              </a:spcBef>
            </a:pPr>
            <a:r>
              <a:rPr sz="1200" b="0">
                <a:solidFill>
                  <a:srgbClr val="595F67"/>
                </a:solidFill>
                <a:latin typeface="Poppins"/>
              </a:rPr>
              <a:t>The Topic attribute, dead-letter topics and Service Bus</a:t>
            </a:r>
          </a:p>
        </p:txBody>
      </p:sp>
      <p:sp>
        <p:nvSpPr>
          <p:cNvPr id="18" name="gd-topics-box"/>
          <p:cNvSpPr/>
          <p:nvPr/>
        </p:nvSpPr>
        <p:spPr>
          <a:xfrm>
            <a:off x="2162150" y="33843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gd-topics-box"/>
          <p:cNvSpPr/>
          <p:nvPr/>
        </p:nvSpPr>
        <p:spPr>
          <a:xfrm>
            <a:off x="2162150"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d-topics-text"/>
          <p:cNvSpPr txBox="1"/>
          <p:nvPr/>
        </p:nvSpPr>
        <p:spPr>
          <a:xfrm>
            <a:off x="2392150" y="36143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05</a:t>
            </a:r>
          </a:p>
        </p:txBody>
      </p:sp>
      <p:sp>
        <p:nvSpPr>
          <p:cNvPr id="21" name="gd-topics-text"/>
          <p:cNvSpPr txBox="1"/>
          <p:nvPr/>
        </p:nvSpPr>
        <p:spPr>
          <a:xfrm>
            <a:off x="2392150" y="42543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Resiliency Policies: Retries &amp; Breakers</a:t>
            </a:r>
          </a:p>
          <a:p>
            <a:pPr>
              <a:lnSpc>
                <a:spcPct val="95000"/>
              </a:lnSpc>
              <a:spcBef>
                <a:spcPts val="600"/>
              </a:spcBef>
            </a:pPr>
            <a:r>
              <a:rPr sz="1200" b="0">
                <a:solidFill>
                  <a:srgbClr val="595F67"/>
                </a:solidFill>
                <a:latin typeface="Poppins"/>
              </a:rPr>
              <a:t>Timeouts, retries and circuit breakers in one spec</a:t>
            </a:r>
          </a:p>
        </p:txBody>
      </p:sp>
      <p:sp>
        <p:nvSpPr>
          <p:cNvPr id="22" name="gd-topics-box"/>
          <p:cNvSpPr/>
          <p:nvPr/>
        </p:nvSpPr>
        <p:spPr>
          <a:xfrm>
            <a:off x="4860916" y="33843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gd-topics-box"/>
          <p:cNvSpPr/>
          <p:nvPr/>
        </p:nvSpPr>
        <p:spPr>
          <a:xfrm>
            <a:off x="4860916"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gd-topics-text"/>
          <p:cNvSpPr txBox="1"/>
          <p:nvPr/>
        </p:nvSpPr>
        <p:spPr>
          <a:xfrm>
            <a:off x="5090916" y="36143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06</a:t>
            </a:r>
          </a:p>
        </p:txBody>
      </p:sp>
      <p:sp>
        <p:nvSpPr>
          <p:cNvPr id="25" name="gd-topics-text"/>
          <p:cNvSpPr txBox="1"/>
          <p:nvPr/>
        </p:nvSpPr>
        <p:spPr>
          <a:xfrm>
            <a:off x="5090916" y="42543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Dapr Actors: Virtual Actor Model</a:t>
            </a:r>
          </a:p>
          <a:p>
            <a:pPr>
              <a:lnSpc>
                <a:spcPct val="95000"/>
              </a:lnSpc>
              <a:spcBef>
                <a:spcPts val="600"/>
              </a:spcBef>
            </a:pPr>
            <a:r>
              <a:rPr sz="1200" b="0">
                <a:solidFill>
                  <a:srgbClr val="595F67"/>
                </a:solidFill>
                <a:latin typeface="Poppins"/>
              </a:rPr>
              <a:t>VanActor, turn-based calls, timers and reminders</a:t>
            </a:r>
          </a:p>
        </p:txBody>
      </p:sp>
      <p:sp>
        <p:nvSpPr>
          <p:cNvPr id="26" name="gd-topics-box"/>
          <p:cNvSpPr/>
          <p:nvPr/>
        </p:nvSpPr>
        <p:spPr>
          <a:xfrm>
            <a:off x="7559682" y="33843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gd-topics-box"/>
          <p:cNvSpPr/>
          <p:nvPr/>
        </p:nvSpPr>
        <p:spPr>
          <a:xfrm>
            <a:off x="7559682"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gd-topics-text"/>
          <p:cNvSpPr txBox="1"/>
          <p:nvPr/>
        </p:nvSpPr>
        <p:spPr>
          <a:xfrm>
            <a:off x="7789682" y="36143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07</a:t>
            </a:r>
          </a:p>
        </p:txBody>
      </p:sp>
      <p:sp>
        <p:nvSpPr>
          <p:cNvPr id="29" name="gd-topics-text"/>
          <p:cNvSpPr txBox="1"/>
          <p:nvPr/>
        </p:nvSpPr>
        <p:spPr>
          <a:xfrm>
            <a:off x="7789682" y="42543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Managed Dapr: Container Apps vs. AKS</a:t>
            </a:r>
          </a:p>
          <a:p>
            <a:pPr>
              <a:lnSpc>
                <a:spcPct val="95000"/>
              </a:lnSpc>
              <a:spcBef>
                <a:spcPts val="600"/>
              </a:spcBef>
            </a:pPr>
            <a:r>
              <a:rPr sz="1200" b="0">
                <a:solidFill>
                  <a:srgbClr val="595F67"/>
                </a:solidFill>
                <a:latin typeface="Poppins"/>
              </a:rPr>
              <a:t>Component tiers, platform limits and the version window</a:t>
            </a:r>
          </a:p>
        </p:txBody>
      </p:sp>
      <p:sp>
        <p:nvSpPr>
          <p:cNvPr id="30"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48" y="0"/>
            <a:ext cx="6095848" cy="6858000"/>
          </a:xfrm>
          <a:prstGeom prst="rect">
            <a:avLst/>
          </a:prstGeom>
        </p:spPr>
      </p:pic>
      <p:sp>
        <p:nvSpPr>
          <p:cNvPr id="3" name="Text 0"/>
          <p:cNvSpPr/>
          <p:nvPr/>
        </p:nvSpPr>
        <p:spPr>
          <a:xfrm>
            <a:off x="609600" y="1681408"/>
            <a:ext cx="4824773" cy="1003095"/>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Dapr building blocks for portable services</a:t>
            </a:r>
            <a:endParaRPr lang="en-US" sz="3700" dirty="0"/>
          </a:p>
        </p:txBody>
      </p:sp>
      <p:sp>
        <p:nvSpPr>
          <p:cNvPr id="4" name="Text 1"/>
          <p:cNvSpPr/>
          <p:nvPr/>
        </p:nvSpPr>
        <p:spPr>
          <a:xfrm>
            <a:off x="609600" y="2836903"/>
            <a:ext cx="4824773" cy="626903"/>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The Contoso Logistics flow on sidecars and component files</a:t>
            </a:r>
            <a:endParaRPr lang="en-US" sz="2200" dirty="0"/>
          </a:p>
        </p:txBody>
      </p:sp>
      <p:sp>
        <p:nvSpPr>
          <p:cNvPr id="5" name="Text 2"/>
          <p:cNvSpPr/>
          <p:nvPr/>
        </p:nvSpPr>
        <p:spPr>
          <a:xfrm>
            <a:off x="609600" y="3692406"/>
            <a:ext cx="4824773" cy="2255441"/>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Sidecar and service calls</a:t>
            </a:r>
            <a:r>
              <a:rPr lang="en-US" sz="1400" dirty="0">
                <a:solidFill>
                  <a:srgbClr val="1B365D"/>
                </a:solidFill>
                <a:latin typeface="Poppins" pitchFamily="34" charset="0"/>
                <a:ea typeface="Poppins" pitchFamily="34" charset="-122"/>
                <a:cs typeface="Poppins" pitchFamily="34" charset="-120"/>
              </a:rPr>
              <a:t>: Dapr beside each service in the Aspire AppHost, calls by app ID</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State and events</a:t>
            </a:r>
            <a:r>
              <a:rPr lang="en-US" sz="1400" dirty="0">
                <a:solidFill>
                  <a:srgbClr val="1B365D"/>
                </a:solidFill>
                <a:latin typeface="Poppins" pitchFamily="34" charset="0"/>
                <a:ea typeface="Poppins" pitchFamily="34" charset="-122"/>
                <a:cs typeface="Poppins" pitchFamily="34" charset="-120"/>
              </a:rPr>
              <a:t>: ETag checks on writes, pub/sub through a broker set in a component file</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Policies, actors and hosting</a:t>
            </a:r>
            <a:r>
              <a:rPr lang="en-US" sz="1400" dirty="0">
                <a:solidFill>
                  <a:srgbClr val="1B365D"/>
                </a:solidFill>
                <a:latin typeface="Poppins" pitchFamily="34" charset="0"/>
                <a:ea typeface="Poppins" pitchFamily="34" charset="-122"/>
                <a:cs typeface="Poppins" pitchFamily="34" charset="-120"/>
              </a:rPr>
              <a:t>: retries and breakers, one </a:t>
            </a:r>
            <a:r>
              <a:rPr lang="en-US" sz="1400" dirty="0">
                <a:solidFill>
                  <a:srgbClr val="1B365D"/>
                </a:solidFill>
                <a:highlight>
                  <a:srgbClr val="F2F2F2"/>
                </a:highlight>
                <a:latin typeface="Consolas" pitchFamily="34" charset="0"/>
                <a:ea typeface="Consolas" pitchFamily="34" charset="-122"/>
                <a:cs typeface="Consolas" pitchFamily="34" charset="-120"/>
              </a:rPr>
              <a:t>VanActor</a:t>
            </a:r>
            <a:r>
              <a:rPr lang="en-US" sz="1400" dirty="0">
                <a:solidFill>
                  <a:srgbClr val="1B365D"/>
                </a:solidFill>
                <a:latin typeface="Poppins" pitchFamily="34" charset="0"/>
                <a:ea typeface="Poppins" pitchFamily="34" charset="-122"/>
                <a:cs typeface="Poppins" pitchFamily="34" charset="-120"/>
              </a:rPr>
              <a:t> per van, Container Apps or AKS</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Overview</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The path through the seven topics</a:t>
            </a:r>
            <a:endParaRPr lang="en-US" sz="2200" dirty="0"/>
          </a:p>
        </p:txBody>
      </p:sp>
      <p:sp>
        <p:nvSpPr>
          <p:cNvPr id="4" name="Text 2"/>
          <p:cNvSpPr/>
          <p:nvPr/>
        </p:nvSpPr>
        <p:spPr>
          <a:xfrm>
            <a:off x="609600" y="2964337"/>
            <a:ext cx="4802449" cy="2652216"/>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Start the sidecar from the Aspire AppHost and load the component files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Call </a:t>
            </a:r>
            <a:r>
              <a:rPr lang="en-US" sz="1400" dirty="0">
                <a:solidFill>
                  <a:srgbClr val="1B365D"/>
                </a:solidFill>
                <a:highlight>
                  <a:srgbClr val="F2F2F2"/>
                </a:highlight>
                <a:latin typeface="Consolas" pitchFamily="34" charset="0"/>
                <a:ea typeface="Consolas" pitchFamily="34" charset="-122"/>
                <a:cs typeface="Consolas" pitchFamily="34" charset="-120"/>
              </a:rPr>
              <a:t>routing-service</a:t>
            </a:r>
            <a:r>
              <a:rPr lang="en-US" sz="1400" dirty="0">
                <a:solidFill>
                  <a:srgbClr val="1B365D"/>
                </a:solidFill>
                <a:latin typeface="Poppins" pitchFamily="34" charset="0"/>
                <a:ea typeface="Poppins" pitchFamily="34" charset="-122"/>
                <a:cs typeface="Poppins" pitchFamily="34" charset="-120"/>
              </a:rPr>
              <a:t> by app ID, then write state with </a:t>
            </a:r>
            <a:r>
              <a:rPr lang="en-US" sz="1400" b="1" dirty="0">
                <a:solidFill>
                  <a:srgbClr val="1B365D"/>
                </a:solidFill>
                <a:latin typeface="Poppins Bold" pitchFamily="34" charset="0"/>
                <a:ea typeface="Poppins Bold" pitchFamily="34" charset="-122"/>
                <a:cs typeface="Poppins Bold" pitchFamily="34" charset="-120"/>
              </a:rPr>
              <a:t>ETag</a:t>
            </a:r>
            <a:r>
              <a:rPr lang="en-US" sz="1400" dirty="0">
                <a:solidFill>
                  <a:srgbClr val="1B365D"/>
                </a:solidFill>
                <a:latin typeface="Poppins" pitchFamily="34" charset="0"/>
                <a:ea typeface="Poppins" pitchFamily="34" charset="-122"/>
                <a:cs typeface="Poppins" pitchFamily="34" charset="-120"/>
              </a:rPr>
              <a:t> checks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Publish scan events through a broker you can swap in YAML</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Put timeouts, retries and breakers in one </a:t>
            </a:r>
            <a:r>
              <a:rPr lang="en-US" sz="1400" b="1" dirty="0">
                <a:solidFill>
                  <a:srgbClr val="1B365D"/>
                </a:solidFill>
                <a:latin typeface="Poppins Bold" pitchFamily="34" charset="0"/>
                <a:ea typeface="Poppins Bold" pitchFamily="34" charset="-122"/>
                <a:cs typeface="Poppins Bold" pitchFamily="34" charset="-120"/>
              </a:rPr>
              <a:t>resiliency spec</a:t>
            </a:r>
            <a:r>
              <a:rPr lang="en-US" sz="1400" dirty="0">
                <a:solidFill>
                  <a:srgbClr val="1B365D"/>
                </a:solidFill>
                <a:latin typeface="Poppins" pitchFamily="34" charset="0"/>
                <a:ea typeface="Poppins" pitchFamily="34" charset="-122"/>
                <a:cs typeface="Poppins" pitchFamily="34" charset="-120"/>
              </a:rPr>
              <a:t>, model each van as an actor</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Decide per service: Container Apps or AKS</a:t>
            </a:r>
            <a:endParaRPr lang="en-US" sz="1450" dirty="0"/>
          </a:p>
        </p:txBody>
      </p:sp>
      <p:pic>
        <p:nvPicPr>
          <p:cNvPr id="5" name="Image 0" descr="preencoded.png"/>
          <p:cNvPicPr>
            <a:picLocks noChangeAspect="1"/>
          </p:cNvPicPr>
          <p:nvPr/>
        </p:nvPicPr>
        <p:blipFill>
          <a:blip r:embed="rId3"/>
          <a:stretch>
            <a:fillRect/>
          </a:stretch>
        </p:blipFill>
        <p:spPr>
          <a:xfrm>
            <a:off x="5879556" y="2489994"/>
            <a:ext cx="5656915" cy="31820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01</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Dapr Sidecar: Run with Aspire</a:t>
            </a:r>
          </a:p>
          <a:p>
            <a:pPr>
              <a:lnSpc>
                <a:spcPct val="95000"/>
              </a:lnSpc>
              <a:spcBef>
                <a:spcPts val="1400"/>
              </a:spcBef>
            </a:pPr>
            <a:r>
              <a:rPr sz="2000" b="0">
                <a:solidFill>
                  <a:srgbClr val="595F67"/>
                </a:solidFill>
                <a:latin typeface="Poppins"/>
              </a:rPr>
              <a:t>dapr init, AddDapr, WithDaprSidecar and component YAML</a:t>
            </a:r>
          </a:p>
        </p:txBody>
      </p:sp>
      <p:sp>
        <p:nvSpPr>
          <p:cNvPr id="5" name="gd-topics-box"/>
          <p:cNvSpPr/>
          <p:nvPr/>
        </p:nvSpPr>
        <p:spPr>
          <a:xfrm>
            <a:off x="6100000"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The sidecar model</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The service calls localhost and the component file picks the store</a:t>
            </a:r>
            <a:endParaRPr lang="en-US" sz="2200" dirty="0"/>
          </a:p>
        </p:txBody>
      </p:sp>
      <p:sp>
        <p:nvSpPr>
          <p:cNvPr id="4" name="Text 2"/>
          <p:cNvSpPr/>
          <p:nvPr/>
        </p:nvSpPr>
        <p:spPr>
          <a:xfrm>
            <a:off x="609600" y="2839527"/>
            <a:ext cx="4802449" cy="3181449"/>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Dapr runs as a separate process next to each service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service calls its sidecar on localhost: HTTP on port 3500, gRPC on 50001</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Building blocks: service invocation, state, pub/sub, bindings, actors, secrets, configuration</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Each block delegates to a </a:t>
            </a:r>
            <a:r>
              <a:rPr lang="en-US" sz="1400" b="1" dirty="0">
                <a:solidFill>
                  <a:srgbClr val="1B365D"/>
                </a:solidFill>
                <a:latin typeface="Poppins Bold" pitchFamily="34" charset="0"/>
                <a:ea typeface="Poppins Bold" pitchFamily="34" charset="-122"/>
                <a:cs typeface="Poppins Bold" pitchFamily="34" charset="-120"/>
              </a:rPr>
              <a:t>component</a:t>
            </a:r>
            <a:r>
              <a:rPr lang="en-US" sz="1400" dirty="0">
                <a:solidFill>
                  <a:srgbClr val="1B365D"/>
                </a:solidFill>
                <a:latin typeface="Poppins" pitchFamily="34" charset="0"/>
                <a:ea typeface="Poppins" pitchFamily="34" charset="-122"/>
                <a:cs typeface="Poppins" pitchFamily="34" charset="-120"/>
              </a:rPr>
              <a:t>: Cosmos DB, Service Bus or Redis</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TrySaveStateAsync("statestore", ...)</a:t>
            </a:r>
            <a:r>
              <a:rPr lang="en-US" sz="1400" dirty="0">
                <a:solidFill>
                  <a:srgbClr val="1B365D"/>
                </a:solidFill>
                <a:latin typeface="Poppins" pitchFamily="34" charset="0"/>
                <a:ea typeface="Poppins" pitchFamily="34" charset="-122"/>
                <a:cs typeface="Poppins" pitchFamily="34" charset="-120"/>
              </a:rPr>
              <a:t> stays the same in both runs</a:t>
            </a:r>
            <a:endParaRPr lang="en-US" sz="1450" dirty="0"/>
          </a:p>
        </p:txBody>
      </p:sp>
      <p:pic>
        <p:nvPicPr>
          <p:cNvPr id="5" name="Image 0" descr="preencoded.png"/>
          <p:cNvPicPr>
            <a:picLocks noChangeAspect="1"/>
          </p:cNvPicPr>
          <p:nvPr/>
        </p:nvPicPr>
        <p:blipFill>
          <a:blip r:embed="rId3"/>
          <a:stretch>
            <a:fillRect/>
          </a:stretch>
        </p:blipFill>
        <p:spPr>
          <a:xfrm>
            <a:off x="5879556" y="3020318"/>
            <a:ext cx="5656915" cy="212139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Dapr in the Aspire AppHost</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Install the CLI and attach a sidecar to each service</a:t>
            </a:r>
            <a:endParaRPr lang="en-US" sz="2200" dirty="0"/>
          </a:p>
        </p:txBody>
      </p:sp>
      <p:sp>
        <p:nvSpPr>
          <p:cNvPr id="4" name="Text 2"/>
          <p:cNvSpPr/>
          <p:nvPr/>
        </p:nvSpPr>
        <p:spPr>
          <a:xfrm>
            <a:off x="609599" y="2839577"/>
            <a:ext cx="5142364" cy="2954933"/>
          </a:xfrm>
          <a:prstGeom prst="rect">
            <a:avLst/>
          </a:prstGeom>
          <a:noFill/>
          <a:ln/>
        </p:spPr>
        <p:txBody>
          <a:bodyPr wrap="square" lIns="0" tIns="0" rIns="0" bIns="0" rtlCol="0" anchor="t">
            <a:normAutofit/>
          </a:bodyPr>
          <a:lstStyle/>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winget install Dapr.CLI</a:t>
            </a:r>
            <a:r>
              <a:rPr lang="en-US" sz="1400" dirty="0">
                <a:solidFill>
                  <a:srgbClr val="1B365D"/>
                </a:solidFill>
                <a:latin typeface="Poppins" pitchFamily="34" charset="0"/>
                <a:ea typeface="Poppins" pitchFamily="34" charset="-122"/>
                <a:cs typeface="Poppins" pitchFamily="34" charset="-120"/>
              </a:rPr>
              <a:t>, then </a:t>
            </a:r>
            <a:r>
              <a:rPr lang="en-US" sz="1400" dirty="0">
                <a:solidFill>
                  <a:srgbClr val="1B365D"/>
                </a:solidFill>
                <a:highlight>
                  <a:srgbClr val="F2F2F2"/>
                </a:highlight>
                <a:latin typeface="Consolas" pitchFamily="34" charset="0"/>
                <a:ea typeface="Consolas" pitchFamily="34" charset="-122"/>
                <a:cs typeface="Consolas" pitchFamily="34" charset="-120"/>
              </a:rPr>
              <a:t>dapr init</a:t>
            </a:r>
            <a:r>
              <a:rPr lang="en-US" sz="1400" dirty="0">
                <a:solidFill>
                  <a:srgbClr val="1B365D"/>
                </a:solidFill>
                <a:latin typeface="Poppins" pitchFamily="34" charset="0"/>
                <a:ea typeface="Poppins" pitchFamily="34" charset="-122"/>
                <a:cs typeface="Poppins" pitchFamily="34" charset="-120"/>
              </a:rPr>
              <a:t>, then check </a:t>
            </a:r>
            <a:r>
              <a:rPr lang="en-US" sz="1400" dirty="0">
                <a:solidFill>
                  <a:srgbClr val="1B365D"/>
                </a:solidFill>
                <a:highlight>
                  <a:srgbClr val="F2F2F2"/>
                </a:highlight>
                <a:latin typeface="Consolas" pitchFamily="34" charset="0"/>
                <a:ea typeface="Consolas" pitchFamily="34" charset="-122"/>
                <a:cs typeface="Consolas" pitchFamily="34" charset="-120"/>
              </a:rPr>
              <a:t>dapr --version</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dapr init</a:t>
            </a:r>
            <a:r>
              <a:rPr lang="en-US" sz="1400" dirty="0">
                <a:solidFill>
                  <a:srgbClr val="1B365D"/>
                </a:solidFill>
                <a:latin typeface="Poppins" pitchFamily="34" charset="0"/>
                <a:ea typeface="Poppins" pitchFamily="34" charset="-122"/>
                <a:cs typeface="Poppins" pitchFamily="34" charset="-120"/>
              </a:rPr>
              <a:t> starts Redis, Zipkin, placement and scheduler; </a:t>
            </a:r>
            <a:r>
              <a:rPr lang="en-US" sz="1400" dirty="0">
                <a:solidFill>
                  <a:srgbClr val="1B365D"/>
                </a:solidFill>
                <a:highlight>
                  <a:srgbClr val="F2F2F2"/>
                </a:highlight>
                <a:latin typeface="Consolas" pitchFamily="34" charset="0"/>
                <a:ea typeface="Consolas" pitchFamily="34" charset="-122"/>
                <a:cs typeface="Consolas" pitchFamily="34" charset="-120"/>
              </a:rPr>
              <a:t>--slim</a:t>
            </a:r>
            <a:r>
              <a:rPr lang="en-US" sz="1400" dirty="0">
                <a:solidFill>
                  <a:srgbClr val="1B365D"/>
                </a:solidFill>
                <a:latin typeface="Poppins" pitchFamily="34" charset="0"/>
                <a:ea typeface="Poppins" pitchFamily="34" charset="-122"/>
                <a:cs typeface="Poppins" pitchFamily="34" charset="-120"/>
              </a:rPr>
              <a:t> skips them</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AddDapr</a:t>
            </a:r>
            <a:r>
              <a:rPr lang="en-US" sz="1400" dirty="0">
                <a:solidFill>
                  <a:srgbClr val="1B365D"/>
                </a:solidFill>
                <a:latin typeface="Poppins" pitchFamily="34" charset="0"/>
                <a:ea typeface="Poppins" pitchFamily="34" charset="-122"/>
                <a:cs typeface="Poppins" pitchFamily="34" charset="-120"/>
              </a:rPr>
              <a:t>, </a:t>
            </a:r>
            <a:r>
              <a:rPr lang="en-US" sz="1400" dirty="0">
                <a:solidFill>
                  <a:srgbClr val="1B365D"/>
                </a:solidFill>
                <a:highlight>
                  <a:srgbClr val="F2F2F2"/>
                </a:highlight>
                <a:latin typeface="Consolas" pitchFamily="34" charset="0"/>
                <a:ea typeface="Consolas" pitchFamily="34" charset="-122"/>
                <a:cs typeface="Consolas" pitchFamily="34" charset="-120"/>
              </a:rPr>
              <a:t>AddDaprComponent</a:t>
            </a:r>
            <a:r>
              <a:rPr lang="en-US" sz="1400" dirty="0">
                <a:solidFill>
                  <a:srgbClr val="1B365D"/>
                </a:solidFill>
                <a:latin typeface="Poppins" pitchFamily="34" charset="0"/>
                <a:ea typeface="Poppins" pitchFamily="34" charset="-122"/>
                <a:cs typeface="Poppins" pitchFamily="34" charset="-120"/>
              </a:rPr>
              <a:t> and </a:t>
            </a:r>
            <a:r>
              <a:rPr lang="en-US" sz="1400" dirty="0">
                <a:solidFill>
                  <a:srgbClr val="1B365D"/>
                </a:solidFill>
                <a:highlight>
                  <a:srgbClr val="F2F2F2"/>
                </a:highlight>
                <a:latin typeface="Consolas" pitchFamily="34" charset="0"/>
                <a:ea typeface="Consolas" pitchFamily="34" charset="-122"/>
                <a:cs typeface="Consolas" pitchFamily="34" charset="-120"/>
              </a:rPr>
              <a:t>WithDaprSidecar</a:t>
            </a:r>
            <a:r>
              <a:rPr lang="en-US" sz="1400" dirty="0">
                <a:solidFill>
                  <a:srgbClr val="1B365D"/>
                </a:solidFill>
                <a:latin typeface="Poppins" pitchFamily="34" charset="0"/>
                <a:ea typeface="Poppins" pitchFamily="34" charset="-122"/>
                <a:cs typeface="Poppins" pitchFamily="34" charset="-120"/>
              </a:rPr>
              <a:t> come from </a:t>
            </a:r>
            <a:r>
              <a:rPr lang="en-US" sz="1400" dirty="0">
                <a:solidFill>
                  <a:srgbClr val="1B365D"/>
                </a:solidFill>
                <a:highlight>
                  <a:srgbClr val="F2F2F2"/>
                </a:highlight>
                <a:latin typeface="Consolas" pitchFamily="34" charset="0"/>
                <a:ea typeface="Consolas" pitchFamily="34" charset="-122"/>
                <a:cs typeface="Consolas" pitchFamily="34" charset="-120"/>
              </a:rPr>
              <a:t>CommunityToolkit.Aspire.Hosting.Dapr</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Use one component name in the AppHost, the YAML </a:t>
            </a:r>
            <a:r>
              <a:rPr lang="en-US" sz="1400" dirty="0">
                <a:solidFill>
                  <a:srgbClr val="1B365D"/>
                </a:solidFill>
                <a:highlight>
                  <a:srgbClr val="F2F2F2"/>
                </a:highlight>
                <a:latin typeface="Consolas" pitchFamily="34" charset="0"/>
                <a:ea typeface="Consolas" pitchFamily="34" charset="-122"/>
                <a:cs typeface="Consolas" pitchFamily="34" charset="-120"/>
              </a:rPr>
              <a:t>metadata.name</a:t>
            </a:r>
            <a:r>
              <a:rPr lang="en-US" sz="1400" dirty="0">
                <a:solidFill>
                  <a:srgbClr val="1B365D"/>
                </a:solidFill>
                <a:latin typeface="Poppins" pitchFamily="34" charset="0"/>
                <a:ea typeface="Poppins" pitchFamily="34" charset="-122"/>
                <a:cs typeface="Poppins" pitchFamily="34" charset="-120"/>
              </a:rPr>
              <a:t> and the service code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This class targets Dapr 1.18: CLI and runtime both report 1.18.0</a:t>
            </a:r>
            <a:endParaRPr lang="en-US" sz="1450" dirty="0"/>
          </a:p>
        </p:txBody>
      </p:sp>
      <p:pic>
        <p:nvPicPr>
          <p:cNvPr id="5" name="Image 0" descr="preencoded.png"/>
          <p:cNvPicPr>
            <a:picLocks noChangeAspect="1"/>
          </p:cNvPicPr>
          <p:nvPr/>
        </p:nvPicPr>
        <p:blipFill>
          <a:blip r:embed="rId3"/>
          <a:stretch>
            <a:fillRect/>
          </a:stretch>
        </p:blipFill>
        <p:spPr>
          <a:xfrm>
            <a:off x="6219471" y="2585641"/>
            <a:ext cx="5317000" cy="299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02</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Service Invocation: mTLS &amp; Retries</a:t>
            </a:r>
          </a:p>
          <a:p>
            <a:pPr>
              <a:lnSpc>
                <a:spcPct val="95000"/>
              </a:lnSpc>
              <a:spcBef>
                <a:spcPts val="1400"/>
              </a:spcBef>
            </a:pPr>
            <a:r>
              <a:rPr sz="2000" b="0">
                <a:solidFill>
                  <a:srgbClr val="595F67"/>
                </a:solidFill>
                <a:latin typeface="Poppins"/>
              </a:rPr>
              <a:t>App IDs, InvokeMethodAsync and Sentry certificates</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Calling a service by app ID</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The sidecar resolves routing-service to a running instance</a:t>
            </a:r>
            <a:endParaRPr lang="en-US" sz="2200" dirty="0"/>
          </a:p>
        </p:txBody>
      </p:sp>
      <p:sp>
        <p:nvSpPr>
          <p:cNvPr id="4" name="Text 2"/>
          <p:cNvSpPr/>
          <p:nvPr/>
        </p:nvSpPr>
        <p:spPr>
          <a:xfrm>
            <a:off x="609599" y="2839527"/>
            <a:ext cx="5142364" cy="294223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Every Dapr app has an </a:t>
            </a:r>
            <a:r>
              <a:rPr lang="en-US" sz="1400" b="1" dirty="0">
                <a:solidFill>
                  <a:srgbClr val="1B365D"/>
                </a:solidFill>
                <a:latin typeface="Poppins Bold" pitchFamily="34" charset="0"/>
                <a:ea typeface="Poppins Bold" pitchFamily="34" charset="-122"/>
                <a:cs typeface="Poppins Bold" pitchFamily="34" charset="-120"/>
              </a:rPr>
              <a:t>app ID</a:t>
            </a:r>
            <a:r>
              <a:rPr lang="en-US" sz="1400" dirty="0">
                <a:solidFill>
                  <a:srgbClr val="1B365D"/>
                </a:solidFill>
                <a:latin typeface="Poppins" pitchFamily="34" charset="0"/>
                <a:ea typeface="Poppins" pitchFamily="34" charset="-122"/>
                <a:cs typeface="Poppins" pitchFamily="34" charset="-120"/>
              </a:rPr>
              <a:t>, shared by all of its replicas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Callers use </a:t>
            </a:r>
            <a:r>
              <a:rPr lang="en-US" sz="1400" dirty="0">
                <a:solidFill>
                  <a:srgbClr val="1B365D"/>
                </a:solidFill>
                <a:highlight>
                  <a:srgbClr val="F2F2F2"/>
                </a:highlight>
                <a:latin typeface="Consolas" pitchFamily="34" charset="0"/>
                <a:ea typeface="Consolas" pitchFamily="34" charset="-122"/>
                <a:cs typeface="Consolas" pitchFamily="34" charset="-120"/>
              </a:rPr>
              <a:t>/v1.0/invoke/routing-service/method/reserve-capacity</a:t>
            </a:r>
            <a:r>
              <a:rPr lang="en-US" sz="1400" dirty="0">
                <a:solidFill>
                  <a:srgbClr val="1B365D"/>
                </a:solidFill>
                <a:latin typeface="Poppins" pitchFamily="34" charset="0"/>
                <a:ea typeface="Poppins" pitchFamily="34" charset="-122"/>
                <a:cs typeface="Poppins" pitchFamily="34" charset="-120"/>
              </a:rPr>
              <a:t> on the sidecar</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sidecar resolves the ID through Kubernetes DNS, or mDNS when self-hosted</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InvokeMethodAsync</a:t>
            </a:r>
            <a:r>
              <a:rPr lang="en-US" sz="1400" dirty="0">
                <a:solidFill>
                  <a:srgbClr val="1B365D"/>
                </a:solidFill>
                <a:latin typeface="Poppins" pitchFamily="34" charset="0"/>
                <a:ea typeface="Poppins" pitchFamily="34" charset="-122"/>
                <a:cs typeface="Poppins" pitchFamily="34" charset="-120"/>
              </a:rPr>
              <a:t> handles serialization, </a:t>
            </a:r>
            <a:r>
              <a:rPr lang="en-US" sz="1400" dirty="0">
                <a:solidFill>
                  <a:srgbClr val="1B365D"/>
                </a:solidFill>
                <a:highlight>
                  <a:srgbClr val="F2F2F2"/>
                </a:highlight>
                <a:latin typeface="Consolas" pitchFamily="34" charset="0"/>
                <a:ea typeface="Consolas" pitchFamily="34" charset="-122"/>
                <a:cs typeface="Consolas" pitchFamily="34" charset="-120"/>
              </a:rPr>
              <a:t>CreateInvokeHttpClient</a:t>
            </a:r>
            <a:r>
              <a:rPr lang="en-US" sz="1400" dirty="0">
                <a:solidFill>
                  <a:srgbClr val="1B365D"/>
                </a:solidFill>
                <a:latin typeface="Poppins" pitchFamily="34" charset="0"/>
                <a:ea typeface="Poppins" pitchFamily="34" charset="-122"/>
                <a:cs typeface="Poppins" pitchFamily="34" charset="-120"/>
              </a:rPr>
              <a:t> returns an </a:t>
            </a:r>
            <a:r>
              <a:rPr lang="en-US" sz="1400" dirty="0">
                <a:solidFill>
                  <a:srgbClr val="1B365D"/>
                </a:solidFill>
                <a:highlight>
                  <a:srgbClr val="F2F2F2"/>
                </a:highlight>
                <a:latin typeface="Consolas" pitchFamily="34" charset="0"/>
                <a:ea typeface="Consolas" pitchFamily="34" charset="-122"/>
                <a:cs typeface="Consolas" pitchFamily="34" charset="-120"/>
              </a:rPr>
              <a:t>HttpClient</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a:t>
            </a:r>
            <a:r>
              <a:rPr lang="en-US" sz="1400" dirty="0">
                <a:solidFill>
                  <a:srgbClr val="1B365D"/>
                </a:solidFill>
                <a:highlight>
                  <a:srgbClr val="F2F2F2"/>
                </a:highlight>
                <a:latin typeface="Consolas" pitchFamily="34" charset="0"/>
                <a:ea typeface="Consolas" pitchFamily="34" charset="-122"/>
                <a:cs typeface="Consolas" pitchFamily="34" charset="-120"/>
              </a:rPr>
              <a:t>HttpRequestMessage</a:t>
            </a:r>
            <a:r>
              <a:rPr lang="en-US" sz="1400" dirty="0">
                <a:solidFill>
                  <a:srgbClr val="1B365D"/>
                </a:solidFill>
                <a:latin typeface="Poppins" pitchFamily="34" charset="0"/>
                <a:ea typeface="Poppins" pitchFamily="34" charset="-122"/>
                <a:cs typeface="Poppins" pitchFamily="34" charset="-120"/>
              </a:rPr>
              <a:t> overloads are obsolete in the current SDK</a:t>
            </a:r>
            <a:endParaRPr lang="en-US" sz="1450" dirty="0"/>
          </a:p>
        </p:txBody>
      </p:sp>
      <p:pic>
        <p:nvPicPr>
          <p:cNvPr id="5" name="Image 0" descr="preencoded.png"/>
          <p:cNvPicPr>
            <a:picLocks noChangeAspect="1"/>
          </p:cNvPicPr>
          <p:nvPr/>
        </p:nvPicPr>
        <p:blipFill>
          <a:blip r:embed="rId3"/>
          <a:stretch>
            <a:fillRect/>
          </a:stretch>
        </p:blipFill>
        <p:spPr>
          <a:xfrm>
            <a:off x="6219471" y="3014861"/>
            <a:ext cx="5317000" cy="21323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Mutual TLS and retries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Sentry issues the certificates, the resiliency policy decides the retries</a:t>
            </a:r>
            <a:endParaRPr lang="en-US" sz="2200" dirty="0"/>
          </a:p>
        </p:txBody>
      </p:sp>
      <p:sp>
        <p:nvSpPr>
          <p:cNvPr id="4" name="Text 2"/>
          <p:cNvSpPr/>
          <p:nvPr/>
        </p:nvSpPr>
        <p:spPr>
          <a:xfrm>
            <a:off x="609600" y="2839528"/>
            <a:ext cx="4802449" cy="291683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Sentry</a:t>
            </a:r>
            <a:r>
              <a:rPr lang="en-US" sz="1400" dirty="0">
                <a:solidFill>
                  <a:srgbClr val="1B365D"/>
                </a:solidFill>
                <a:latin typeface="Poppins" pitchFamily="34" charset="0"/>
                <a:ea typeface="Poppins" pitchFamily="34" charset="-122"/>
                <a:cs typeface="Poppins" pitchFamily="34" charset="-120"/>
              </a:rPr>
              <a:t> issues and rotates the certificates; application code never handles them</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AKS extension turns mTLS on by default: 24 h certificates, 15 min clock skew</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Container Apps encrypts invocation between Dapr-enabled apps through the platform</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Retries with backoff come from the resiliency policy for </a:t>
            </a:r>
            <a:r>
              <a:rPr lang="en-US" sz="1400" dirty="0">
                <a:solidFill>
                  <a:srgbClr val="1B365D"/>
                </a:solidFill>
                <a:highlight>
                  <a:srgbClr val="F2F2F2"/>
                </a:highlight>
                <a:latin typeface="Consolas" pitchFamily="34" charset="0"/>
                <a:ea typeface="Consolas" pitchFamily="34" charset="-122"/>
                <a:cs typeface="Consolas" pitchFamily="34" charset="-120"/>
              </a:rPr>
              <a:t>routing-service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When the caller needs no answer, publish an event instead</a:t>
            </a:r>
            <a:endParaRPr lang="en-US" sz="1450" dirty="0"/>
          </a:p>
        </p:txBody>
      </p:sp>
      <p:pic>
        <p:nvPicPr>
          <p:cNvPr id="5" name="Image 0" descr="preencoded.png"/>
          <p:cNvPicPr>
            <a:picLocks noChangeAspect="1"/>
          </p:cNvPicPr>
          <p:nvPr/>
        </p:nvPicPr>
        <p:blipFill>
          <a:blip r:embed="rId3"/>
          <a:stretch>
            <a:fillRect/>
          </a:stretch>
        </p:blipFill>
        <p:spPr>
          <a:xfrm>
            <a:off x="5879556" y="2489994"/>
            <a:ext cx="5656915" cy="318204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03</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State Stores: ETags &amp; Concurrency</a:t>
            </a:r>
          </a:p>
          <a:p>
            <a:pPr>
              <a:lnSpc>
                <a:spcPct val="95000"/>
              </a:lnSpc>
              <a:spcBef>
                <a:spcPts val="1400"/>
              </a:spcBef>
            </a:pPr>
            <a:r>
              <a:rPr sz="2000" b="0">
                <a:solidFill>
                  <a:srgbClr val="595F67"/>
                </a:solidFill>
                <a:latin typeface="Poppins"/>
              </a:rPr>
              <a:t>ETag checks, transactions and the Cosmos DB store</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ETags and first-write-wins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A write succeeds only while the ETag still matches</a:t>
            </a:r>
            <a:endParaRPr lang="en-US" sz="2200" dirty="0"/>
          </a:p>
        </p:txBody>
      </p:sp>
      <p:sp>
        <p:nvSpPr>
          <p:cNvPr id="4" name="Text 2"/>
          <p:cNvSpPr/>
          <p:nvPr/>
        </p:nvSpPr>
        <p:spPr>
          <a:xfrm>
            <a:off x="609600" y="2714718"/>
            <a:ext cx="4802449" cy="3200499"/>
          </a:xfrm>
          <a:prstGeom prst="rect">
            <a:avLst/>
          </a:prstGeom>
          <a:noFill/>
          <a:ln/>
        </p:spPr>
        <p:txBody>
          <a:bodyPr wrap="square" lIns="0" tIns="0" rIns="0" bIns="0" rtlCol="0" anchor="t">
            <a:normAutofit/>
          </a:bodyPr>
          <a:lstStyle/>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GetStateAndETagAsync</a:t>
            </a:r>
            <a:r>
              <a:rPr lang="en-US" sz="1400" dirty="0">
                <a:solidFill>
                  <a:srgbClr val="1B365D"/>
                </a:solidFill>
                <a:latin typeface="Poppins" pitchFamily="34" charset="0"/>
                <a:ea typeface="Poppins" pitchFamily="34" charset="-122"/>
                <a:cs typeface="Poppins" pitchFamily="34" charset="-120"/>
              </a:rPr>
              <a:t> returns the value together with its </a:t>
            </a:r>
            <a:r>
              <a:rPr lang="en-US" sz="1400" b="1" dirty="0">
                <a:solidFill>
                  <a:srgbClr val="1B365D"/>
                </a:solidFill>
                <a:latin typeface="Poppins Bold" pitchFamily="34" charset="0"/>
                <a:ea typeface="Poppins Bold" pitchFamily="34" charset="-122"/>
                <a:cs typeface="Poppins Bold" pitchFamily="34" charset="-120"/>
              </a:rPr>
              <a:t>ETag</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TrySaveStateAsync</a:t>
            </a:r>
            <a:r>
              <a:rPr lang="en-US" sz="1400" dirty="0">
                <a:solidFill>
                  <a:srgbClr val="1B365D"/>
                </a:solidFill>
                <a:latin typeface="Poppins" pitchFamily="34" charset="0"/>
                <a:ea typeface="Poppins" pitchFamily="34" charset="-122"/>
                <a:cs typeface="Poppins" pitchFamily="34" charset="-120"/>
              </a:rPr>
              <a:t> with </a:t>
            </a:r>
            <a:r>
              <a:rPr lang="en-US" sz="1400" dirty="0">
                <a:solidFill>
                  <a:srgbClr val="1B365D"/>
                </a:solidFill>
                <a:highlight>
                  <a:srgbClr val="F2F2F2"/>
                </a:highlight>
                <a:latin typeface="Consolas" pitchFamily="34" charset="0"/>
                <a:ea typeface="Consolas" pitchFamily="34" charset="-122"/>
                <a:cs typeface="Consolas" pitchFamily="34" charset="-120"/>
              </a:rPr>
              <a:t>ConcurrencyMode.FirstWrite</a:t>
            </a:r>
            <a:r>
              <a:rPr lang="en-US" sz="1400" dirty="0">
                <a:solidFill>
                  <a:srgbClr val="1B365D"/>
                </a:solidFill>
                <a:latin typeface="Poppins" pitchFamily="34" charset="0"/>
                <a:ea typeface="Poppins" pitchFamily="34" charset="-122"/>
                <a:cs typeface="Poppins" pitchFamily="34" charset="-120"/>
              </a:rPr>
              <a:t> returns </a:t>
            </a:r>
            <a:r>
              <a:rPr lang="en-US" sz="1400" dirty="0">
                <a:solidFill>
                  <a:srgbClr val="1B365D"/>
                </a:solidFill>
                <a:highlight>
                  <a:srgbClr val="F2F2F2"/>
                </a:highlight>
                <a:latin typeface="Consolas" pitchFamily="34" charset="0"/>
                <a:ea typeface="Consolas" pitchFamily="34" charset="-122"/>
                <a:cs typeface="Consolas" pitchFamily="34" charset="-120"/>
              </a:rPr>
              <a:t>false</a:t>
            </a:r>
            <a:r>
              <a:rPr lang="en-US" sz="1400" dirty="0">
                <a:solidFill>
                  <a:srgbClr val="1B365D"/>
                </a:solidFill>
                <a:latin typeface="Poppins" pitchFamily="34" charset="0"/>
                <a:ea typeface="Poppins" pitchFamily="34" charset="-122"/>
                <a:cs typeface="Poppins" pitchFamily="34" charset="-120"/>
              </a:rPr>
              <a:t> when another writer won</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Redis state store throws a </a:t>
            </a:r>
            <a:r>
              <a:rPr lang="en-US" sz="1400" dirty="0">
                <a:solidFill>
                  <a:srgbClr val="1B365D"/>
                </a:solidFill>
                <a:highlight>
                  <a:srgbClr val="F2F2F2"/>
                </a:highlight>
                <a:latin typeface="Consolas" pitchFamily="34" charset="0"/>
                <a:ea typeface="Consolas" pitchFamily="34" charset="-122"/>
                <a:cs typeface="Consolas" pitchFamily="34" charset="-120"/>
              </a:rPr>
              <a:t>DaprException</a:t>
            </a:r>
            <a:r>
              <a:rPr lang="en-US" sz="1400" dirty="0">
                <a:solidFill>
                  <a:srgbClr val="1B365D"/>
                </a:solidFill>
                <a:latin typeface="Poppins" pitchFamily="34" charset="0"/>
                <a:ea typeface="Poppins" pitchFamily="34" charset="-122"/>
                <a:cs typeface="Poppins" pitchFamily="34" charset="-120"/>
              </a:rPr>
              <a:t> for the same conflict</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On a conflict, read again and recompute in a short loop</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After a fixed number of attempts, return a conflict to the caller</a:t>
            </a:r>
            <a:endParaRPr lang="en-US" sz="1450" dirty="0"/>
          </a:p>
        </p:txBody>
      </p:sp>
      <p:pic>
        <p:nvPicPr>
          <p:cNvPr id="5" name="Image 0" descr="preencoded.png"/>
          <p:cNvPicPr>
            <a:picLocks noChangeAspect="1"/>
          </p:cNvPicPr>
          <p:nvPr/>
        </p:nvPicPr>
        <p:blipFill>
          <a:blip r:embed="rId3"/>
          <a:stretch>
            <a:fillRect/>
          </a:stretch>
        </p:blipFill>
        <p:spPr>
          <a:xfrm>
            <a:off x="5879556" y="2740422"/>
            <a:ext cx="5656915" cy="268118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Write modes and transactions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Choosing a concurrency mode and changing several keys at once</a:t>
            </a:r>
            <a:endParaRPr lang="en-US" sz="2200" dirty="0"/>
          </a:p>
        </p:txBody>
      </p:sp>
      <p:sp>
        <p:nvSpPr>
          <p:cNvPr id="4" name="Text 2"/>
          <p:cNvSpPr/>
          <p:nvPr/>
        </p:nvSpPr>
        <p:spPr>
          <a:xfrm>
            <a:off x="609600" y="2839686"/>
            <a:ext cx="4802449" cy="293588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Without an ETag the newest write replaces the value: </a:t>
            </a:r>
            <a:r>
              <a:rPr lang="en-US" sz="1400" b="1" dirty="0">
                <a:solidFill>
                  <a:srgbClr val="1B365D"/>
                </a:solidFill>
                <a:latin typeface="Poppins Bold" pitchFamily="34" charset="0"/>
                <a:ea typeface="Poppins Bold" pitchFamily="34" charset="-122"/>
                <a:cs typeface="Poppins Bold" pitchFamily="34" charset="-120"/>
              </a:rPr>
              <a:t>last-write-wins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Use first-write-wins for a transition that must happen once</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StateOptions.Consistency</a:t>
            </a:r>
            <a:r>
              <a:rPr lang="en-US" sz="1400" dirty="0">
                <a:solidFill>
                  <a:srgbClr val="1B365D"/>
                </a:solidFill>
                <a:latin typeface="Poppins" pitchFamily="34" charset="0"/>
                <a:ea typeface="Poppins" pitchFamily="34" charset="-122"/>
                <a:cs typeface="Poppins" pitchFamily="34" charset="-120"/>
              </a:rPr>
              <a:t>: eventual by default, strong waits for replicas or a quorum</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ExecuteStateTransactionAsync</a:t>
            </a:r>
            <a:r>
              <a:rPr lang="en-US" sz="1400" dirty="0">
                <a:solidFill>
                  <a:srgbClr val="1B365D"/>
                </a:solidFill>
                <a:latin typeface="Poppins" pitchFamily="34" charset="0"/>
                <a:ea typeface="Poppins" pitchFamily="34" charset="-122"/>
                <a:cs typeface="Poppins" pitchFamily="34" charset="-120"/>
              </a:rPr>
              <a:t> succeeds for every key or fails for every key</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state.azure.cosmosdb</a:t>
            </a:r>
            <a:r>
              <a:rPr lang="en-US" sz="1400" dirty="0">
                <a:solidFill>
                  <a:srgbClr val="1B365D"/>
                </a:solidFill>
                <a:latin typeface="Poppins" pitchFamily="34" charset="0"/>
                <a:ea typeface="Poppins" pitchFamily="34" charset="-122"/>
                <a:cs typeface="Poppins" pitchFamily="34" charset="-120"/>
              </a:rPr>
              <a:t> is Tier 1 and needs the partition key path </a:t>
            </a:r>
            <a:r>
              <a:rPr lang="en-US" sz="1400" dirty="0">
                <a:solidFill>
                  <a:srgbClr val="1B365D"/>
                </a:solidFill>
                <a:highlight>
                  <a:srgbClr val="F2F2F2"/>
                </a:highlight>
                <a:latin typeface="Consolas" pitchFamily="34" charset="0"/>
                <a:ea typeface="Consolas" pitchFamily="34" charset="-122"/>
                <a:cs typeface="Consolas" pitchFamily="34" charset="-120"/>
              </a:rPr>
              <a:t>/partitionKey</a:t>
            </a:r>
            <a:endParaRPr lang="en-US" sz="1450" dirty="0"/>
          </a:p>
        </p:txBody>
      </p:sp>
      <p:pic>
        <p:nvPicPr>
          <p:cNvPr id="5" name="Image 0" descr="preencoded.png"/>
          <p:cNvPicPr>
            <a:picLocks noChangeAspect="1"/>
          </p:cNvPicPr>
          <p:nvPr/>
        </p:nvPicPr>
        <p:blipFill>
          <a:blip r:embed="rId3"/>
          <a:stretch>
            <a:fillRect/>
          </a:stretch>
        </p:blipFill>
        <p:spPr>
          <a:xfrm>
            <a:off x="5879556" y="2489994"/>
            <a:ext cx="5656915" cy="318204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04</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Pub/Sub: Swap Brokers via Components</a:t>
            </a:r>
          </a:p>
          <a:p>
            <a:pPr>
              <a:lnSpc>
                <a:spcPct val="95000"/>
              </a:lnSpc>
              <a:spcBef>
                <a:spcPts val="1400"/>
              </a:spcBef>
            </a:pPr>
            <a:r>
              <a:rPr sz="2000" b="0">
                <a:solidFill>
                  <a:srgbClr val="595F67"/>
                </a:solidFill>
                <a:latin typeface="Poppins"/>
              </a:rPr>
              <a:t>The Topic attribute, dead-letter topics and Service Bus</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Publishing and subscribing</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The code names the component pubsub and the topic parcel-events</a:t>
            </a:r>
            <a:endParaRPr lang="en-US" sz="2200" dirty="0"/>
          </a:p>
        </p:txBody>
      </p:sp>
      <p:sp>
        <p:nvSpPr>
          <p:cNvPr id="4" name="Text 2"/>
          <p:cNvSpPr/>
          <p:nvPr/>
        </p:nvSpPr>
        <p:spPr>
          <a:xfrm>
            <a:off x="609599" y="2839528"/>
            <a:ext cx="5142364" cy="3200499"/>
          </a:xfrm>
          <a:prstGeom prst="rect">
            <a:avLst/>
          </a:prstGeom>
          <a:noFill/>
          <a:ln/>
        </p:spPr>
        <p:txBody>
          <a:bodyPr wrap="square" lIns="0" tIns="0" rIns="0" bIns="0" rtlCol="0" anchor="t">
            <a:normAutofit/>
          </a:bodyPr>
          <a:lstStyle/>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PublishEventAsync("pubsub", "parcel-events", scan)</a:t>
            </a:r>
            <a:r>
              <a:rPr lang="en-US" sz="1400" dirty="0">
                <a:solidFill>
                  <a:srgbClr val="1B365D"/>
                </a:solidFill>
                <a:latin typeface="Poppins" pitchFamily="34" charset="0"/>
                <a:ea typeface="Poppins" pitchFamily="34" charset="-122"/>
                <a:cs typeface="Poppins" pitchFamily="34" charset="-120"/>
              </a:rPr>
              <a:t> names no broker</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[Topic("pubsub", "parcel-events")]</a:t>
            </a:r>
            <a:r>
              <a:rPr lang="en-US" sz="1400" dirty="0">
                <a:solidFill>
                  <a:srgbClr val="1B365D"/>
                </a:solidFill>
                <a:latin typeface="Poppins" pitchFamily="34" charset="0"/>
                <a:ea typeface="Poppins" pitchFamily="34" charset="-122"/>
                <a:cs typeface="Poppins" pitchFamily="34" charset="-120"/>
              </a:rPr>
              <a:t> or </a:t>
            </a:r>
            <a:r>
              <a:rPr lang="en-US" sz="1400" dirty="0">
                <a:solidFill>
                  <a:srgbClr val="1B365D"/>
                </a:solidFill>
                <a:highlight>
                  <a:srgbClr val="F2F2F2"/>
                </a:highlight>
                <a:latin typeface="Consolas" pitchFamily="34" charset="0"/>
                <a:ea typeface="Consolas" pitchFamily="34" charset="-122"/>
                <a:cs typeface="Consolas" pitchFamily="34" charset="-120"/>
              </a:rPr>
              <a:t>WithTopic</a:t>
            </a:r>
            <a:r>
              <a:rPr lang="en-US" sz="1400" dirty="0">
                <a:solidFill>
                  <a:srgbClr val="1B365D"/>
                </a:solidFill>
                <a:latin typeface="Poppins" pitchFamily="34" charset="0"/>
                <a:ea typeface="Poppins" pitchFamily="34" charset="-122"/>
                <a:cs typeface="Poppins" pitchFamily="34" charset="-120"/>
              </a:rPr>
              <a:t> declares the subscription</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MapSubscribeHandler</a:t>
            </a:r>
            <a:r>
              <a:rPr lang="en-US" sz="1400" dirty="0">
                <a:solidFill>
                  <a:srgbClr val="1B365D"/>
                </a:solidFill>
                <a:latin typeface="Poppins" pitchFamily="34" charset="0"/>
                <a:ea typeface="Poppins" pitchFamily="34" charset="-122"/>
                <a:cs typeface="Poppins" pitchFamily="34" charset="-120"/>
              </a:rPr>
              <a:t> lists the subscriptions, </a:t>
            </a:r>
            <a:r>
              <a:rPr lang="en-US" sz="1400" dirty="0">
                <a:solidFill>
                  <a:srgbClr val="1B365D"/>
                </a:solidFill>
                <a:highlight>
                  <a:srgbClr val="F2F2F2"/>
                </a:highlight>
                <a:latin typeface="Consolas" pitchFamily="34" charset="0"/>
                <a:ea typeface="Consolas" pitchFamily="34" charset="-122"/>
                <a:cs typeface="Consolas" pitchFamily="34" charset="-120"/>
              </a:rPr>
              <a:t>UseCloudEvents</a:t>
            </a:r>
            <a:r>
              <a:rPr lang="en-US" sz="1400" dirty="0">
                <a:solidFill>
                  <a:srgbClr val="1B365D"/>
                </a:solidFill>
                <a:latin typeface="Poppins" pitchFamily="34" charset="0"/>
                <a:ea typeface="Poppins" pitchFamily="34" charset="-122"/>
                <a:cs typeface="Poppins" pitchFamily="34" charset="-120"/>
              </a:rPr>
              <a:t> unwraps the </a:t>
            </a:r>
            <a:r>
              <a:rPr lang="en-US" sz="1400" b="1" dirty="0">
                <a:solidFill>
                  <a:srgbClr val="1B365D"/>
                </a:solidFill>
                <a:latin typeface="Poppins Bold" pitchFamily="34" charset="0"/>
                <a:ea typeface="Poppins Bold" pitchFamily="34" charset="-122"/>
                <a:cs typeface="Poppins Bold" pitchFamily="34" charset="-120"/>
              </a:rPr>
              <a:t>CloudEvents</a:t>
            </a:r>
            <a:r>
              <a:rPr lang="en-US" sz="1400" dirty="0">
                <a:solidFill>
                  <a:srgbClr val="1B365D"/>
                </a:solidFill>
                <a:latin typeface="Poppins" pitchFamily="34" charset="0"/>
                <a:ea typeface="Poppins" pitchFamily="34" charset="-122"/>
                <a:cs typeface="Poppins" pitchFamily="34" charset="-120"/>
              </a:rPr>
              <a:t> envelope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Swap the broker in the component file: Service Bus, Event Hubs, Redis or Kafka</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Use the native Service Bus SDK when the logic depends on session state</a:t>
            </a:r>
            <a:endParaRPr lang="en-US" sz="1450" dirty="0"/>
          </a:p>
        </p:txBody>
      </p:sp>
      <p:pic>
        <p:nvPicPr>
          <p:cNvPr id="5" name="Image 0" descr="preencoded.png"/>
          <p:cNvPicPr>
            <a:picLocks noChangeAspect="1"/>
          </p:cNvPicPr>
          <p:nvPr/>
        </p:nvPicPr>
        <p:blipFill>
          <a:blip r:embed="rId3"/>
          <a:stretch>
            <a:fillRect/>
          </a:stretch>
        </p:blipFill>
        <p:spPr>
          <a:xfrm>
            <a:off x="6219471" y="3007916"/>
            <a:ext cx="5317000" cy="214620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120"/>
              </a:rPr>
              <a:t>Dead-letter topics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120"/>
              </a:rPr>
              <a:t>Messages that still fail after the retries land on poison-scans</a:t>
            </a:r>
            <a:endParaRPr lang="en-US" sz="2200" dirty="0"/>
          </a:p>
        </p:txBody>
      </p:sp>
      <p:sp>
        <p:nvSpPr>
          <p:cNvPr id="4" name="Text 2"/>
          <p:cNvSpPr/>
          <p:nvPr/>
        </p:nvSpPr>
        <p:spPr>
          <a:xfrm>
            <a:off x="609600" y="2959860"/>
            <a:ext cx="4802449" cy="2677616"/>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Declare a subscription in a </a:t>
            </a:r>
            <a:r>
              <a:rPr lang="en-US" sz="1400" dirty="0">
                <a:solidFill>
                  <a:srgbClr val="1B365D"/>
                </a:solidFill>
                <a:highlight>
                  <a:srgbClr val="F2F2F2"/>
                </a:highlight>
                <a:latin typeface="Consolas" pitchFamily="34" charset="0"/>
                <a:ea typeface="Consolas" pitchFamily="34" charset="-122"/>
                <a:cs typeface="Consolas" pitchFamily="34" charset="-120"/>
              </a:rPr>
              <a:t>dapr.io/v2alpha1</a:t>
            </a:r>
            <a:r>
              <a:rPr lang="en-US" sz="1450" dirty="0">
                <a:solidFill>
                  <a:srgbClr val="1B365D"/>
                </a:solidFill>
                <a:latin typeface="Poppins" pitchFamily="34" charset="0"/>
                <a:ea typeface="Poppins" pitchFamily="34" charset="-122"/>
                <a:cs typeface="Poppins" pitchFamily="34" charset="-120"/>
              </a:rPr>
              <a:t> </a:t>
            </a:r>
            <a:r>
              <a:rPr lang="en-US" sz="1400" dirty="0">
                <a:solidFill>
                  <a:srgbClr val="1B365D"/>
                </a:solidFill>
                <a:highlight>
                  <a:srgbClr val="F2F2F2"/>
                </a:highlight>
                <a:latin typeface="Consolas" pitchFamily="34" charset="0"/>
                <a:ea typeface="Consolas" pitchFamily="34" charset="-122"/>
                <a:cs typeface="Consolas" pitchFamily="34" charset="-120"/>
              </a:rPr>
              <a:t>Subscription</a:t>
            </a:r>
            <a:r>
              <a:rPr lang="en-US" sz="1400" dirty="0">
                <a:solidFill>
                  <a:srgbClr val="1B365D"/>
                </a:solidFill>
                <a:latin typeface="Poppins" pitchFamily="34" charset="0"/>
                <a:ea typeface="Poppins" pitchFamily="34" charset="-122"/>
                <a:cs typeface="Poppins" pitchFamily="34" charset="-120"/>
              </a:rPr>
              <a:t> file or in code</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deadLetterTopic: poison-scans</a:t>
            </a:r>
            <a:r>
              <a:rPr lang="en-US" sz="1400" dirty="0">
                <a:solidFill>
                  <a:srgbClr val="1B365D"/>
                </a:solidFill>
                <a:latin typeface="Poppins" pitchFamily="34" charset="0"/>
                <a:ea typeface="Poppins" pitchFamily="34" charset="-122"/>
                <a:cs typeface="Poppins" pitchFamily="34" charset="-120"/>
              </a:rPr>
              <a:t> takes what still fails after the retries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resiliency spec controls how Dapr retries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Service Bus dead-letters a message after the default </a:t>
            </a:r>
            <a:r>
              <a:rPr lang="en-US" sz="1400" dirty="0">
                <a:solidFill>
                  <a:srgbClr val="1B365D"/>
                </a:solidFill>
                <a:highlight>
                  <a:srgbClr val="F2F2F2"/>
                </a:highlight>
                <a:latin typeface="Consolas" pitchFamily="34" charset="0"/>
                <a:ea typeface="Consolas" pitchFamily="34" charset="-122"/>
                <a:cs typeface="Consolas" pitchFamily="34" charset="-120"/>
              </a:rPr>
              <a:t>MaxDeliveryCount</a:t>
            </a:r>
            <a:r>
              <a:rPr lang="en-US" sz="1400" dirty="0">
                <a:solidFill>
                  <a:srgbClr val="1B365D"/>
                </a:solidFill>
                <a:latin typeface="Poppins" pitchFamily="34" charset="0"/>
                <a:ea typeface="Poppins" pitchFamily="34" charset="-122"/>
                <a:cs typeface="Poppins" pitchFamily="34" charset="-120"/>
              </a:rPr>
              <a:t> of 10</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maxDeliveryCount</a:t>
            </a:r>
            <a:r>
              <a:rPr lang="en-US" sz="1400" dirty="0">
                <a:solidFill>
                  <a:srgbClr val="1B365D"/>
                </a:solidFill>
                <a:latin typeface="Poppins" pitchFamily="34" charset="0"/>
                <a:ea typeface="Poppins" pitchFamily="34" charset="-122"/>
                <a:cs typeface="Poppins" pitchFamily="34" charset="-120"/>
              </a:rPr>
              <a:t> takes effect only when Dapr creates the subscription</a:t>
            </a:r>
            <a:endParaRPr lang="en-US" sz="1450" dirty="0"/>
          </a:p>
        </p:txBody>
      </p:sp>
      <p:pic>
        <p:nvPicPr>
          <p:cNvPr id="5" name="Image 0" descr="preencoded.png"/>
          <p:cNvPicPr>
            <a:picLocks noChangeAspect="1"/>
          </p:cNvPicPr>
          <p:nvPr/>
        </p:nvPicPr>
        <p:blipFill>
          <a:blip r:embed="rId3"/>
          <a:stretch>
            <a:fillRect/>
          </a:stretch>
        </p:blipFill>
        <p:spPr>
          <a:xfrm>
            <a:off x="5879556" y="2489994"/>
            <a:ext cx="5656915" cy="318204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05</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Resiliency Policies: Retries &amp; Breakers</a:t>
            </a:r>
          </a:p>
          <a:p>
            <a:pPr>
              <a:lnSpc>
                <a:spcPct val="95000"/>
              </a:lnSpc>
              <a:spcBef>
                <a:spcPts val="1400"/>
              </a:spcBef>
            </a:pPr>
            <a:r>
              <a:rPr sz="2000" b="0">
                <a:solidFill>
                  <a:srgbClr val="595F67"/>
                </a:solidFill>
                <a:latin typeface="Poppins"/>
              </a:rPr>
              <a:t>Timeouts, retries and circuit breakers in one spec</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120"/>
              </a:rPr>
              <a:t>The resiliency spec</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120"/>
              </a:rPr>
              <a:t>Named policies in one file, applied to calls to routing-service</a:t>
            </a:r>
            <a:endParaRPr lang="en-US" sz="2950" dirty="0"/>
          </a:p>
        </p:txBody>
      </p:sp>
      <p:sp>
        <p:nvSpPr>
          <p:cNvPr id="4" name="Text 2"/>
          <p:cNvSpPr/>
          <p:nvPr/>
        </p:nvSpPr>
        <p:spPr>
          <a:xfrm>
            <a:off x="609599" y="3023580"/>
            <a:ext cx="4689144" cy="2677616"/>
          </a:xfrm>
          <a:prstGeom prst="rect">
            <a:avLst/>
          </a:prstGeom>
          <a:noFill/>
          <a:ln/>
        </p:spPr>
        <p:txBody>
          <a:bodyPr wrap="square" lIns="0" tIns="0" rIns="0" bIns="0" rtlCol="0" anchor="t">
            <a:normAutofit/>
          </a:bodyPr>
          <a:lstStyle/>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policies</a:t>
            </a:r>
            <a:r>
              <a:rPr lang="en-US" sz="1400" dirty="0">
                <a:solidFill>
                  <a:srgbClr val="1B365D"/>
                </a:solidFill>
                <a:latin typeface="Poppins" pitchFamily="34" charset="0"/>
                <a:ea typeface="Poppins" pitchFamily="34" charset="-122"/>
                <a:cs typeface="Poppins" pitchFamily="34" charset="-120"/>
              </a:rPr>
              <a:t> names timeouts, retries and circuit breakers; </a:t>
            </a:r>
            <a:r>
              <a:rPr lang="en-US" sz="1400" dirty="0">
                <a:solidFill>
                  <a:srgbClr val="1B365D"/>
                </a:solidFill>
                <a:highlight>
                  <a:srgbClr val="F2F2F2"/>
                </a:highlight>
                <a:latin typeface="Consolas" pitchFamily="34" charset="0"/>
                <a:ea typeface="Consolas" pitchFamily="34" charset="-122"/>
                <a:cs typeface="Consolas" pitchFamily="34" charset="-120"/>
              </a:rPr>
              <a:t>targets</a:t>
            </a:r>
            <a:r>
              <a:rPr lang="en-US" sz="1400" dirty="0">
                <a:solidFill>
                  <a:srgbClr val="1B365D"/>
                </a:solidFill>
                <a:latin typeface="Poppins" pitchFamily="34" charset="0"/>
                <a:ea typeface="Poppins" pitchFamily="34" charset="-122"/>
                <a:cs typeface="Poppins" pitchFamily="34" charset="-120"/>
              </a:rPr>
              <a:t> attaches them</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general</a:t>
            </a:r>
            <a:r>
              <a:rPr lang="en-US" sz="1400" dirty="0">
                <a:solidFill>
                  <a:srgbClr val="1B365D"/>
                </a:solidFill>
                <a:latin typeface="Poppins" pitchFamily="34" charset="0"/>
                <a:ea typeface="Poppins" pitchFamily="34" charset="-122"/>
                <a:cs typeface="Poppins" pitchFamily="34" charset="-120"/>
              </a:rPr>
              <a:t>: each attempt waits at most 5 s</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retryPolicy</a:t>
            </a:r>
            <a:r>
              <a:rPr lang="en-US" sz="1400" dirty="0">
                <a:solidFill>
                  <a:srgbClr val="1B365D"/>
                </a:solidFill>
                <a:latin typeface="Poppins" pitchFamily="34" charset="0"/>
                <a:ea typeface="Poppins" pitchFamily="34" charset="-122"/>
                <a:cs typeface="Poppins" pitchFamily="34" charset="-120"/>
              </a:rPr>
              <a:t>: constant 2 s delay, 3 retries, only status codes 500 to 599</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full call can take the timeout times the attempts, plus the delays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sidecar loads the file only when the AppHost sets </a:t>
            </a:r>
            <a:r>
              <a:rPr lang="en-US" sz="1400" dirty="0">
                <a:solidFill>
                  <a:srgbClr val="1B365D"/>
                </a:solidFill>
                <a:highlight>
                  <a:srgbClr val="F2F2F2"/>
                </a:highlight>
                <a:latin typeface="Consolas" pitchFamily="34" charset="0"/>
                <a:ea typeface="Consolas" pitchFamily="34" charset="-122"/>
                <a:cs typeface="Consolas" pitchFamily="34" charset="-120"/>
              </a:rPr>
              <a:t>ResourcesPaths</a:t>
            </a:r>
            <a:endParaRPr lang="en-US" sz="1450" dirty="0"/>
          </a:p>
        </p:txBody>
      </p:sp>
      <p:pic>
        <p:nvPicPr>
          <p:cNvPr id="5" name="Image 0" descr="preencoded.png"/>
          <p:cNvPicPr>
            <a:picLocks noChangeAspect="1"/>
          </p:cNvPicPr>
          <p:nvPr/>
        </p:nvPicPr>
        <p:blipFill>
          <a:blip r:embed="rId3"/>
          <a:stretch>
            <a:fillRect/>
          </a:stretch>
        </p:blipFill>
        <p:spPr>
          <a:xfrm>
            <a:off x="5766251" y="2712541"/>
            <a:ext cx="5770220" cy="2855119"/>
          </a:xfrm>
          <a:prstGeom prst="rect">
            <a:avLst/>
          </a:prstGeom>
        </p:spPr>
      </p:pic>
    </p:spTree>
    <p:extLst>
      <p:ext uri="{BB962C8B-B14F-4D97-AF65-F5344CB8AC3E}">
        <p14:creationId xmlns:p14="http://schemas.microsoft.com/office/powerpoint/2010/main" val="2275275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120"/>
              </a:rPr>
              <a:t>How the circuit breaker opens and closes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120"/>
              </a:rPr>
              <a:t>cbPolicy trips after five consecutive failures</a:t>
            </a:r>
            <a:endParaRPr lang="en-US" sz="2950" dirty="0"/>
          </a:p>
        </p:txBody>
      </p:sp>
      <p:sp>
        <p:nvSpPr>
          <p:cNvPr id="4" name="Text 2"/>
          <p:cNvSpPr/>
          <p:nvPr/>
        </p:nvSpPr>
        <p:spPr>
          <a:xfrm>
            <a:off x="609599" y="2898563"/>
            <a:ext cx="4689144" cy="2671266"/>
          </a:xfrm>
          <a:prstGeom prst="rect">
            <a:avLst/>
          </a:prstGeom>
          <a:noFill/>
          <a:ln/>
        </p:spPr>
        <p:txBody>
          <a:bodyPr wrap="square" lIns="0" tIns="0" rIns="0" bIns="0" rtlCol="0" anchor="t">
            <a:normAutofit/>
          </a:bodyPr>
          <a:lstStyle/>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trip: consecutiveFailures &gt;= 5</a:t>
            </a:r>
            <a:r>
              <a:rPr lang="en-US" sz="1400" dirty="0">
                <a:solidFill>
                  <a:srgbClr val="1B365D"/>
                </a:solidFill>
                <a:latin typeface="Poppins" pitchFamily="34" charset="0"/>
                <a:ea typeface="Poppins" pitchFamily="34" charset="-122"/>
                <a:cs typeface="Poppins" pitchFamily="34" charset="-120"/>
              </a:rPr>
              <a:t> opens the breaker</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While open, the breaker rejects calls at once for its </a:t>
            </a:r>
            <a:r>
              <a:rPr lang="en-US" sz="1400" dirty="0">
                <a:solidFill>
                  <a:srgbClr val="1B365D"/>
                </a:solidFill>
                <a:highlight>
                  <a:srgbClr val="F2F2F2"/>
                </a:highlight>
                <a:latin typeface="Consolas" pitchFamily="34" charset="0"/>
                <a:ea typeface="Consolas" pitchFamily="34" charset="-122"/>
                <a:cs typeface="Consolas" pitchFamily="34" charset="-120"/>
              </a:rPr>
              <a:t>timeout</a:t>
            </a:r>
            <a:r>
              <a:rPr lang="en-US" sz="1400" dirty="0">
                <a:solidFill>
                  <a:srgbClr val="1B365D"/>
                </a:solidFill>
                <a:latin typeface="Poppins" pitchFamily="34" charset="0"/>
                <a:ea typeface="Poppins" pitchFamily="34" charset="-122"/>
                <a:cs typeface="Poppins" pitchFamily="34" charset="-120"/>
              </a:rPr>
              <a:t> of 60 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Half-open lets </a:t>
            </a:r>
            <a:r>
              <a:rPr lang="en-US" sz="1400" dirty="0">
                <a:solidFill>
                  <a:srgbClr val="1B365D"/>
                </a:solidFill>
                <a:highlight>
                  <a:srgbClr val="F2F2F2"/>
                </a:highlight>
                <a:latin typeface="Consolas" pitchFamily="34" charset="0"/>
                <a:ea typeface="Consolas" pitchFamily="34" charset="-122"/>
                <a:cs typeface="Consolas" pitchFamily="34" charset="-120"/>
              </a:rPr>
              <a:t>maxRequests</a:t>
            </a:r>
            <a:r>
              <a:rPr lang="en-US" sz="1400" dirty="0">
                <a:solidFill>
                  <a:srgbClr val="1B365D"/>
                </a:solidFill>
                <a:latin typeface="Poppins" pitchFamily="34" charset="0"/>
                <a:ea typeface="Poppins" pitchFamily="34" charset="-122"/>
                <a:cs typeface="Poppins" pitchFamily="34" charset="-120"/>
              </a:rPr>
              <a:t> (1) probe through, and a success closes it</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interval</a:t>
            </a:r>
            <a:r>
              <a:rPr lang="en-US" sz="1400" dirty="0">
                <a:solidFill>
                  <a:srgbClr val="1B365D"/>
                </a:solidFill>
                <a:latin typeface="Poppins" pitchFamily="34" charset="0"/>
                <a:ea typeface="Poppins" pitchFamily="34" charset="-122"/>
                <a:cs typeface="Poppins" pitchFamily="34" charset="-120"/>
              </a:rPr>
              <a:t> stays at 0 s, so nothing clears the count while the breaker is closed</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Dapr creates breakers per component and per app instance</a:t>
            </a:r>
            <a:endParaRPr lang="en-US" sz="1450" dirty="0"/>
          </a:p>
        </p:txBody>
      </p:sp>
      <p:pic>
        <p:nvPicPr>
          <p:cNvPr id="5" name="Image 0" descr="preencoded.png"/>
          <p:cNvPicPr>
            <a:picLocks noChangeAspect="1"/>
          </p:cNvPicPr>
          <p:nvPr/>
        </p:nvPicPr>
        <p:blipFill>
          <a:blip r:embed="rId3"/>
          <a:stretch>
            <a:fillRect/>
          </a:stretch>
        </p:blipFill>
        <p:spPr>
          <a:xfrm>
            <a:off x="5766251" y="2892822"/>
            <a:ext cx="5770220" cy="2494459"/>
          </a:xfrm>
          <a:prstGeom prst="rect">
            <a:avLst/>
          </a:prstGeom>
        </p:spPr>
      </p:pic>
    </p:spTree>
    <p:extLst>
      <p:ext uri="{BB962C8B-B14F-4D97-AF65-F5344CB8AC3E}">
        <p14:creationId xmlns:p14="http://schemas.microsoft.com/office/powerpoint/2010/main" val="26307764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120"/>
              </a:rPr>
              <a:t>Resiliency targets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120"/>
              </a:rPr>
              <a:t>Policies keyed by app ID, actor type or component name</a:t>
            </a:r>
            <a:endParaRPr lang="en-US" sz="2950" dirty="0"/>
          </a:p>
        </p:txBody>
      </p:sp>
      <p:sp>
        <p:nvSpPr>
          <p:cNvPr id="4" name="Text 2"/>
          <p:cNvSpPr/>
          <p:nvPr/>
        </p:nvSpPr>
        <p:spPr>
          <a:xfrm>
            <a:off x="609599" y="2773754"/>
            <a:ext cx="4689144" cy="2942233"/>
          </a:xfrm>
          <a:prstGeom prst="rect">
            <a:avLst/>
          </a:prstGeom>
          <a:noFill/>
          <a:ln/>
        </p:spPr>
        <p:txBody>
          <a:bodyPr wrap="square" lIns="0" tIns="0" rIns="0" bIns="0" rtlCol="0" anchor="t">
            <a:normAutofit/>
          </a:bodyPr>
          <a:lstStyle/>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apps</a:t>
            </a:r>
            <a:r>
              <a:rPr lang="en-US" sz="1400" dirty="0">
                <a:solidFill>
                  <a:srgbClr val="1B365D"/>
                </a:solidFill>
                <a:latin typeface="Poppins" pitchFamily="34" charset="0"/>
                <a:ea typeface="Poppins" pitchFamily="34" charset="-122"/>
                <a:cs typeface="Poppins" pitchFamily="34" charset="-120"/>
              </a:rPr>
              <a:t> keys policies by app ID, </a:t>
            </a:r>
            <a:r>
              <a:rPr lang="en-US" sz="1400" dirty="0">
                <a:solidFill>
                  <a:srgbClr val="1B365D"/>
                </a:solidFill>
                <a:highlight>
                  <a:srgbClr val="F2F2F2"/>
                </a:highlight>
                <a:latin typeface="Consolas" pitchFamily="34" charset="0"/>
                <a:ea typeface="Consolas" pitchFamily="34" charset="-122"/>
                <a:cs typeface="Consolas" pitchFamily="34" charset="-120"/>
              </a:rPr>
              <a:t>actors</a:t>
            </a:r>
            <a:r>
              <a:rPr lang="en-US" sz="1400" dirty="0">
                <a:solidFill>
                  <a:srgbClr val="1B365D"/>
                </a:solidFill>
                <a:latin typeface="Poppins" pitchFamily="34" charset="0"/>
                <a:ea typeface="Poppins" pitchFamily="34" charset="-122"/>
                <a:cs typeface="Poppins" pitchFamily="34" charset="-120"/>
              </a:rPr>
              <a:t> by actor type, </a:t>
            </a:r>
            <a:r>
              <a:rPr lang="en-US" sz="1400" dirty="0">
                <a:solidFill>
                  <a:srgbClr val="1B365D"/>
                </a:solidFill>
                <a:highlight>
                  <a:srgbClr val="F2F2F2"/>
                </a:highlight>
                <a:latin typeface="Consolas" pitchFamily="34" charset="0"/>
                <a:ea typeface="Consolas" pitchFamily="34" charset="-122"/>
                <a:cs typeface="Consolas" pitchFamily="34" charset="-120"/>
              </a:rPr>
              <a:t>components</a:t>
            </a:r>
            <a:r>
              <a:rPr lang="en-US" sz="1400" dirty="0">
                <a:solidFill>
                  <a:srgbClr val="1B365D"/>
                </a:solidFill>
                <a:latin typeface="Poppins" pitchFamily="34" charset="0"/>
                <a:ea typeface="Poppins" pitchFamily="34" charset="-122"/>
                <a:cs typeface="Poppins" pitchFamily="34" charset="-120"/>
              </a:rPr>
              <a:t> by component name</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outbound</a:t>
            </a:r>
            <a:r>
              <a:rPr lang="en-US" sz="1400" dirty="0">
                <a:solidFill>
                  <a:srgbClr val="1B365D"/>
                </a:solidFill>
                <a:latin typeface="Poppins" pitchFamily="34" charset="0"/>
                <a:ea typeface="Poppins" pitchFamily="34" charset="-122"/>
                <a:cs typeface="Poppins" pitchFamily="34" charset="-120"/>
              </a:rPr>
              <a:t> protects the call to the store, </a:t>
            </a:r>
            <a:r>
              <a:rPr lang="en-US" sz="1400" dirty="0">
                <a:solidFill>
                  <a:srgbClr val="1B365D"/>
                </a:solidFill>
                <a:highlight>
                  <a:srgbClr val="F2F2F2"/>
                </a:highlight>
                <a:latin typeface="Consolas" pitchFamily="34" charset="0"/>
                <a:ea typeface="Consolas" pitchFamily="34" charset="-122"/>
                <a:cs typeface="Consolas" pitchFamily="34" charset="-120"/>
              </a:rPr>
              <a:t>inbound</a:t>
            </a:r>
            <a:r>
              <a:rPr lang="en-US" sz="1400" dirty="0">
                <a:solidFill>
                  <a:srgbClr val="1B365D"/>
                </a:solidFill>
                <a:latin typeface="Poppins" pitchFamily="34" charset="0"/>
                <a:ea typeface="Poppins" pitchFamily="34" charset="-122"/>
                <a:cs typeface="Poppins" pitchFamily="34" charset="-120"/>
              </a:rPr>
              <a:t> the delivery to your app</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Container Apps offers </a:t>
            </a:r>
            <a:r>
              <a:rPr lang="en-US" sz="1400" b="1" dirty="0">
                <a:solidFill>
                  <a:srgbClr val="1B365D"/>
                </a:solidFill>
                <a:latin typeface="Poppins" pitchFamily="34" charset="0"/>
                <a:ea typeface="Poppins" pitchFamily="34" charset="-122"/>
                <a:cs typeface="Poppins" pitchFamily="34" charset="-120"/>
              </a:rPr>
              <a:t>Dapr component resiliency</a:t>
            </a:r>
            <a:r>
              <a:rPr lang="en-US" sz="1400" dirty="0">
                <a:solidFill>
                  <a:srgbClr val="1B365D"/>
                </a:solidFill>
                <a:latin typeface="Poppins" pitchFamily="34" charset="0"/>
                <a:ea typeface="Poppins" pitchFamily="34" charset="-122"/>
                <a:cs typeface="Poppins" pitchFamily="34" charset="-120"/>
              </a:rPr>
              <a:t> as a preview feature</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az containerapp env dapr-component resiliency create</a:t>
            </a:r>
            <a:r>
              <a:rPr lang="en-US" sz="1400" dirty="0">
                <a:solidFill>
                  <a:srgbClr val="1B365D"/>
                </a:solidFill>
                <a:latin typeface="Poppins" pitchFamily="34" charset="0"/>
                <a:ea typeface="Poppins" pitchFamily="34" charset="-122"/>
                <a:cs typeface="Poppins" pitchFamily="34" charset="-120"/>
              </a:rPr>
              <a:t> attaches a policy to a component</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Service discovery resiliency does not apply to Dapr service invocation</a:t>
            </a:r>
            <a:endParaRPr lang="en-US" sz="1450" dirty="0"/>
          </a:p>
        </p:txBody>
      </p:sp>
      <p:pic>
        <p:nvPicPr>
          <p:cNvPr id="5" name="Image 0" descr="preencoded.png"/>
          <p:cNvPicPr>
            <a:picLocks noChangeAspect="1"/>
          </p:cNvPicPr>
          <p:nvPr/>
        </p:nvPicPr>
        <p:blipFill>
          <a:blip r:embed="rId3"/>
          <a:stretch>
            <a:fillRect/>
          </a:stretch>
        </p:blipFill>
        <p:spPr>
          <a:xfrm>
            <a:off x="5766251" y="2517180"/>
            <a:ext cx="5770220" cy="3245743"/>
          </a:xfrm>
          <a:prstGeom prst="rect">
            <a:avLst/>
          </a:prstGeom>
        </p:spPr>
      </p:pic>
    </p:spTree>
    <p:extLst>
      <p:ext uri="{BB962C8B-B14F-4D97-AF65-F5344CB8AC3E}">
        <p14:creationId xmlns:p14="http://schemas.microsoft.com/office/powerpoint/2010/main" val="42373654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06</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Dapr Actors: Virtual Actor Model</a:t>
            </a:r>
          </a:p>
          <a:p>
            <a:pPr>
              <a:lnSpc>
                <a:spcPct val="95000"/>
              </a:lnSpc>
              <a:spcBef>
                <a:spcPts val="1400"/>
              </a:spcBef>
            </a:pPr>
            <a:r>
              <a:rPr sz="2000" b="0">
                <a:solidFill>
                  <a:srgbClr val="595F67"/>
                </a:solidFill>
                <a:latin typeface="Poppins"/>
              </a:rPr>
              <a:t>VanActor, turn-based calls, timers and reminders</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120"/>
              </a:rPr>
              <a:t>Virtual actors and turn-based access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120"/>
              </a:rPr>
              <a:t>Each van is an actor that handles one call at a time</a:t>
            </a:r>
            <a:endParaRPr lang="en-US" sz="2950" dirty="0"/>
          </a:p>
        </p:txBody>
      </p:sp>
      <p:sp>
        <p:nvSpPr>
          <p:cNvPr id="4" name="Text 2"/>
          <p:cNvSpPr/>
          <p:nvPr/>
        </p:nvSpPr>
        <p:spPr>
          <a:xfrm>
            <a:off x="609599" y="2898563"/>
            <a:ext cx="4689144" cy="292953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runtime activates an actor on the first request for its ID</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Idle actors are garbage-collected and come back with their saved state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Calls run one at a time, so two assignments for </a:t>
            </a:r>
            <a:r>
              <a:rPr lang="en-US" sz="1400" dirty="0">
                <a:solidFill>
                  <a:srgbClr val="1B365D"/>
                </a:solidFill>
                <a:highlight>
                  <a:srgbClr val="F2F2F2"/>
                </a:highlight>
                <a:latin typeface="Consolas" pitchFamily="34" charset="0"/>
                <a:ea typeface="Consolas" pitchFamily="34" charset="-122"/>
                <a:cs typeface="Consolas" pitchFamily="34" charset="-120"/>
              </a:rPr>
              <a:t>van-42</a:t>
            </a:r>
            <a:r>
              <a:rPr lang="en-US" sz="1400" dirty="0">
                <a:solidFill>
                  <a:srgbClr val="1B365D"/>
                </a:solidFill>
                <a:latin typeface="Poppins" pitchFamily="34" charset="0"/>
                <a:ea typeface="Poppins" pitchFamily="34" charset="-122"/>
                <a:cs typeface="Poppins" pitchFamily="34" charset="-120"/>
              </a:rPr>
              <a:t> never share a free slot</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IVanActor</a:t>
            </a:r>
            <a:r>
              <a:rPr lang="en-US" sz="1400" dirty="0">
                <a:solidFill>
                  <a:srgbClr val="1B365D"/>
                </a:solidFill>
                <a:latin typeface="Poppins" pitchFamily="34" charset="0"/>
                <a:ea typeface="Poppins" pitchFamily="34" charset="-122"/>
                <a:cs typeface="Poppins" pitchFamily="34" charset="-120"/>
              </a:rPr>
              <a:t> derives from </a:t>
            </a:r>
            <a:r>
              <a:rPr lang="en-US" sz="1400" dirty="0">
                <a:solidFill>
                  <a:srgbClr val="1B365D"/>
                </a:solidFill>
                <a:highlight>
                  <a:srgbClr val="F2F2F2"/>
                </a:highlight>
                <a:latin typeface="Consolas" pitchFamily="34" charset="0"/>
                <a:ea typeface="Consolas" pitchFamily="34" charset="-122"/>
                <a:cs typeface="Consolas" pitchFamily="34" charset="-120"/>
              </a:rPr>
              <a:t>IActor</a:t>
            </a:r>
            <a:r>
              <a:rPr lang="en-US" sz="1400" dirty="0">
                <a:solidFill>
                  <a:srgbClr val="1B365D"/>
                </a:solidFill>
                <a:latin typeface="Poppins" pitchFamily="34" charset="0"/>
                <a:ea typeface="Poppins" pitchFamily="34" charset="-122"/>
                <a:cs typeface="Poppins" pitchFamily="34" charset="-120"/>
              </a:rPr>
              <a:t>, </a:t>
            </a:r>
            <a:r>
              <a:rPr lang="en-US" sz="1400" dirty="0">
                <a:solidFill>
                  <a:srgbClr val="1B365D"/>
                </a:solidFill>
                <a:highlight>
                  <a:srgbClr val="F2F2F2"/>
                </a:highlight>
                <a:latin typeface="Consolas" pitchFamily="34" charset="0"/>
                <a:ea typeface="Consolas" pitchFamily="34" charset="-122"/>
                <a:cs typeface="Consolas" pitchFamily="34" charset="-120"/>
              </a:rPr>
              <a:t>VanActor</a:t>
            </a:r>
            <a:r>
              <a:rPr lang="en-US" sz="1400" dirty="0">
                <a:solidFill>
                  <a:srgbClr val="1B365D"/>
                </a:solidFill>
                <a:latin typeface="Poppins" pitchFamily="34" charset="0"/>
                <a:ea typeface="Poppins" pitchFamily="34" charset="-122"/>
                <a:cs typeface="Poppins" pitchFamily="34" charset="-120"/>
              </a:rPr>
              <a:t> from </a:t>
            </a:r>
            <a:r>
              <a:rPr lang="en-US" sz="1400" dirty="0">
                <a:solidFill>
                  <a:srgbClr val="1B365D"/>
                </a:solidFill>
                <a:highlight>
                  <a:srgbClr val="F2F2F2"/>
                </a:highlight>
                <a:latin typeface="Consolas" pitchFamily="34" charset="0"/>
                <a:ea typeface="Consolas" pitchFamily="34" charset="-122"/>
                <a:cs typeface="Consolas" pitchFamily="34" charset="-120"/>
              </a:rPr>
              <a:t>Actor</a:t>
            </a:r>
            <a:r>
              <a:rPr lang="en-US" sz="1400" dirty="0">
                <a:solidFill>
                  <a:srgbClr val="1B365D"/>
                </a:solidFill>
                <a:latin typeface="Poppins" pitchFamily="34" charset="0"/>
                <a:ea typeface="Poppins" pitchFamily="34" charset="-122"/>
                <a:cs typeface="Poppins" pitchFamily="34" charset="-120"/>
              </a:rPr>
              <a:t>; callers use </a:t>
            </a:r>
            <a:r>
              <a:rPr lang="en-US" sz="1400" dirty="0">
                <a:solidFill>
                  <a:srgbClr val="1B365D"/>
                </a:solidFill>
                <a:highlight>
                  <a:srgbClr val="F2F2F2"/>
                </a:highlight>
                <a:latin typeface="Consolas" pitchFamily="34" charset="0"/>
                <a:ea typeface="Consolas" pitchFamily="34" charset="-122"/>
                <a:cs typeface="Consolas" pitchFamily="34" charset="-120"/>
              </a:rPr>
              <a:t>ActorProxy.Create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All actor types share one </a:t>
            </a:r>
            <a:r>
              <a:rPr lang="en-US" sz="1400" b="1" dirty="0">
                <a:solidFill>
                  <a:srgbClr val="1B365D"/>
                </a:solidFill>
                <a:latin typeface="Poppins" pitchFamily="34" charset="0"/>
                <a:ea typeface="Poppins" pitchFamily="34" charset="-122"/>
                <a:cs typeface="Poppins" pitchFamily="34" charset="-120"/>
              </a:rPr>
              <a:t>actor state store</a:t>
            </a:r>
            <a:r>
              <a:rPr lang="en-US" sz="1400" dirty="0">
                <a:solidFill>
                  <a:srgbClr val="1B365D"/>
                </a:solidFill>
                <a:latin typeface="Poppins" pitchFamily="34" charset="0"/>
                <a:ea typeface="Poppins" pitchFamily="34" charset="-122"/>
                <a:cs typeface="Poppins" pitchFamily="34" charset="-120"/>
              </a:rPr>
              <a:t> that supports transactions</a:t>
            </a:r>
            <a:endParaRPr lang="en-US" sz="1450" dirty="0"/>
          </a:p>
        </p:txBody>
      </p:sp>
      <p:pic>
        <p:nvPicPr>
          <p:cNvPr id="5" name="Image 0" descr="preencoded.png"/>
          <p:cNvPicPr>
            <a:picLocks noChangeAspect="1"/>
          </p:cNvPicPr>
          <p:nvPr/>
        </p:nvPicPr>
        <p:blipFill>
          <a:blip r:embed="rId3"/>
          <a:stretch>
            <a:fillRect/>
          </a:stretch>
        </p:blipFill>
        <p:spPr>
          <a:xfrm>
            <a:off x="5766251" y="2697460"/>
            <a:ext cx="5770220" cy="2885182"/>
          </a:xfrm>
          <a:prstGeom prst="rect">
            <a:avLst/>
          </a:prstGeom>
        </p:spPr>
      </p:pic>
    </p:spTree>
    <p:extLst>
      <p:ext uri="{BB962C8B-B14F-4D97-AF65-F5344CB8AC3E}">
        <p14:creationId xmlns:p14="http://schemas.microsoft.com/office/powerpoint/2010/main" val="25266521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120"/>
              </a:rPr>
              <a:t>Timers and reminders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120"/>
              </a:rPr>
              <a:t>A heartbeat while the actor is active, a service check that survives deactivation</a:t>
            </a:r>
            <a:endParaRPr lang="en-US" sz="2950" dirty="0"/>
          </a:p>
        </p:txBody>
      </p:sp>
      <p:sp>
        <p:nvSpPr>
          <p:cNvPr id="4" name="Text 2"/>
          <p:cNvSpPr/>
          <p:nvPr/>
        </p:nvSpPr>
        <p:spPr>
          <a:xfrm>
            <a:off x="609599" y="3134802"/>
            <a:ext cx="4689144" cy="2929533"/>
          </a:xfrm>
          <a:prstGeom prst="rect">
            <a:avLst/>
          </a:prstGeom>
          <a:noFill/>
          <a:ln/>
        </p:spPr>
        <p:txBody>
          <a:bodyPr wrap="square" lIns="0" tIns="0" rIns="0" bIns="0" rtlCol="0" anchor="t">
            <a:normAutofit/>
          </a:bodyPr>
          <a:lstStyle/>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RegisterTimerAsync</a:t>
            </a:r>
            <a:r>
              <a:rPr lang="en-US" sz="1400" dirty="0">
                <a:solidFill>
                  <a:srgbClr val="1B365D"/>
                </a:solidFill>
                <a:latin typeface="Poppins" pitchFamily="34" charset="0"/>
                <a:ea typeface="Poppins" pitchFamily="34" charset="-122"/>
                <a:cs typeface="Poppins" pitchFamily="34" charset="-120"/>
              </a:rPr>
              <a:t>: a heartbeat every 5 s, only while the actor is active</a:t>
            </a:r>
            <a:endParaRPr lang="en-US" sz="1450" dirty="0"/>
          </a:p>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RegisterReminderAsync</a:t>
            </a:r>
            <a:r>
              <a:rPr lang="en-US" sz="1400" dirty="0">
                <a:solidFill>
                  <a:srgbClr val="1B365D"/>
                </a:solidFill>
                <a:latin typeface="Poppins" pitchFamily="34" charset="0"/>
                <a:ea typeface="Poppins" pitchFamily="34" charset="-122"/>
                <a:cs typeface="Poppins" pitchFamily="34" charset="-120"/>
              </a:rPr>
              <a:t>: </a:t>
            </a:r>
            <a:r>
              <a:rPr lang="en-US" sz="1400" dirty="0">
                <a:solidFill>
                  <a:srgbClr val="1B365D"/>
                </a:solidFill>
                <a:highlight>
                  <a:srgbClr val="F2F2F2"/>
                </a:highlight>
                <a:latin typeface="Consolas" pitchFamily="34" charset="0"/>
                <a:ea typeface="Consolas" pitchFamily="34" charset="-122"/>
                <a:cs typeface="Consolas" pitchFamily="34" charset="-120"/>
              </a:rPr>
              <a:t>van-service-check</a:t>
            </a:r>
            <a:r>
              <a:rPr lang="en-US" sz="1400" dirty="0">
                <a:solidFill>
                  <a:srgbClr val="1B365D"/>
                </a:solidFill>
                <a:latin typeface="Poppins" pitchFamily="34" charset="0"/>
                <a:ea typeface="Poppins" pitchFamily="34" charset="-122"/>
                <a:cs typeface="Poppins" pitchFamily="34" charset="-120"/>
              </a:rPr>
              <a:t> every 24 h, persisted in the state store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runtime calls </a:t>
            </a:r>
            <a:r>
              <a:rPr lang="en-US" sz="1400" dirty="0">
                <a:solidFill>
                  <a:srgbClr val="1B365D"/>
                </a:solidFill>
                <a:highlight>
                  <a:srgbClr val="F2F2F2"/>
                </a:highlight>
                <a:latin typeface="Consolas" pitchFamily="34" charset="0"/>
                <a:ea typeface="Consolas" pitchFamily="34" charset="-122"/>
                <a:cs typeface="Consolas" pitchFamily="34" charset="-120"/>
              </a:rPr>
              <a:t>ReceiveReminderAsync</a:t>
            </a:r>
            <a:r>
              <a:rPr lang="en-US" sz="1400" dirty="0">
                <a:solidFill>
                  <a:srgbClr val="1B365D"/>
                </a:solidFill>
                <a:latin typeface="Poppins" pitchFamily="34" charset="0"/>
                <a:ea typeface="Poppins" pitchFamily="34" charset="-122"/>
                <a:cs typeface="Poppins" pitchFamily="34" charset="-120"/>
              </a:rPr>
              <a:t> for every reminder that fires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Reminders cost more than timers, because the runtime writes them to storage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Container Apps does not run the actor packages: use the AppHost or AKS</a:t>
            </a:r>
            <a:endParaRPr lang="en-US" sz="1450" dirty="0"/>
          </a:p>
        </p:txBody>
      </p:sp>
      <p:pic>
        <p:nvPicPr>
          <p:cNvPr id="5" name="Image 0" descr="preencoded.png"/>
          <p:cNvPicPr>
            <a:picLocks noChangeAspect="1"/>
          </p:cNvPicPr>
          <p:nvPr/>
        </p:nvPicPr>
        <p:blipFill>
          <a:blip r:embed="rId3"/>
          <a:stretch>
            <a:fillRect/>
          </a:stretch>
        </p:blipFill>
        <p:spPr>
          <a:xfrm>
            <a:off x="5766251" y="3264297"/>
            <a:ext cx="5770220" cy="2223988"/>
          </a:xfrm>
          <a:prstGeom prst="rect">
            <a:avLst/>
          </a:prstGeom>
        </p:spPr>
      </p:pic>
    </p:spTree>
    <p:extLst>
      <p:ext uri="{BB962C8B-B14F-4D97-AF65-F5344CB8AC3E}">
        <p14:creationId xmlns:p14="http://schemas.microsoft.com/office/powerpoint/2010/main" val="5181207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07</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Managed Dapr: Container Apps vs. AKS</a:t>
            </a:r>
          </a:p>
          <a:p>
            <a:pPr>
              <a:lnSpc>
                <a:spcPct val="95000"/>
              </a:lnSpc>
              <a:spcBef>
                <a:spcPts val="1400"/>
              </a:spcBef>
            </a:pPr>
            <a:r>
              <a:rPr sz="2000" b="0">
                <a:solidFill>
                  <a:srgbClr val="595F67"/>
                </a:solidFill>
                <a:latin typeface="Poppins"/>
              </a:rPr>
              <a:t>Component tiers, platform limits and the version window</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120"/>
              </a:rPr>
              <a:t>Dapr on Container Apps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120"/>
              </a:rPr>
              <a:t>Components live on the environment and scopes pick the app IDs</a:t>
            </a:r>
            <a:endParaRPr lang="en-US" sz="2950" dirty="0"/>
          </a:p>
        </p:txBody>
      </p:sp>
      <p:sp>
        <p:nvSpPr>
          <p:cNvPr id="4" name="Text 2"/>
          <p:cNvSpPr/>
          <p:nvPr/>
        </p:nvSpPr>
        <p:spPr>
          <a:xfrm>
            <a:off x="609599" y="3134853"/>
            <a:ext cx="4689144" cy="2923183"/>
          </a:xfrm>
          <a:prstGeom prst="rect">
            <a:avLst/>
          </a:prstGeom>
          <a:noFill/>
          <a:ln/>
        </p:spPr>
        <p:txBody>
          <a:bodyPr wrap="square" lIns="0" tIns="0" rIns="0" bIns="0" rtlCol="0" anchor="t">
            <a:normAutofit/>
          </a:bodyPr>
          <a:lstStyle/>
          <a:p>
            <a:pPr marL="294640" indent="-29464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--enable-dapr</a:t>
            </a:r>
            <a:r>
              <a:rPr lang="en-US" sz="1400" dirty="0">
                <a:solidFill>
                  <a:srgbClr val="1B365D"/>
                </a:solidFill>
                <a:latin typeface="Poppins" pitchFamily="34" charset="0"/>
                <a:ea typeface="Poppins" pitchFamily="34" charset="-122"/>
                <a:cs typeface="Poppins" pitchFamily="34" charset="-120"/>
              </a:rPr>
              <a:t> and </a:t>
            </a:r>
            <a:r>
              <a:rPr lang="en-US" sz="1400" dirty="0">
                <a:solidFill>
                  <a:srgbClr val="1B365D"/>
                </a:solidFill>
                <a:highlight>
                  <a:srgbClr val="F2F2F2"/>
                </a:highlight>
                <a:latin typeface="Consolas" pitchFamily="34" charset="0"/>
                <a:ea typeface="Consolas" pitchFamily="34" charset="-122"/>
                <a:cs typeface="Consolas" pitchFamily="34" charset="-120"/>
              </a:rPr>
              <a:t>--dapr-app-id</a:t>
            </a:r>
            <a:r>
              <a:rPr lang="en-US" sz="1400" dirty="0">
                <a:solidFill>
                  <a:srgbClr val="1B365D"/>
                </a:solidFill>
                <a:latin typeface="Poppins" pitchFamily="34" charset="0"/>
                <a:ea typeface="Poppins" pitchFamily="34" charset="-122"/>
                <a:cs typeface="Poppins" pitchFamily="34" charset="-120"/>
              </a:rPr>
              <a:t> turn Dapr on per app</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Components are defined once on the environment and scoped to app IDs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Tier 1 and Tier 2 only: Cosmos DB state and Service Bus topics are </a:t>
            </a:r>
            <a:r>
              <a:rPr lang="en-US" sz="1400" b="1" dirty="0">
                <a:solidFill>
                  <a:srgbClr val="1B365D"/>
                </a:solidFill>
                <a:latin typeface="Poppins" pitchFamily="34" charset="0"/>
                <a:ea typeface="Poppins" pitchFamily="34" charset="-122"/>
                <a:cs typeface="Poppins" pitchFamily="34" charset="-120"/>
              </a:rPr>
              <a:t>Tier 1</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platform picks and upgrades the Dapr version, with a suffix such as </a:t>
            </a:r>
            <a:r>
              <a:rPr lang="en-US" sz="1400" dirty="0">
                <a:solidFill>
                  <a:srgbClr val="1B365D"/>
                </a:solidFill>
                <a:highlight>
                  <a:srgbClr val="F2F2F2"/>
                </a:highlight>
                <a:latin typeface="Consolas" pitchFamily="34" charset="0"/>
                <a:ea typeface="Consolas" pitchFamily="34" charset="-122"/>
                <a:cs typeface="Consolas" pitchFamily="34" charset="-120"/>
              </a:rPr>
              <a:t>-msft.1</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No actor or workflow SDK packages, and no Dapr for jobs or Container Apps Express</a:t>
            </a:r>
            <a:endParaRPr lang="en-US" sz="1450" dirty="0"/>
          </a:p>
        </p:txBody>
      </p:sp>
      <p:pic>
        <p:nvPicPr>
          <p:cNvPr id="5" name="Image 0" descr="preencoded.png"/>
          <p:cNvPicPr>
            <a:picLocks noChangeAspect="1"/>
          </p:cNvPicPr>
          <p:nvPr/>
        </p:nvPicPr>
        <p:blipFill>
          <a:blip r:embed="rId3"/>
          <a:stretch>
            <a:fillRect/>
          </a:stretch>
        </p:blipFill>
        <p:spPr>
          <a:xfrm>
            <a:off x="5766251" y="3114080"/>
            <a:ext cx="5770220" cy="2524522"/>
          </a:xfrm>
          <a:prstGeom prst="rect">
            <a:avLst/>
          </a:prstGeom>
        </p:spPr>
      </p:pic>
    </p:spTree>
    <p:extLst>
      <p:ext uri="{BB962C8B-B14F-4D97-AF65-F5344CB8AC3E}">
        <p14:creationId xmlns:p14="http://schemas.microsoft.com/office/powerpoint/2010/main" val="34492233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120"/>
              </a:rPr>
              <a:t>Choosing Container Apps or AKS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120"/>
              </a:rPr>
              <a:t>Four questions decide where a service runs</a:t>
            </a:r>
            <a:endParaRPr lang="en-US" sz="2950" dirty="0"/>
          </a:p>
        </p:txBody>
      </p:sp>
      <p:sp>
        <p:nvSpPr>
          <p:cNvPr id="4" name="Text 2"/>
          <p:cNvSpPr/>
          <p:nvPr/>
        </p:nvSpPr>
        <p:spPr>
          <a:xfrm>
            <a:off x="609599" y="2898563"/>
            <a:ext cx="4689144" cy="292953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AKS installs Dapr as the </a:t>
            </a:r>
            <a:r>
              <a:rPr lang="en-US" sz="1400" dirty="0">
                <a:solidFill>
                  <a:srgbClr val="1B365D"/>
                </a:solidFill>
                <a:highlight>
                  <a:srgbClr val="F2F2F2"/>
                </a:highlight>
                <a:latin typeface="Consolas" pitchFamily="34" charset="0"/>
                <a:ea typeface="Consolas" pitchFamily="34" charset="-122"/>
                <a:cs typeface="Consolas" pitchFamily="34" charset="-120"/>
              </a:rPr>
              <a:t>Microsoft.Dapr</a:t>
            </a:r>
            <a:r>
              <a:rPr lang="en-US" sz="1400" dirty="0">
                <a:solidFill>
                  <a:srgbClr val="1B365D"/>
                </a:solidFill>
                <a:latin typeface="Poppins" pitchFamily="34" charset="0"/>
                <a:ea typeface="Poppins" pitchFamily="34" charset="-122"/>
                <a:cs typeface="Poppins" pitchFamily="34" charset="-120"/>
              </a:rPr>
              <a:t> cluster extension</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extension supports the current and the previous Dapr version</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Pin a version with </a:t>
            </a:r>
            <a:r>
              <a:rPr lang="en-US" sz="1400" dirty="0">
                <a:solidFill>
                  <a:srgbClr val="1B365D"/>
                </a:solidFill>
                <a:highlight>
                  <a:srgbClr val="F2F2F2"/>
                </a:highlight>
                <a:latin typeface="Consolas" pitchFamily="34" charset="0"/>
                <a:ea typeface="Consolas" pitchFamily="34" charset="-122"/>
                <a:cs typeface="Consolas" pitchFamily="34" charset="-120"/>
              </a:rPr>
              <a:t>--version</a:t>
            </a:r>
            <a:r>
              <a:rPr lang="en-US" sz="1400" dirty="0">
                <a:solidFill>
                  <a:srgbClr val="1B365D"/>
                </a:solidFill>
                <a:latin typeface="Poppins" pitchFamily="34" charset="0"/>
                <a:ea typeface="Poppins" pitchFamily="34" charset="-122"/>
                <a:cs typeface="Poppins" pitchFamily="34" charset="-120"/>
              </a:rPr>
              <a:t> and </a:t>
            </a:r>
            <a:r>
              <a:rPr lang="en-US" sz="1400" dirty="0">
                <a:solidFill>
                  <a:srgbClr val="1B365D"/>
                </a:solidFill>
                <a:highlight>
                  <a:srgbClr val="F2F2F2"/>
                </a:highlight>
                <a:latin typeface="Consolas" pitchFamily="34" charset="0"/>
                <a:ea typeface="Consolas" pitchFamily="34" charset="-122"/>
                <a:cs typeface="Consolas" pitchFamily="34" charset="-120"/>
              </a:rPr>
              <a:t>--auto-upgrade-minor-version false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High availability and mTLS are on by default: three control-plane replicas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Container Apps for stateless Tier 1 services, AKS for actors and pinned versions</a:t>
            </a:r>
            <a:endParaRPr lang="en-US" sz="1450" dirty="0"/>
          </a:p>
        </p:txBody>
      </p:sp>
      <p:pic>
        <p:nvPicPr>
          <p:cNvPr id="5" name="Image 0" descr="preencoded.png"/>
          <p:cNvPicPr>
            <a:picLocks noChangeAspect="1"/>
          </p:cNvPicPr>
          <p:nvPr/>
        </p:nvPicPr>
        <p:blipFill>
          <a:blip r:embed="rId3"/>
          <a:stretch>
            <a:fillRect/>
          </a:stretch>
        </p:blipFill>
        <p:spPr>
          <a:xfrm>
            <a:off x="5766251" y="2517180"/>
            <a:ext cx="5770220" cy="3245743"/>
          </a:xfrm>
          <a:prstGeom prst="rect">
            <a:avLst/>
          </a:prstGeom>
        </p:spPr>
      </p:pic>
    </p:spTree>
    <p:extLst>
      <p:ext uri="{BB962C8B-B14F-4D97-AF65-F5344CB8AC3E}">
        <p14:creationId xmlns:p14="http://schemas.microsoft.com/office/powerpoint/2010/main" val="36094256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30240" y="3074131"/>
            <a:ext cx="4540660" cy="3440969"/>
          </a:xfrm>
          <a:prstGeom prst="rect">
            <a:avLst/>
          </a:prstGeom>
        </p:spPr>
      </p:pic>
      <p:sp>
        <p:nvSpPr>
          <p:cNvPr id="3" name="Text 0"/>
          <p:cNvSpPr/>
          <p:nvPr/>
        </p:nvSpPr>
        <p:spPr>
          <a:xfrm>
            <a:off x="609600" y="1278032"/>
            <a:ext cx="10607040" cy="490968"/>
          </a:xfrm>
          <a:prstGeom prst="rect">
            <a:avLst/>
          </a:prstGeom>
          <a:noFill/>
          <a:ln/>
        </p:spPr>
        <p:txBody>
          <a:bodyPr wrap="non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120"/>
              </a:rPr>
              <a:t>What the lab builds</a:t>
            </a:r>
            <a:endParaRPr lang="en-US" sz="3700" dirty="0"/>
          </a:p>
        </p:txBody>
      </p:sp>
      <p:sp>
        <p:nvSpPr>
          <p:cNvPr id="4" name="Text 1"/>
          <p:cNvSpPr/>
          <p:nvPr/>
        </p:nvSpPr>
        <p:spPr>
          <a:xfrm>
            <a:off x="609600" y="1921400"/>
            <a:ext cx="10607040" cy="946991"/>
          </a:xfrm>
          <a:prstGeom prst="rect">
            <a:avLst/>
          </a:prstGeom>
          <a:noFill/>
          <a:ln/>
        </p:spPr>
        <p:txBody>
          <a:bodyPr wrap="non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120"/>
              </a:rPr>
              <a:t>Scan, tracking, notification and routing flows on Dapr building blocks</a:t>
            </a:r>
            <a:endParaRPr lang="en-US" sz="2950" dirty="0"/>
          </a:p>
        </p:txBody>
      </p:sp>
      <p:sp>
        <p:nvSpPr>
          <p:cNvPr id="5" name="Text 2"/>
          <p:cNvSpPr/>
          <p:nvPr/>
        </p:nvSpPr>
        <p:spPr>
          <a:xfrm>
            <a:off x="609600" y="3096991"/>
            <a:ext cx="4824773" cy="294858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Sidecars with the Redis components </a:t>
            </a:r>
            <a:r>
              <a:rPr lang="en-US" sz="1400" dirty="0">
                <a:solidFill>
                  <a:srgbClr val="1B365D"/>
                </a:solidFill>
                <a:highlight>
                  <a:srgbClr val="F2F2F2"/>
                </a:highlight>
                <a:latin typeface="Consolas" pitchFamily="34" charset="0"/>
                <a:ea typeface="Consolas" pitchFamily="34" charset="-122"/>
                <a:cs typeface="Consolas" pitchFamily="34" charset="-120"/>
              </a:rPr>
              <a:t>pubsub</a:t>
            </a:r>
            <a:r>
              <a:rPr lang="en-US" sz="1400" dirty="0">
                <a:solidFill>
                  <a:srgbClr val="1B365D"/>
                </a:solidFill>
                <a:latin typeface="Poppins" pitchFamily="34" charset="0"/>
                <a:ea typeface="Poppins" pitchFamily="34" charset="-122"/>
                <a:cs typeface="Poppins" pitchFamily="34" charset="-120"/>
              </a:rPr>
              <a:t> and </a:t>
            </a:r>
            <a:r>
              <a:rPr lang="en-US" sz="1400" dirty="0">
                <a:solidFill>
                  <a:srgbClr val="1B365D"/>
                </a:solidFill>
                <a:highlight>
                  <a:srgbClr val="F2F2F2"/>
                </a:highlight>
                <a:latin typeface="Consolas" pitchFamily="34" charset="0"/>
                <a:ea typeface="Consolas" pitchFamily="34" charset="-122"/>
                <a:cs typeface="Consolas" pitchFamily="34" charset="-120"/>
              </a:rPr>
              <a:t>statestore</a:t>
            </a:r>
            <a:r>
              <a:rPr lang="en-US" sz="1400" dirty="0">
                <a:solidFill>
                  <a:srgbClr val="1B365D"/>
                </a:solidFill>
                <a:latin typeface="Poppins" pitchFamily="34" charset="0"/>
                <a:ea typeface="Poppins" pitchFamily="34" charset="-122"/>
                <a:cs typeface="Poppins" pitchFamily="34" charset="-120"/>
              </a:rPr>
              <a:t> (step 1)</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Scan events on </a:t>
            </a:r>
            <a:r>
              <a:rPr lang="en-US" sz="1400" dirty="0">
                <a:solidFill>
                  <a:srgbClr val="1B365D"/>
                </a:solidFill>
                <a:highlight>
                  <a:srgbClr val="F2F2F2"/>
                </a:highlight>
                <a:latin typeface="Consolas" pitchFamily="34" charset="0"/>
                <a:ea typeface="Consolas" pitchFamily="34" charset="-122"/>
                <a:cs typeface="Consolas" pitchFamily="34" charset="-120"/>
              </a:rPr>
              <a:t>parcel-events</a:t>
            </a:r>
            <a:r>
              <a:rPr lang="en-US" sz="1400" dirty="0">
                <a:solidFill>
                  <a:srgbClr val="1B365D"/>
                </a:solidFill>
                <a:latin typeface="Poppins" pitchFamily="34" charset="0"/>
                <a:ea typeface="Poppins" pitchFamily="34" charset="-122"/>
                <a:cs typeface="Poppins" pitchFamily="34" charset="-120"/>
              </a:rPr>
              <a:t>, with the tracking number as </a:t>
            </a:r>
            <a:r>
              <a:rPr lang="en-US" sz="1400" dirty="0">
                <a:solidFill>
                  <a:srgbClr val="1B365D"/>
                </a:solidFill>
                <a:highlight>
                  <a:srgbClr val="F2F2F2"/>
                </a:highlight>
                <a:latin typeface="Consolas" pitchFamily="34" charset="0"/>
                <a:ea typeface="Consolas" pitchFamily="34" charset="-122"/>
                <a:cs typeface="Consolas" pitchFamily="34" charset="-120"/>
              </a:rPr>
              <a:t>SessionId</a:t>
            </a:r>
            <a:r>
              <a:rPr lang="en-US" sz="1400" dirty="0">
                <a:solidFill>
                  <a:srgbClr val="1B365D"/>
                </a:solidFill>
                <a:latin typeface="Poppins" pitchFamily="34" charset="0"/>
                <a:ea typeface="Poppins" pitchFamily="34" charset="-122"/>
                <a:cs typeface="Poppins" pitchFamily="34" charset="-120"/>
              </a:rPr>
              <a:t> (step 2)</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routing-service: an assignment with an ETag check, called by app ID (steps 3 and 4)</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One resiliency spec and one </a:t>
            </a:r>
            <a:r>
              <a:rPr lang="en-US" sz="1400" dirty="0">
                <a:solidFill>
                  <a:srgbClr val="1B365D"/>
                </a:solidFill>
                <a:highlight>
                  <a:srgbClr val="F2F2F2"/>
                </a:highlight>
                <a:latin typeface="Consolas" pitchFamily="34" charset="0"/>
                <a:ea typeface="Consolas" pitchFamily="34" charset="-122"/>
                <a:cs typeface="Consolas" pitchFamily="34" charset="-120"/>
              </a:rPr>
              <a:t>VanActor</a:t>
            </a:r>
            <a:r>
              <a:rPr lang="en-US" sz="1400" dirty="0">
                <a:solidFill>
                  <a:srgbClr val="1B365D"/>
                </a:solidFill>
                <a:latin typeface="Poppins" pitchFamily="34" charset="0"/>
                <a:ea typeface="Poppins" pitchFamily="34" charset="-122"/>
                <a:cs typeface="Poppins" pitchFamily="34" charset="-120"/>
              </a:rPr>
              <a:t> per van (steps 5 and 6)</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same component names on </a:t>
            </a:r>
            <a:r>
              <a:rPr lang="en-US" sz="1400" dirty="0">
                <a:solidFill>
                  <a:srgbClr val="1B365D"/>
                </a:solidFill>
                <a:highlight>
                  <a:srgbClr val="F2F2F2"/>
                </a:highlight>
                <a:latin typeface="Consolas" pitchFamily="34" charset="0"/>
                <a:ea typeface="Consolas" pitchFamily="34" charset="-122"/>
                <a:cs typeface="Consolas" pitchFamily="34" charset="-120"/>
              </a:rPr>
              <a:t>cae-azn-labs-07</a:t>
            </a:r>
            <a:r>
              <a:rPr lang="en-US" sz="1400" dirty="0">
                <a:solidFill>
                  <a:srgbClr val="1B365D"/>
                </a:solidFill>
                <a:latin typeface="Poppins" pitchFamily="34" charset="0"/>
                <a:ea typeface="Poppins" pitchFamily="34" charset="-122"/>
                <a:cs typeface="Poppins" pitchFamily="34" charset="-120"/>
              </a:rPr>
              <a:t>, backed by Service Bus and Cosmos DB (step 7)</a:t>
            </a:r>
            <a:endParaRPr lang="en-US" sz="1450" dirty="0"/>
          </a:p>
        </p:txBody>
      </p:sp>
    </p:spTree>
    <p:extLst>
      <p:ext uri="{BB962C8B-B14F-4D97-AF65-F5344CB8AC3E}">
        <p14:creationId xmlns:p14="http://schemas.microsoft.com/office/powerpoint/2010/main" val="2304431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48" y="0"/>
            <a:ext cx="6095848" cy="6858000"/>
          </a:xfrm>
          <a:prstGeom prst="rect">
            <a:avLst/>
          </a:prstGeom>
        </p:spPr>
      </p:pic>
      <p:sp>
        <p:nvSpPr>
          <p:cNvPr id="3" name="Text 0"/>
          <p:cNvSpPr/>
          <p:nvPr/>
        </p:nvSpPr>
        <p:spPr>
          <a:xfrm>
            <a:off x="609600" y="1438076"/>
            <a:ext cx="4824773"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120"/>
              </a:rPr>
              <a:t>Takeaways</a:t>
            </a:r>
            <a:endParaRPr lang="en-US" sz="3700" dirty="0"/>
          </a:p>
        </p:txBody>
      </p:sp>
      <p:sp>
        <p:nvSpPr>
          <p:cNvPr id="4" name="Text 1"/>
          <p:cNvSpPr/>
          <p:nvPr/>
        </p:nvSpPr>
        <p:spPr>
          <a:xfrm>
            <a:off x="609600" y="2081444"/>
            <a:ext cx="4824773" cy="626903"/>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120"/>
              </a:rPr>
              <a:t>What to carry into durable execution</a:t>
            </a:r>
            <a:endParaRPr lang="en-US" sz="2950" dirty="0"/>
          </a:p>
        </p:txBody>
      </p:sp>
      <p:sp>
        <p:nvSpPr>
          <p:cNvPr id="5" name="Text 2"/>
          <p:cNvSpPr/>
          <p:nvPr/>
        </p:nvSpPr>
        <p:spPr>
          <a:xfrm>
            <a:off x="609600" y="2936947"/>
            <a:ext cx="4824773" cy="291683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code names a component, and the component file picks the Azure service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Call services by app ID and leave the retries to the resiliency spec</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Write once-only transitions with an ETag and first-write-wins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Give each van a </a:t>
            </a:r>
            <a:r>
              <a:rPr lang="en-US" sz="1400" dirty="0">
                <a:solidFill>
                  <a:srgbClr val="1B365D"/>
                </a:solidFill>
                <a:highlight>
                  <a:srgbClr val="F2F2F2"/>
                </a:highlight>
                <a:latin typeface="Consolas" pitchFamily="34" charset="0"/>
                <a:ea typeface="Consolas" pitchFamily="34" charset="-122"/>
                <a:cs typeface="Consolas" pitchFamily="34" charset="-120"/>
              </a:rPr>
              <a:t>VanActor</a:t>
            </a:r>
            <a:r>
              <a:rPr lang="en-US" sz="1400" dirty="0">
                <a:solidFill>
                  <a:srgbClr val="1B365D"/>
                </a:solidFill>
                <a:latin typeface="Poppins" pitchFamily="34" charset="0"/>
                <a:ea typeface="Poppins" pitchFamily="34" charset="-122"/>
                <a:cs typeface="Poppins" pitchFamily="34" charset="-120"/>
              </a:rPr>
              <a:t>, hosted on the AppHost or AKS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Stateless Tier 1 services go to Container Apps, actors and pinned versions to AKS</a:t>
            </a:r>
            <a:endParaRPr lang="en-US" sz="1450" dirty="0"/>
          </a:p>
        </p:txBody>
      </p:sp>
    </p:spTree>
    <p:extLst>
      <p:ext uri="{BB962C8B-B14F-4D97-AF65-F5344CB8AC3E}">
        <p14:creationId xmlns:p14="http://schemas.microsoft.com/office/powerpoint/2010/main" val="22457840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2134</Words>
  <Application>Microsoft Office PowerPoint</Application>
  <PresentationFormat>Widescreen</PresentationFormat>
  <Paragraphs>246</Paragraphs>
  <Slides>30</Slides>
  <Notes>21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30</vt:i4>
      </vt:variant>
    </vt:vector>
  </HeadingPairs>
  <TitlesOfParts>
    <vt:vector size="42" baseType="lpstr">
      <vt:lpstr>Poppins Bold</vt:lpstr>
      <vt:lpstr>Consolas</vt:lpstr>
      <vt:lpstr>IBM Plex Sans</vt:lpstr>
      <vt:lpstr>Montserrat</vt:lpstr>
      <vt:lpstr>Montserrat Bold</vt:lpstr>
      <vt:lpstr>Wingdings</vt:lpstr>
      <vt:lpstr>Aptos</vt:lpstr>
      <vt:lpstr>Arial</vt:lpstr>
      <vt:lpstr>Poppins</vt:lpstr>
      <vt:lpstr>IBM Plex Sans Light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Alexander Kastil</cp:lastModifiedBy>
  <cp:revision>4</cp:revision>
  <dcterms:created xsi:type="dcterms:W3CDTF">2026-10-19T00:35:34Z</dcterms:created>
  <dcterms:modified xsi:type="dcterms:W3CDTF">2026-10-19T00:41:09Z</dcterms:modified>
</cp:coreProperties>
</file>