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502" r:id="rId2"/>
    <p:sldId id="503" r:id="rId3"/>
    <p:sldId id="504" r:id="rId4"/>
    <p:sldId id="505" r:id="rId5"/>
    <p:sldId id="256" r:id="rId6"/>
    <p:sldId id="257" r:id="rId7"/>
    <p:sldId id="506" r:id="rId8"/>
    <p:sldId id="258" r:id="rId9"/>
    <p:sldId id="259" r:id="rId10"/>
    <p:sldId id="260" r:id="rId11"/>
    <p:sldId id="507" r:id="rId12"/>
    <p:sldId id="261" r:id="rId13"/>
    <p:sldId id="262" r:id="rId14"/>
    <p:sldId id="508" r:id="rId15"/>
    <p:sldId id="263" r:id="rId16"/>
    <p:sldId id="264" r:id="rId17"/>
    <p:sldId id="509" r:id="rId18"/>
    <p:sldId id="265" r:id="rId19"/>
    <p:sldId id="266" r:id="rId20"/>
    <p:sldId id="510" r:id="rId21"/>
    <p:sldId id="267" r:id="rId22"/>
    <p:sldId id="511" r:id="rId23"/>
    <p:sldId id="268" r:id="rId24"/>
    <p:sldId id="269" r:id="rId25"/>
    <p:sldId id="270" r:id="rId26"/>
    <p:sldId id="271" r:id="rId27"/>
  </p:sldIdLst>
  <p:sldSz cx="12192000" cy="6858000"/>
  <p:notesSz cx="6858000" cy="12192000"/>
  <p:embeddedFontLst>
    <p:embeddedFont>
      <p:font typeface="Consolas" panose="020B0609020204030204" pitchFamily="49" charset="0"/>
      <p:regular r:id="rId29"/>
      <p:bold r:id="rId30"/>
      <p:italic r:id="rId31"/>
      <p:boldItalic r:id="rId32"/>
    </p:embeddedFont>
    <p:embeddedFont>
      <p:font typeface="IBM Plex Sans" panose="020B0503050203000203" pitchFamily="34" charset="0"/>
      <p:regular r:id="rId33"/>
    </p:embeddedFont>
    <p:embeddedFont>
      <p:font typeface="IBM Plex Sans Light" panose="020B0403050203000203" pitchFamily="34" charset="0"/>
      <p:regular r:id="rId34"/>
    </p:embeddedFont>
    <p:embeddedFont>
      <p:font typeface="Montserrat" panose="00000500000000000000" pitchFamily="2" charset="0"/>
      <p:regular r:id="rId35"/>
      <p:bold r:id="rId36"/>
      <p:italic r:id="rId37"/>
      <p:boldItalic r:id="rId38"/>
    </p:embeddedFont>
    <p:embeddedFont>
      <p:font typeface="Montserrat Bold" panose="00000800000000000000" pitchFamily="2" charset="0"/>
      <p:bold r:id="rId39"/>
    </p:embeddedFont>
    <p:embeddedFont>
      <p:font typeface="Poppins" panose="00000500000000000000" pitchFamily="2" charset="0"/>
      <p:regular r:id="rId40"/>
    </p:embeddedFont>
    <p:embeddedFont>
      <p:font typeface="Poppins Bold" panose="00000800000000000000" charset="0"/>
      <p:regular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font" Target="fonts/font7.fntdata"/><Relationship Id="rId36" Type="http://schemas.openxmlformats.org/officeDocument/2006/relationships/font" Target="fonts/font8.fntdata"/><Relationship Id="rId37" Type="http://schemas.openxmlformats.org/officeDocument/2006/relationships/font" Target="fonts/font9.fntdata"/><Relationship Id="rId38" Type="http://schemas.openxmlformats.org/officeDocument/2006/relationships/font" Target="fonts/font10.fntdata"/><Relationship Id="rId39" Type="http://schemas.openxmlformats.org/officeDocument/2006/relationships/font" Target="fonts/font11.fntdata"/><Relationship Id="rId40" Type="http://schemas.openxmlformats.org/officeDocument/2006/relationships/font" Target="fonts/font12.fntdata"/><Relationship Id="rId41" Type="http://schemas.openxmlformats.org/officeDocument/2006/relationships/font" Target="fonts/font13.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137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4405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42961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opening slide sets out the three themes of the module. Module 4 taught the queues that carry commands between services, and this module adds the broadcast side.</a:t>
            </a:r>
          </a:p>
          <a:p/>
          <a:p>
            <a:r>
              <a:t>Discrete events: the label-service publishes `ParcelDelivered` as a CloudEvent to Event Grid, and partners and functions react to it. Filters, retries, dead-lettering and namespace pull delivery decide how each partner receives it.</a:t>
            </a:r>
          </a:p>
          <a:p/>
          <a:p>
            <a:r>
              <a:t>Telemetry: every van reports its GPS position as a steady stream into Event Hubs. Partition keys, consumer groups and checkpoints keep the results correct, and the Kafka endpoint lets telematics vendors keep their Kafka clients.</a:t>
            </a:r>
          </a:p>
          <a:p/>
          <a:p>
            <a:r>
              <a:t>Push to browsers: Azure SignalR Service pushes each position to the ops console, so a dispatcher watches vans move across the map without a page reload.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six topics once, following on from the three themes of the title slide. Every topic uses the same Contoso Logistics events, so the pieces fit together by the end.</a:t>
            </a:r>
          </a:p>
          <a:p/>
          <a:p>
            <a:r>
              <a:t>Custom topics: the label-service publishes `ParcelDelivered` as a CloudEvent, and Event Grid validates each partner endpoint before it sends the first event.</a:t>
            </a:r>
          </a:p>
          <a:p/>
          <a:p>
            <a:r>
              <a:t>Filters, retries and dead-letter: filters decide which events reach a subscription, the retry policy decides how long Event Grid keeps trying, and dead-lettering keeps the events it gives up on.</a:t>
            </a:r>
          </a:p>
          <a:p/>
          <a:p>
            <a:r>
              <a:t>Pull delivery: partners that can't open an inbound port pull from a namespace topic, with queue-like semantics and explicit acknowledgment.</a:t>
            </a:r>
          </a:p>
          <a:p/>
          <a:p>
            <a:r>
              <a:t>Partitions and Kafka: van positions keyed by van ID stay in order in Event Hubs, consumers track their progress with checkpoints, and telematics vendors produce over the Kafka endpoint.</a:t>
            </a:r>
          </a:p>
          <a:p/>
          <a:p>
            <a:r>
              <a:t>SignalR: the telemetry-ingest service pushes each position through Azure SignalR Service to the live map in the ops console.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Contoso Logistics needs to tell partners when a parcel reaches its destination, and today no partner can see that moment. The diagram shows the lab's version: the label-service publishes `ParcelDelivered` to a custom topic, and a subscription delivers it to the partner's storage queue.</a:t>
            </a:r>
          </a:p>
          <a:p/>
          <a:p>
            <a:r>
              <a:t>Custom and system topics: your application publishes to a custom topic, which has an endpoint, access keys and a schema you choose. Only Azure services publish to a system topic, so it has no endpoint or keys.</a:t>
            </a:r>
          </a:p>
          <a:p/>
          <a:p>
            <a:r>
              <a:t>EventGridPublisherClient: `SendEventAsync` sends one event and `SendEventsAsync` a batch, both with `CloudEvent` objects when the topic uses the CloudEvents schema. The constructor takes the source, the event type and the data, which the SDK serializes as JSON.</a:t>
            </a:r>
          </a:p>
          <a:p/>
          <a:p>
            <a:r>
              <a:t>Entra ID instead of keys: the label-service authenticates with `DefaultAzureCredential`, and its identity holds the EventGrid Data Sender role on the topic. An access key works for a quick test, but a key doesn't tell you which service sent an event.</a:t>
            </a:r>
          </a:p>
          <a:p/>
          <a:p>
            <a:r>
              <a:t>Handlers: partners with their own HTTPS endpoint use a webhook, and internal consumers use the Azure Functions Event Grid trigger. A Service Bus queue fits a partner that must keep messages while it is slow or offline.</a:t>
            </a:r>
          </a:p>
          <a:p/>
          <a:p>
            <a:r>
              <a:t>A stable contract: event type names are the contract between the publisher and every subscriber, so the label-service keeps them stable.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delivery app uploads each proof-of-delivery photo to Blob Storage, and that upload is the moment the parcel counts as delivered. This slide follows one photo until a partner receives `ParcelDelivered`.</a:t>
            </a:r>
          </a:p>
          <a:p/>
          <a:p>
            <a:r>
              <a:t>BlobCreated: the storage account publishes `Microsoft.Storage.BlobCreated` when a block blob is completely committed, which means the upload has finished.</a:t>
            </a:r>
          </a:p>
          <a:p/>
          <a:p>
            <a:r>
              <a:t>System topic: it represents the blob events of one storage account and turns them into Event Grid events that subscriptions can route. Event Grid recommends creating the system topic first, so it stays in place after its last subscription is deleted.</a:t>
            </a:r>
          </a:p>
          <a:p/>
          <a:p>
            <a:r>
              <a:t>Subject filter: the event carries the blob path in its subject, and `subjectBeginsWith` on the proof-of-delivery path keeps other blobs away from the handler.</a:t>
            </a:r>
          </a:p>
          <a:p/>
          <a:p>
            <a:r>
              <a:t>The worker: it reads each event from the `pod-events` storage queue, takes the tracking number from the file name without downloading the photo, and publishes `ParcelDelivered` to the custom topic. In the lab it deletes the queue message only after the publish succeeds, so a failed publish shows the message again after one minute.</a:t>
            </a:r>
          </a:p>
          <a:p/>
          <a:p>
            <a:r>
              <a:t>General purpose v2: a general purpose v1 account can't publish to Event Grid, so create the storage account as v2.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Event Grid sends the first event to a webhook, it checks that you own the endpoint, which stops a third party from flooding it. The handshake depends on the schema of the subscription.</a:t>
            </a:r>
          </a:p>
          <a:p/>
          <a:p>
            <a:r>
              <a:t>CloudEvents schema: Event Grid sends an HTTP OPTIONS request with a `WebHook-Request-Origin` header, and the endpoint agrees by returning `WebHook-Allowed-Origin` with the same origin or an asterisk. The label-service publishes CloudEvents, so every partner endpoint in this module must answer OPTIONS.</a:t>
            </a:r>
          </a:p>
          <a:p/>
          <a:p>
            <a:r>
              <a:t>Event Grid schema: Event Grid sends a `SubscriptionValidationEvent` with the `aeg-event-type` header set to `SubscriptionValidation`. The endpoint returns HTTP 200 with the validation code in the body within 30 seconds.</a:t>
            </a:r>
          </a:p>
          <a:p/>
          <a:p>
            <a:r>
              <a:t>The asynchronous path: if the endpoint can't answer synchronously, the event data carries a `validationUrl` that you open with a GET request within 10 minutes.</a:t>
            </a:r>
          </a:p>
          <a:p/>
          <a:p>
            <a:r>
              <a:t>Automatic handshakes: Azure Functions with the Event Grid trigger and Azure Logic Apps run the handshake for you, which is one reason internal consumers usually use the trigger.</a:t>
            </a:r>
          </a:p>
          <a:p/>
          <a:p>
            <a:r>
              <a:t>Common failures: HTTP 202 doesn't count as a valid answer, and self-signed certificates aren't supported for 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partner's webhook goes down for an hour on the busiest day of the year, and `ParcelDelivered` must not disappear without a trace. The timeline shows the attempts during that outage and where each time to live cuts them off.</a:t>
            </a:r>
          </a:p>
          <a:p/>
          <a:p>
            <a:r>
              <a:t>Filters: they run before delivery, so a subscription receives only the events it asks for. Advanced filters compare a field such as `data.region` with values, ignore case, and can't look inside an array of objects.</a:t>
            </a:r>
          </a:p>
          <a:p/>
          <a:p>
            <a:r>
              <a:t>Retry policy: maximum attempts default to 30 and the event time to live to 1440 minutes, which is 24 hours. Set both on the subscription with the Azure CLI or on the Additional features tab of the portal.</a:t>
            </a:r>
          </a:p>
          <a:p/>
          <a:p>
            <a:r>
              <a:t>First limit wins: the time to live is checked only at the next scheduled attempt, so with 30 minutes only six attempts fit and a maximum of 10 attempts has no effect.</a:t>
            </a:r>
          </a:p>
          <a:p/>
          <a:p>
            <a:r>
              <a:t>The schedule: Event Grid waits 30 seconds for a response, then retries after 10 seconds, 30 seconds, 1 minute and onward up to every 12 hours. It can skip retries for an endpoint that stays unhealthy, so the schedule is best effort.</a:t>
            </a:r>
          </a:p>
          <a:p/>
          <a:p>
            <a:r>
              <a:t>Order and duplicates: Event Grid doesn't guarantee order, and a retry can produce a duplicate, so every partner handler must tolerate out-of-order events and repeats.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Retries end somewhere, and this slide shows where an event lands: delivered, dead-lettered or dropped. The flow follows one event from the delivery attempt to its outcome.</a:t>
            </a:r>
          </a:p>
          <a:p/>
          <a:p>
            <a:r>
              <a:t>A container to switch it on: dead-lettering is off by default, so create a blob container and give the subscription its full resource path. With a managed identity, grant that identity a write role on the storage account.</a:t>
            </a:r>
          </a:p>
          <a:p/>
          <a:p>
            <a:r>
              <a:t>Errors without retry: Event Grid treats only HTTP 200 to 204 as success, and these status codes mean that delivery will never succeed. Event Grid dead-letters such an event at once, or drops it when no dead-letter location exists.</a:t>
            </a:r>
          </a:p>
          <a:p/>
          <a:p>
            <a:r>
              <a:t>Timing: the write comes five minutes after the last attempt, and the event is dropped if the container stays unavailable for four hours. Other codes retry after their own minimum waits, such as two minutes for 408 and 30 seconds for 503.</a:t>
            </a:r>
          </a:p>
          <a:p/>
          <a:p>
            <a:r>
              <a:t>What the blob holds: an array of events, each with `deadLetterReason`, usually `MaxDeliveryAttemptsExceeded`, plus `deliveryAttempts` and `lastDeliveryOutcome`. Blob names contain the subscription name in upper case.</a:t>
            </a:r>
          </a:p>
          <a:p/>
          <a:p>
            <a:r>
              <a:t>Probation: when deliveries keep failing, Event Grid puts the subscription on probation, and events can be dead-lettered or dropped without an attempt. Check the dead-letter container first when a partner reports missing events.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every partner can open an inbound HTTPS port: a regional carrier might run its own scheduler, or its security team might refuse webhooks. The diagram puts push into a storage queue next to pull from a namespace.</a:t>
            </a:r>
          </a:p>
          <a:p/>
          <a:p>
            <a:r>
              <a:t>Namespaces: a namespace is a container for topics, clients, client groups, topic spaces and permission bindings, and a namespace topic receives CloudEvents 1.0 events. Each event subscription selects `queue` for pull or `push` for delivery to a destination.</a:t>
            </a:r>
          </a:p>
          <a:p/>
          <a:p>
            <a:r>
              <a:t>Pull: the consumer controls the rate and timing, and calls `ReceiveAsync` and then `AcknowledgeAsync` from its own network. The `Azure.Messaging.EventGrid.Namespaces` package holds `EventGridSenderClient` for publishing and `EventGridReceiverClient` for pulling.</a:t>
            </a:r>
          </a:p>
          <a:p/>
          <a:p>
            <a:r>
              <a:t>One subscription per partner: the label-service publishes once, every partner pulls at its own pace, and a slow partner delays only its own subscription. Entra ID roles give each partner an identity that you can revoke on its own.</a:t>
            </a:r>
          </a:p>
          <a:p/>
          <a:p>
            <a:r>
              <a:t>Limits: a namespace topic keeps events for at most 7 days, accepts up to 500 subscriptions and takes events of up to 1 MB. Ingress and egress limits are set per TU, so measure the expected throughput before you size the partner traffic.</a:t>
            </a:r>
          </a:p>
          <a:p/>
          <a:p>
            <a:r>
              <a:t>Push to Event Hubs: use it when the analytics team needs the same `ParcelDelivered` stream in an event hub, for example to archive it with Capture. The namespace also includes an MQTT broker, which this module only points to for later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received event carries a lock token, which identifies the event and controls its state. The five operations of pull delivery all work on those tokens.</a:t>
            </a:r>
          </a:p>
          <a:p/>
          <a:p>
            <a:r>
              <a:t>Receive: one call reads up to 100 events and waits 60 seconds by default, within a range of 10 to 120 seconds. Each `ReceiveDetails` item holds the CloudEvent in `Event` and the lock token in `BrokerProperties`.</a:t>
            </a:r>
          </a:p>
          <a:p/>
          <a:p>
            <a:r>
              <a:t>Acknowledge: it deletes the event from the subscription, so no consumer receives it again. Acknowledgment applies only to the subscription that received the event, and other subscriptions keep their own copy.</a:t>
            </a:r>
          </a:p>
          <a:p/>
          <a:p>
            <a:r>
              <a:t>Release: the sample releases events it can't process yet with `ReleaseDelay.OneMinute`. A release delay must be 0, 10, 60, 600 or 3600 seconds.</a:t>
            </a:r>
          </a:p>
          <a:p/>
          <a:p>
            <a:r>
              <a:t>Reject: the sample rejects events without a parcel ID, which dead-letters them when a dead-letter destination exists and drops them otherwise.</a:t>
            </a:r>
          </a:p>
          <a:p/>
          <a:p>
            <a:r>
              <a:t>Renew lock: a lock can be renewed within one hour of the first receive, and each renewal can extend it again. The partner's receive loop stops only after it has acknowledged, released or rejected every lock token it holds.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79803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further consumer such as a reporting job could need every position of one van in order, while the ops console needs the latest position of every van. The keys that producers set and the consumer groups that read decide whether both stay correct.</a:t>
            </a:r>
          </a:p>
          <a:p/>
          <a:p>
            <a:r>
              <a:t>Ordered logs: an event hub splits its stream into partitions, and Event Hubs guarantees order only within one partition. The design question is which events must stay in order together.</a:t>
            </a:r>
          </a:p>
          <a:p/>
          <a:p>
            <a:r>
              <a:t>Partition key: the producer sets the key and Event Hubs hashes it to choose the partition, and `CreateBatchOptions` carries one key for a whole batch. With the van ID as key, every position of `van-07` lands in one partition in arrival order.</a:t>
            </a:r>
          </a:p>
          <a:p/>
          <a:p>
            <a:r>
              <a:t>Without a key: events without a key go to partitions in round-robin order. Sending to a partition ID ties the producer to that partition and lowers availability, so most designs use keys.</a:t>
            </a:r>
          </a:p>
          <a:p/>
          <a:p>
            <a:r>
              <a:t>Consumer groups: each group is a separate view of the whole event hub, so `ops-console` and an example `reporting` group both read every position. Each group keeps its own cursor in every partition.</a:t>
            </a:r>
          </a:p>
          <a:p/>
          <a:p>
            <a:r>
              <a:t>One reader each: Event Hubs allows up to five concurrent readers per partition in a group, but two active readers in one group process the same events twice. Give each consuming service its own consumer group and its own checkpoint container.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732945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ops console reads van positions with the `EventProcessorClient`, and its checkpoint store decides where reading resumes. The diagram shows instance B crashing and instance A taking over its partitions.</a:t>
            </a:r>
          </a:p>
          <a:p/>
          <a:p>
            <a:r>
              <a:t>Processor and checkpoint store: the processor writes ownership and checkpoint records to a blob container that must exist before it starts, so the lab calls `CreateIfNotExistsAsync` first. Register the error handler, and call `StopProcessingAsync` before the process exits so other instances can take the partitions over promptly.</a:t>
            </a:r>
          </a:p>
          <a:p/>
          <a:p>
            <a:r>
              <a:t>Load balancing: each instance writes an ownership record and claims partitions until the load is balanced, and at most one processor reads a partition at any moment. The partition count caps the parallel readers in a group, so an instance beyond it stays idle.</a:t>
            </a:r>
          </a:p>
          <a:p/>
          <a:p>
            <a:r>
              <a:t>Takeover: a crashed instance's records stop changing, and the others see the old last-modified time and take over from the last checkpoint. In the diagram, event 8 of partition 2 is processed a second time.</a:t>
            </a:r>
          </a:p>
          <a:p/>
          <a:p>
            <a:r>
              <a:t>At least once: make the handler idempotent, for example by storing each event ID and skipping IDs it has already processed. A checkpoint after every event costs a blob write per event, while fewer checkpoints cost less and replay a few more events after a crash.</a:t>
            </a:r>
          </a:p>
          <a:p/>
          <a:p>
            <a:r>
              <a:t>Capture and retention: Capture writes the stream to Blob Storage or Data Lake Storage in Avro format, and only for events that arrive after you enable it. Standard keeps events for up to 7 days, Premium and Dedicated for up to 90 days.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340848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Several Contoso Logistics telematics vendors already publish to Kafka, and telemetry-ingest has to accept those streams without a rewrite. The diagram shows the lab's van simulator producing keyed positions into the four partitions of `van-positions`.</a:t>
            </a:r>
          </a:p>
          <a:p/>
          <a:p>
            <a:r>
              <a:t>Endpoint and mapping: the namespace takes the place of the cluster, a Kafka topic maps to an event hub, and partitions and consumer groups keep their Kafka meaning. Event Hubs serves Kafka next to AMQP and HTTPS, so a Kafka producer and an AMQP consumer can share one event hub.</a:t>
            </a:r>
          </a:p>
          <a:p/>
          <a:p>
            <a:r>
              <a:t>Tiers: Basic doesn't support Kafka, and a TopicAuthorizationException on a Basic namespace is one of the first things to check. Learn recommends Premium or Dedicated for full Kafka protocol compatibility.</a:t>
            </a:r>
          </a:p>
          <a:p/>
          <a:p>
            <a:r>
              <a:t>Authentication: PLAIN sends `$ConnectionString` as the user name and the connection string as the password, OAUTHBEARER sends an Entra ID token, and both use `SASL_SSL`. Prefer OAUTHBEARER in production; the lab's emulator listens on port 9092 with `SASL_PLAINTEXT` and no TLS.</a:t>
            </a:r>
          </a:p>
          <a:p/>
          <a:p>
            <a:r>
              <a:t>Keyed producer: Confluent.Kafka takes the librdkafka keys as a dictionary, and the message key `VanId` decides the partition. The Kafka topic name in `ProduceAsync` is the event hub name.</a:t>
            </a:r>
          </a:p>
          <a:p/>
          <a:p>
            <a:r>
              <a:t>Compression and preview: Event Hubs accepts only gzip on Kafka producers, so avoid snappy, lz4 and zstd. Learn pages disagree on the status of Kafka Streams and transactions, so treat both as preview until the documentation agrees.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04373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browser can't hold a stable connection to every backend service, so van positions pass through a managed push service on their way to the map. The service mode decides who owns the client connections, and Learn advises against Classic mode except as a last resort.</a:t>
            </a:r>
          </a:p>
          <a:p/>
          <a:p>
            <a:r>
              <a:t>Default mode: the telemetry-ingest ASP.NET Core service hosts `VanPositionHub`, and the service proxies the clients to it. `VanPositionProcessor` sends each position with `Clients.All` through `IHubContext&lt;VanPositionHub&gt;`.</a:t>
            </a:r>
          </a:p>
          <a:p/>
          <a:p>
            <a:r>
              <a:t>AddAzureSignalR: add the `Microsoft.Azure.SignalR` package and call it after `AddSignalR`, with the connection string in configuration rather than source code. Learn recommends Azure Key Vault with Entra ID authorization for production.</a:t>
            </a:r>
          </a:p>
          <a:p/>
          <a:p>
            <a:r>
              <a:t>Serverless mode: no hub server exists, a `negotiate` function returns the endpoint and an access token, and `SignalROutput` sends messages from other functions. Enable CORS when the ops console calls the function app from a browser, and protect the negotiate endpoint in production.</a:t>
            </a:r>
          </a:p>
          <a:p/>
          <a:p>
            <a:r>
              <a:t>The client: the ops console uses `@microsoft/signalr` and registers its handlers before it starts the connection. `withAutomaticReconnect` stops after four failed attempts, and the reconnecting state can show a banner that the map may be stale.</a:t>
            </a:r>
          </a:p>
          <a:p/>
          <a:p>
            <a:r>
              <a:t>Web PubSub: choose it for your own WebSocket protocol, publish and subscribe over WebSockets, or a lightweight server that sends without a backend. It doesn't replace SignalR, so the ops console keeps SignalR for the browser.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382739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lab ties the module together: at the start the ops console shows no vans, and no partner learns when a parcel is delivered. The diagram marks each piece with the step that adds it.</a:t>
            </a:r>
          </a:p>
          <a:p/>
          <a:p>
            <a:r>
              <a:t>Starting point: the lab begins from the lab 4 solution in `labs/05-event-grid-hubs/contoso-logistics/`, worked with an AI coding agent that reads `AGENTS.md` for the class stack.</a:t>
            </a:r>
          </a:p>
          <a:p/>
          <a:p>
            <a:r>
              <a:t>Step 1: `VanSimulator` sends one `VanPositionReported` per van every second to `van-positions`, over the Kafka endpoint of the Event Hubs emulator and keyed by `VanId`.</a:t>
            </a:r>
          </a:p>
          <a:p/>
          <a:p>
            <a:r>
              <a:t>Steps 2 and 3: `telemetry-ingest` reads through the `ops-console` consumer group, checkpoints to Azurite and pushes to a map panel that draws one dot per van. A configuration value then switches the hub to Azure SignalR Service in Default mode, and the hub route stays the same.</a:t>
            </a:r>
          </a:p>
          <a:p/>
          <a:p>
            <a:r>
              <a:t>Steps 4 and 5: `ParcelDeliveredPublisher` sends `ParcelDelivered` as a CloudEvent to the custom topic, and the `partner-delivered` subscription puts it in the partner's queue. A background worker then turns a photo in `proof-of-delivery` into that event without a manual publish.</a:t>
            </a:r>
          </a:p>
          <a:p/>
          <a:p>
            <a:r>
              <a:t>Setup: Docker Desktop must run for steps 1 and 2, and `provision.azcli` creates every Azure resource for steps 3 to 5 in `rg-azn-labs`. Keep that resource group afterwards, because the next lab deploys into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572533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2 of the lab puts the checkpoint trade-off from the partitions topic into code. The processor must resume where it stopped, and the map must show each position as it arrives.</a:t>
            </a:r>
          </a:p>
          <a:p/>
          <a:p>
            <a:r>
              <a:t>The processor: an `EventProcessorClient` on the `ops-console` consumer group of `van-positions`, with a `BlobContainerClient` for the `ops-console` container as its checkpoint store.</a:t>
            </a:r>
          </a:p>
          <a:p/>
          <a:p>
            <a:r>
              <a:t>Push, then checkpoint: each `VanPositionReported` goes to `VanPositionHub` at `/hubs/van-positions` with `SendAsync("vanPositionReported", ...)`, and only then does the processor call `UpdateCheckpointAsync`. The map in `van-map.ts` listens for `vanPositionReported` through a `HubConnectionBuilder`.</a:t>
            </a:r>
          </a:p>
          <a:p/>
          <a:p>
            <a:r>
              <a:t>Azurite: the lab runs the storage account as the Azurite emulator, and the processor uses the connection strings that Aspire injects.</a:t>
            </a:r>
          </a:p>
          <a:p/>
          <a:p>
            <a:r>
              <a:t>Replays: a restart reads from the last stored checkpoint, so a position pushed just before the stop can arrive twice, and none is skipped. The research prompt asks the agent to weigh one blob write per position against those replays, and to push back on any claim of exactly-once delivery.</a:t>
            </a:r>
          </a:p>
          <a:p/>
          <a:p>
            <a:r>
              <a:t>Expected outcome: stop `telemetry-ingest` in the Aspire dashboard and start it again, and the dots keep moving with no gap in any van's sequence numbers.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614427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decisions this module made for Contoso Logistics. Each one is a setting or a line of code you can point to in the lab.</a:t>
            </a:r>
          </a:p>
          <a:p/>
          <a:p>
            <a:r>
              <a:t>One stable event: the label-service publishes `ParcelDelivered` once as a CloudEvent, and its event type is the contract every subscriber relies on.</a:t>
            </a:r>
          </a:p>
          <a:p/>
          <a:p>
            <a:r>
              <a:t>Delivery that keeps its failures: filters, maximum attempts and time to live are set per subscription, and a dead-letter container keeps the events Event Grid gives up on.</a:t>
            </a:r>
          </a:p>
          <a:p/>
          <a:p>
            <a:r>
              <a:t>Pull for partners: a namespace topic lets each partner receive, acknowledge and release at its own pace, without opening an inbound port.</a:t>
            </a:r>
          </a:p>
          <a:p/>
          <a:p>
            <a:r>
              <a:t>Correct streams: the van ID key keeps each van's positions in order, each service reads through its own consumer group, and idempotent handlers absorb the replays of at-least-once delivery.</a:t>
            </a:r>
          </a:p>
          <a:p/>
          <a:p>
            <a:r>
              <a:t>Push to the browser: telemetry-ingest hosts `VanPositionHub`, `AddAzureSignalR` routes it through Azure SignalR Service in Default mode, and the ops console map shows each position as it arrives.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690854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095103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01827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761347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518838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5</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Events &amp; Streams with Event Grid &amp; Event Hubs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Connecting Contoso Logistics to partners and the live map</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Event-Driven Distributed Apps on Azure: Aspire, Dapr &amp; Durable Execution</a:t>
            </a:r>
          </a:p>
        </p:txBody>
      </p:sp>
    </p:spTree>
    <p:extLst>
      <p:ext uri="{BB962C8B-B14F-4D97-AF65-F5344CB8AC3E}">
        <p14:creationId xmlns:p14="http://schemas.microsoft.com/office/powerpoint/2010/main" val="212904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Grid: Custom Topics &amp; Subscriptions</a:t>
            </a:r>
          </a:p>
          <a:p>
            <a:pPr>
              <a:lnSpc>
                <a:spcPct val="95000"/>
              </a:lnSpc>
              <a:spcBef>
                <a:spcPts val="600"/>
              </a:spcBef>
            </a:pPr>
            <a:r>
              <a:rPr sz="1200" b="0">
                <a:solidFill>
                  <a:srgbClr val="595F67"/>
                </a:solidFill>
                <a:latin typeface="Poppins"/>
              </a:rPr>
              <a:t>Publish ParcelDelivered as a CloudEvent</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Grid: Filters, Retries, Dead-Letter</a:t>
            </a:r>
          </a:p>
          <a:p>
            <a:pPr>
              <a:lnSpc>
                <a:spcPct val="95000"/>
              </a:lnSpc>
              <a:spcBef>
                <a:spcPts val="600"/>
              </a:spcBef>
            </a:pPr>
            <a:r>
              <a:rPr sz="1200" b="0">
                <a:solidFill>
                  <a:srgbClr val="595F67"/>
                </a:solidFill>
                <a:latin typeface="Poppins"/>
              </a:rPr>
              <a:t>Retry schedule, dead-letter storage, errors without retry</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Grid Namespaces: Pull Delivery</a:t>
            </a:r>
          </a:p>
          <a:p>
            <a:pPr>
              <a:lnSpc>
                <a:spcPct val="95000"/>
              </a:lnSpc>
              <a:spcBef>
                <a:spcPts val="600"/>
              </a:spcBef>
            </a:pPr>
            <a:r>
              <a:rPr sz="1200" b="0">
                <a:solidFill>
                  <a:srgbClr val="595F67"/>
                </a:solidFill>
                <a:latin typeface="Poppins"/>
              </a:rPr>
              <a:t>Partners receive, acknowledge and release at their pace</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Hubs: Partitions &amp; Checkpoints</a:t>
            </a:r>
          </a:p>
          <a:p>
            <a:pPr>
              <a:lnSpc>
                <a:spcPct val="95000"/>
              </a:lnSpc>
              <a:spcBef>
                <a:spcPts val="600"/>
              </a:spcBef>
            </a:pPr>
            <a:r>
              <a:rPr sz="1200" b="0">
                <a:solidFill>
                  <a:srgbClr val="595F67"/>
                </a:solidFill>
                <a:latin typeface="Poppins"/>
              </a:rPr>
              <a:t>Keys, consumer groups, checkpoints and ownership</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Event Hubs: Kafka-Compatible Streaming</a:t>
            </a:r>
          </a:p>
          <a:p>
            <a:pPr>
              <a:lnSpc>
                <a:spcPct val="95000"/>
              </a:lnSpc>
              <a:spcBef>
                <a:spcPts val="600"/>
              </a:spcBef>
            </a:pPr>
            <a:r>
              <a:rPr sz="1200" b="0">
                <a:solidFill>
                  <a:srgbClr val="595F67"/>
                </a:solidFill>
                <a:latin typeface="Poppins"/>
              </a:rPr>
              <a:t>Kafka clients on port 9093 with PLAIN or OAUTHBEARER</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SignalR Service: Push to Browsers</a:t>
            </a:r>
          </a:p>
          <a:p>
            <a:pPr>
              <a:lnSpc>
                <a:spcPct val="95000"/>
              </a:lnSpc>
              <a:spcBef>
                <a:spcPts val="600"/>
              </a:spcBef>
            </a:pPr>
            <a:r>
              <a:rPr sz="1200" b="0">
                <a:solidFill>
                  <a:srgbClr val="595F67"/>
                </a:solidFill>
                <a:latin typeface="Poppins"/>
              </a:rPr>
              <a:t>Default and Serverless modes, the ops console client</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1468179"/>
            <a:ext cx="5105257" cy="1359218"/>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Events and streams with Event Grid and Event Hubs</a:t>
            </a:r>
            <a:endParaRPr lang="en-US" sz="3000" dirty="0"/>
          </a:p>
        </p:txBody>
      </p:sp>
      <p:sp>
        <p:nvSpPr>
          <p:cNvPr id="3" name="Text 1"/>
          <p:cNvSpPr/>
          <p:nvPr/>
        </p:nvSpPr>
        <p:spPr>
          <a:xfrm>
            <a:off x="609600" y="2979797"/>
            <a:ext cx="5181448" cy="696922"/>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Connecting Contoso Logistics to partners and the live map</a:t>
            </a:r>
            <a:endParaRPr lang="en-US" sz="1400" dirty="0"/>
          </a:p>
        </p:txBody>
      </p:sp>
      <p:sp>
        <p:nvSpPr>
          <p:cNvPr id="5" name="Text 3"/>
          <p:cNvSpPr/>
          <p:nvPr/>
        </p:nvSpPr>
        <p:spPr>
          <a:xfrm>
            <a:off x="609600" y="3905319"/>
            <a:ext cx="5105257" cy="158829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Discrete events</a:t>
            </a:r>
            <a:r>
              <a:rPr lang="en-US" sz="1400" dirty="0">
                <a:solidFill>
                  <a:srgbClr val="1B365D"/>
                </a:solidFill>
                <a:latin typeface="Poppins" pitchFamily="34" charset="0"/>
                <a:ea typeface="Poppins" pitchFamily="34" charset="-122"/>
                <a:cs typeface="Poppins" pitchFamily="34" charset="-120"/>
              </a:rPr>
              <a:t>: publish </a:t>
            </a:r>
            <a:r>
              <a:rPr lang="en-US" sz="1400" dirty="0">
                <a:solidFill>
                  <a:srgbClr val="1B365D"/>
                </a:solidFill>
                <a:highlight>
                  <a:srgbClr val="F2F2F2"/>
                </a:highlight>
                <a:latin typeface="Consolas" pitchFamily="34" charset="0"/>
                <a:ea typeface="Consolas" pitchFamily="34" charset="-122"/>
                <a:cs typeface="Consolas" pitchFamily="34" charset="-120"/>
              </a:rPr>
              <a:t>ParcelDelivered</a:t>
            </a:r>
            <a:r>
              <a:rPr lang="en-US" sz="1400" dirty="0">
                <a:solidFill>
                  <a:srgbClr val="1B365D"/>
                </a:solidFill>
                <a:latin typeface="Poppins" pitchFamily="34" charset="0"/>
                <a:ea typeface="Poppins" pitchFamily="34" charset="-122"/>
                <a:cs typeface="Poppins" pitchFamily="34" charset="-120"/>
              </a:rPr>
              <a:t> with Event Grid, then filter, retry and pull it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Telemetry</a:t>
            </a:r>
            <a:r>
              <a:rPr lang="en-US" sz="1400" dirty="0">
                <a:solidFill>
                  <a:srgbClr val="1B365D"/>
                </a:solidFill>
                <a:latin typeface="Poppins" pitchFamily="34" charset="0"/>
                <a:ea typeface="Poppins" pitchFamily="34" charset="-122"/>
                <a:cs typeface="Poppins" pitchFamily="34" charset="-120"/>
              </a:rPr>
              <a:t>: stream van positions through Event Hubs partitions, checkpoints and Kafka</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Push to browsers</a:t>
            </a:r>
            <a:r>
              <a:rPr lang="en-US" sz="1400" dirty="0">
                <a:solidFill>
                  <a:srgbClr val="1B365D"/>
                </a:solidFill>
                <a:latin typeface="Poppins" pitchFamily="34" charset="0"/>
                <a:ea typeface="Poppins" pitchFamily="34" charset="-122"/>
                <a:cs typeface="Poppins" pitchFamily="34" charset="-120"/>
              </a:rPr>
              <a:t>: SignalR Service brings each position to the ops console</a:t>
            </a:r>
            <a:endParaRPr lang="en-US" sz="1400" dirty="0"/>
          </a:p>
        </p:txBody>
      </p:sp>
      <p:pic>
        <p:nvPicPr>
          <p:cNvPr id="6"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Overview</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The path from ParcelDelivered to the live map</a:t>
            </a:r>
            <a:endParaRPr lang="en-US" sz="1400" dirty="0"/>
          </a:p>
        </p:txBody>
      </p:sp>
      <p:sp>
        <p:nvSpPr>
          <p:cNvPr id="4" name="Text 2"/>
          <p:cNvSpPr/>
          <p:nvPr/>
        </p:nvSpPr>
        <p:spPr>
          <a:xfrm>
            <a:off x="609600" y="2004270"/>
            <a:ext cx="4964767"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Publish </a:t>
            </a:r>
            <a:r>
              <a:rPr lang="en-US" sz="1400" dirty="0">
                <a:solidFill>
                  <a:srgbClr val="1B365D"/>
                </a:solidFill>
                <a:highlight>
                  <a:srgbClr val="F2F2F2"/>
                </a:highlight>
                <a:latin typeface="Consolas" pitchFamily="34" charset="0"/>
                <a:ea typeface="Consolas" pitchFamily="34" charset="-122"/>
                <a:cs typeface="Consolas" pitchFamily="34" charset="-120"/>
              </a:rPr>
              <a:t>ParcelDelivered</a:t>
            </a:r>
            <a:r>
              <a:rPr lang="en-US" sz="1400" dirty="0">
                <a:solidFill>
                  <a:srgbClr val="1B365D"/>
                </a:solidFill>
                <a:latin typeface="Poppins" pitchFamily="34" charset="0"/>
                <a:ea typeface="Poppins" pitchFamily="34" charset="-122"/>
                <a:cs typeface="Poppins" pitchFamily="34" charset="-120"/>
              </a:rPr>
              <a:t> to a </a:t>
            </a:r>
            <a:r>
              <a:rPr lang="en-US" sz="1400" b="1" dirty="0">
                <a:solidFill>
                  <a:srgbClr val="1B365D"/>
                </a:solidFill>
                <a:latin typeface="Poppins Bold" pitchFamily="34" charset="0"/>
                <a:ea typeface="Poppins Bold" pitchFamily="34" charset="-122"/>
                <a:cs typeface="Poppins Bold" pitchFamily="34" charset="-120"/>
              </a:rPr>
              <a:t>custom topic</a:t>
            </a:r>
            <a:r>
              <a:rPr lang="en-US" sz="1400" dirty="0">
                <a:solidFill>
                  <a:srgbClr val="1B365D"/>
                </a:solidFill>
                <a:latin typeface="Poppins" pitchFamily="34" charset="0"/>
                <a:ea typeface="Poppins" pitchFamily="34" charset="-122"/>
                <a:cs typeface="Poppins" pitchFamily="34" charset="-120"/>
              </a:rPr>
              <a:t> and validate each partner endpoint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Filter and retry deliveries, and </a:t>
            </a:r>
            <a:r>
              <a:rPr lang="en-US" sz="1400" b="1" dirty="0">
                <a:solidFill>
                  <a:srgbClr val="1B365D"/>
                </a:solidFill>
                <a:latin typeface="Poppins Bold" pitchFamily="34" charset="0"/>
                <a:ea typeface="Poppins Bold" pitchFamily="34" charset="-122"/>
                <a:cs typeface="Poppins Bold" pitchFamily="34" charset="-120"/>
              </a:rPr>
              <a:t>dead-letter</a:t>
            </a:r>
            <a:r>
              <a:rPr lang="en-US" sz="1400" dirty="0">
                <a:solidFill>
                  <a:srgbClr val="1B365D"/>
                </a:solidFill>
                <a:latin typeface="Poppins" pitchFamily="34" charset="0"/>
                <a:ea typeface="Poppins" pitchFamily="34" charset="-122"/>
                <a:cs typeface="Poppins" pitchFamily="34" charset="-120"/>
              </a:rPr>
              <a:t> the ones that fail</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Let partners </a:t>
            </a:r>
            <a:r>
              <a:rPr lang="en-US" sz="1400" b="1" dirty="0">
                <a:solidFill>
                  <a:srgbClr val="1B365D"/>
                </a:solidFill>
                <a:latin typeface="Poppins Bold" pitchFamily="34" charset="0"/>
                <a:ea typeface="Poppins Bold" pitchFamily="34" charset="-122"/>
                <a:cs typeface="Poppins Bold" pitchFamily="34" charset="-120"/>
              </a:rPr>
              <a:t>pull</a:t>
            </a:r>
            <a:r>
              <a:rPr lang="en-US" sz="1400" dirty="0">
                <a:solidFill>
                  <a:srgbClr val="1B365D"/>
                </a:solidFill>
                <a:latin typeface="Poppins" pitchFamily="34" charset="0"/>
                <a:ea typeface="Poppins" pitchFamily="34" charset="-122"/>
                <a:cs typeface="Poppins" pitchFamily="34" charset="-120"/>
              </a:rPr>
              <a:t> from a namespace topic when they are ready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Stream van positions through </a:t>
            </a:r>
            <a:r>
              <a:rPr lang="en-US" sz="1400" b="1" dirty="0">
                <a:solidFill>
                  <a:srgbClr val="1B365D"/>
                </a:solidFill>
                <a:latin typeface="Poppins Bold" pitchFamily="34" charset="0"/>
                <a:ea typeface="Poppins Bold" pitchFamily="34" charset="-122"/>
                <a:cs typeface="Poppins Bold" pitchFamily="34" charset="-120"/>
              </a:rPr>
              <a:t>partitions</a:t>
            </a:r>
            <a:r>
              <a:rPr lang="en-US" sz="1400" dirty="0">
                <a:solidFill>
                  <a:srgbClr val="1B365D"/>
                </a:solidFill>
                <a:latin typeface="Poppins" pitchFamily="34" charset="0"/>
                <a:ea typeface="Poppins" pitchFamily="34" charset="-122"/>
                <a:cs typeface="Poppins" pitchFamily="34" charset="-120"/>
              </a:rPr>
              <a:t>, checkpoints and the Kafka endpoint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Push each position to the ops console with </a:t>
            </a:r>
            <a:r>
              <a:rPr lang="en-US" sz="1400" b="1" dirty="0">
                <a:solidFill>
                  <a:srgbClr val="1B365D"/>
                </a:solidFill>
                <a:latin typeface="Poppins Bold" pitchFamily="34" charset="0"/>
                <a:ea typeface="Poppins Bold" pitchFamily="34" charset="-122"/>
                <a:cs typeface="Poppins Bold" pitchFamily="34" charset="-120"/>
              </a:rPr>
              <a:t>SignalR Service</a:t>
            </a:r>
            <a:endParaRPr lang="en-US" sz="1400" dirty="0"/>
          </a:p>
        </p:txBody>
      </p:sp>
      <p:pic>
        <p:nvPicPr>
          <p:cNvPr id="5" name="Image 0" descr="preencoded.png"/>
          <p:cNvPicPr>
            <a:picLocks noChangeAspect="1"/>
          </p:cNvPicPr>
          <p:nvPr/>
        </p:nvPicPr>
        <p:blipFill>
          <a:blip r:embed="rId3"/>
          <a:stretch>
            <a:fillRect/>
          </a:stretch>
        </p:blipFill>
        <p:spPr>
          <a:xfrm>
            <a:off x="5879060" y="1602696"/>
            <a:ext cx="5841854" cy="3286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Grid: Custom Topics &amp; Subscriptions</a:t>
            </a:r>
          </a:p>
          <a:p>
            <a:pPr>
              <a:lnSpc>
                <a:spcPct val="95000"/>
              </a:lnSpc>
              <a:spcBef>
                <a:spcPts val="1400"/>
              </a:spcBef>
            </a:pPr>
            <a:r>
              <a:rPr sz="2000" b="0">
                <a:solidFill>
                  <a:srgbClr val="595F67"/>
                </a:solidFill>
                <a:latin typeface="Poppins"/>
              </a:rPr>
              <a:t>Publish ParcelDelivered as a CloudEvent</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Publishing CloudEvents to a custom topic</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The label-service publishes once, each partner gets a subscription</a:t>
            </a:r>
            <a:endParaRPr lang="en-US" sz="1400" dirty="0"/>
          </a:p>
        </p:txBody>
      </p:sp>
      <p:sp>
        <p:nvSpPr>
          <p:cNvPr id="4" name="Text 2"/>
          <p:cNvSpPr/>
          <p:nvPr/>
        </p:nvSpPr>
        <p:spPr>
          <a:xfrm>
            <a:off x="609600" y="1704296"/>
            <a:ext cx="4964767"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custom topic</a:t>
            </a:r>
            <a:r>
              <a:rPr lang="en-US" sz="1400" dirty="0">
                <a:solidFill>
                  <a:srgbClr val="1B365D"/>
                </a:solidFill>
                <a:latin typeface="Poppins" pitchFamily="34" charset="0"/>
                <a:ea typeface="Poppins" pitchFamily="34" charset="-122"/>
                <a:cs typeface="Poppins" pitchFamily="34" charset="-120"/>
              </a:rPr>
              <a:t> has an endpoint and keys; a system topic belongs to an Azure service</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EventGridPublisherClient</a:t>
            </a:r>
            <a:r>
              <a:rPr lang="en-US" sz="1400" dirty="0">
                <a:solidFill>
                  <a:srgbClr val="1B365D"/>
                </a:solidFill>
                <a:latin typeface="Poppins" pitchFamily="34" charset="0"/>
                <a:ea typeface="Poppins" pitchFamily="34" charset="-122"/>
                <a:cs typeface="Poppins" pitchFamily="34" charset="-120"/>
              </a:rPr>
              <a:t> sends a </a:t>
            </a:r>
            <a:r>
              <a:rPr lang="en-US" sz="1400" dirty="0">
                <a:solidFill>
                  <a:srgbClr val="1B365D"/>
                </a:solidFill>
                <a:highlight>
                  <a:srgbClr val="F2F2F2"/>
                </a:highlight>
                <a:latin typeface="Consolas" pitchFamily="34" charset="0"/>
                <a:ea typeface="Consolas" pitchFamily="34" charset="-122"/>
                <a:cs typeface="Consolas" pitchFamily="34" charset="-120"/>
              </a:rPr>
              <a:t>CloudEvent</a:t>
            </a:r>
            <a:r>
              <a:rPr lang="en-US" sz="1400" dirty="0">
                <a:solidFill>
                  <a:srgbClr val="1B365D"/>
                </a:solidFill>
                <a:latin typeface="Poppins" pitchFamily="34" charset="0"/>
                <a:ea typeface="Poppins" pitchFamily="34" charset="-122"/>
                <a:cs typeface="Poppins" pitchFamily="34" charset="-120"/>
              </a:rPr>
              <a:t> with a source, a type and data</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DefaultAzureCredential</a:t>
            </a:r>
            <a:r>
              <a:rPr lang="en-US" sz="1400" dirty="0">
                <a:solidFill>
                  <a:srgbClr val="1B365D"/>
                </a:solidFill>
                <a:latin typeface="Poppins" pitchFamily="34" charset="0"/>
                <a:ea typeface="Poppins" pitchFamily="34" charset="-122"/>
                <a:cs typeface="Poppins" pitchFamily="34" charset="-120"/>
              </a:rPr>
              <a:t> needs the </a:t>
            </a:r>
            <a:r>
              <a:rPr lang="en-US" sz="1400" b="1" dirty="0">
                <a:solidFill>
                  <a:srgbClr val="1B365D"/>
                </a:solidFill>
                <a:latin typeface="Poppins Bold" pitchFamily="34" charset="0"/>
                <a:ea typeface="Poppins Bold" pitchFamily="34" charset="-122"/>
                <a:cs typeface="Poppins Bold" pitchFamily="34" charset="-120"/>
              </a:rPr>
              <a:t>EventGrid Data Sender</a:t>
            </a:r>
            <a:r>
              <a:rPr lang="en-US" sz="1400" dirty="0">
                <a:solidFill>
                  <a:srgbClr val="1B365D"/>
                </a:solidFill>
                <a:latin typeface="Poppins" pitchFamily="34" charset="0"/>
                <a:ea typeface="Poppins" pitchFamily="34" charset="-122"/>
                <a:cs typeface="Poppins" pitchFamily="34" charset="-120"/>
              </a:rPr>
              <a:t> role on the topic</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Handlers: HTTPS webhooks, Azure Functions, Service Bus, Event Hubs and Storage queues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event type name is the contract with every subscriber</a:t>
            </a:r>
            <a:endParaRPr lang="en-US" sz="1400" dirty="0"/>
          </a:p>
        </p:txBody>
      </p:sp>
      <p:pic>
        <p:nvPicPr>
          <p:cNvPr id="5" name="Image 0" descr="preencoded.png"/>
          <p:cNvPicPr>
            <a:picLocks noChangeAspect="1"/>
          </p:cNvPicPr>
          <p:nvPr/>
        </p:nvPicPr>
        <p:blipFill>
          <a:blip r:embed="rId3"/>
          <a:stretch>
            <a:fillRect/>
          </a:stretch>
        </p:blipFill>
        <p:spPr>
          <a:xfrm>
            <a:off x="5879060" y="1602696"/>
            <a:ext cx="5841854" cy="21298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Blob Storage system topic for proof of delivery</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A finished photo upload becomes ParcelDelivered</a:t>
            </a:r>
            <a:endParaRPr lang="en-US" sz="1400" dirty="0"/>
          </a:p>
        </p:txBody>
      </p:sp>
      <p:sp>
        <p:nvSpPr>
          <p:cNvPr id="4" name="Text 2"/>
          <p:cNvSpPr/>
          <p:nvPr/>
        </p:nvSpPr>
        <p:spPr>
          <a:xfrm>
            <a:off x="609600" y="2689707"/>
            <a:ext cx="4913968"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Blob Storage raises </a:t>
            </a:r>
            <a:r>
              <a:rPr lang="en-US" sz="1400" dirty="0">
                <a:solidFill>
                  <a:srgbClr val="1B365D"/>
                </a:solidFill>
                <a:highlight>
                  <a:srgbClr val="F2F2F2"/>
                </a:highlight>
                <a:latin typeface="Consolas" pitchFamily="34" charset="0"/>
                <a:ea typeface="Consolas" pitchFamily="34" charset="-122"/>
                <a:cs typeface="Consolas" pitchFamily="34" charset="-120"/>
              </a:rPr>
              <a:t>Microsoft.Storage.BlobCreated</a:t>
            </a:r>
            <a:r>
              <a:rPr lang="en-US" sz="1400" dirty="0">
                <a:solidFill>
                  <a:srgbClr val="1B365D"/>
                </a:solidFill>
                <a:latin typeface="Poppins" pitchFamily="34" charset="0"/>
                <a:ea typeface="Poppins" pitchFamily="34" charset="-122"/>
                <a:cs typeface="Poppins" pitchFamily="34" charset="-120"/>
              </a:rPr>
              <a:t> once a block blob is fully committed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system topic</a:t>
            </a:r>
            <a:r>
              <a:rPr lang="en-US" sz="1400" dirty="0">
                <a:solidFill>
                  <a:srgbClr val="1B365D"/>
                </a:solidFill>
                <a:latin typeface="Poppins" pitchFamily="34" charset="0"/>
                <a:ea typeface="Poppins" pitchFamily="34" charset="-122"/>
                <a:cs typeface="Poppins" pitchFamily="34" charset="-120"/>
              </a:rPr>
              <a:t> turns those storage events into Event Grid events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subjectBeginsWith</a:t>
            </a:r>
            <a:r>
              <a:rPr lang="en-US" sz="1400" dirty="0">
                <a:solidFill>
                  <a:srgbClr val="1B365D"/>
                </a:solidFill>
                <a:latin typeface="Poppins" pitchFamily="34" charset="0"/>
                <a:ea typeface="Poppins" pitchFamily="34" charset="-122"/>
                <a:cs typeface="Poppins" pitchFamily="34" charset="-120"/>
              </a:rPr>
              <a:t> limits the subscription to the proof-of-delivery container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worker reads the tracking number from the blob name and publishes </a:t>
            </a:r>
            <a:r>
              <a:rPr lang="en-US" sz="1400" dirty="0">
                <a:solidFill>
                  <a:srgbClr val="1B365D"/>
                </a:solidFill>
                <a:highlight>
                  <a:srgbClr val="F2F2F2"/>
                </a:highlight>
                <a:latin typeface="Consolas" pitchFamily="34" charset="0"/>
                <a:ea typeface="Consolas" pitchFamily="34" charset="-122"/>
                <a:cs typeface="Consolas" pitchFamily="34" charset="-120"/>
              </a:rPr>
              <a:t>ParcelDelivered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Create the account as general purpose v2, because v1 can't publish to Event Grid</a:t>
            </a:r>
            <a:endParaRPr lang="en-US" sz="1400" dirty="0"/>
          </a:p>
        </p:txBody>
      </p:sp>
      <p:pic>
        <p:nvPicPr>
          <p:cNvPr id="5" name="Image 0" descr="preencoded.png"/>
          <p:cNvPicPr>
            <a:picLocks noChangeAspect="1"/>
          </p:cNvPicPr>
          <p:nvPr/>
        </p:nvPicPr>
        <p:blipFill>
          <a:blip r:embed="rId3"/>
          <a:stretch>
            <a:fillRect/>
          </a:stretch>
        </p:blipFill>
        <p:spPr>
          <a:xfrm>
            <a:off x="5879060" y="2531566"/>
            <a:ext cx="5841854" cy="27992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Endpoint validation</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Event Grid proves you own the endpoint before the first event</a:t>
            </a:r>
            <a:endParaRPr lang="en-US" sz="1400" dirty="0"/>
          </a:p>
        </p:txBody>
      </p:sp>
      <p:sp>
        <p:nvSpPr>
          <p:cNvPr id="4" name="Text 2"/>
          <p:cNvSpPr/>
          <p:nvPr/>
        </p:nvSpPr>
        <p:spPr>
          <a:xfrm>
            <a:off x="609600" y="1754651"/>
            <a:ext cx="4964767" cy="2940447"/>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CloudEvents schema</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OPTIONS</a:t>
            </a:r>
            <a:r>
              <a:rPr lang="en-US" sz="1400" dirty="0">
                <a:solidFill>
                  <a:srgbClr val="1B365D"/>
                </a:solidFill>
                <a:latin typeface="Poppins" pitchFamily="34" charset="0"/>
                <a:ea typeface="Poppins" pitchFamily="34" charset="-122"/>
                <a:cs typeface="Poppins" pitchFamily="34" charset="-120"/>
              </a:rPr>
              <a:t> with </a:t>
            </a:r>
            <a:r>
              <a:rPr lang="en-US" sz="1400" dirty="0">
                <a:solidFill>
                  <a:srgbClr val="1B365D"/>
                </a:solidFill>
                <a:highlight>
                  <a:srgbClr val="F2F2F2"/>
                </a:highlight>
                <a:latin typeface="Consolas" pitchFamily="34" charset="0"/>
                <a:ea typeface="Consolas" pitchFamily="34" charset="-122"/>
                <a:cs typeface="Consolas" pitchFamily="34" charset="-120"/>
              </a:rPr>
              <a:t>WebHook-Request-Origin</a:t>
            </a:r>
            <a:r>
              <a:rPr lang="en-US" sz="1400" dirty="0">
                <a:solidFill>
                  <a:srgbClr val="1B365D"/>
                </a:solidFill>
                <a:latin typeface="Poppins" pitchFamily="34" charset="0"/>
                <a:ea typeface="Poppins" pitchFamily="34" charset="-122"/>
                <a:cs typeface="Poppins" pitchFamily="34" charset="-120"/>
              </a:rPr>
              <a:t>, answered by </a:t>
            </a:r>
            <a:r>
              <a:rPr lang="en-US" sz="1400" dirty="0">
                <a:solidFill>
                  <a:srgbClr val="1B365D"/>
                </a:solidFill>
                <a:highlight>
                  <a:srgbClr val="F2F2F2"/>
                </a:highlight>
                <a:latin typeface="Consolas" pitchFamily="34" charset="0"/>
                <a:ea typeface="Consolas" pitchFamily="34" charset="-122"/>
                <a:cs typeface="Consolas" pitchFamily="34" charset="-120"/>
              </a:rPr>
              <a:t>WebHook-Allowed-Origin</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Event Grid schema</a:t>
            </a:r>
            <a:r>
              <a:rPr lang="en-US" sz="1400" dirty="0">
                <a:solidFill>
                  <a:srgbClr val="1B365D"/>
                </a:solidFill>
                <a:latin typeface="Poppins" pitchFamily="34" charset="0"/>
                <a:ea typeface="Poppins" pitchFamily="34" charset="-122"/>
                <a:cs typeface="Poppins" pitchFamily="34" charset="-120"/>
              </a:rPr>
              <a:t>: a </a:t>
            </a:r>
            <a:r>
              <a:rPr lang="en-US" sz="1400" dirty="0">
                <a:solidFill>
                  <a:srgbClr val="1B365D"/>
                </a:solidFill>
                <a:highlight>
                  <a:srgbClr val="F2F2F2"/>
                </a:highlight>
                <a:latin typeface="Consolas" pitchFamily="34" charset="0"/>
                <a:ea typeface="Consolas" pitchFamily="34" charset="-122"/>
                <a:cs typeface="Consolas" pitchFamily="34" charset="-120"/>
              </a:rPr>
              <a:t>SubscriptionValidationEvent</a:t>
            </a:r>
            <a:r>
              <a:rPr lang="en-US" sz="1400" dirty="0">
                <a:solidFill>
                  <a:srgbClr val="1B365D"/>
                </a:solidFill>
                <a:latin typeface="Poppins" pitchFamily="34" charset="0"/>
                <a:ea typeface="Poppins" pitchFamily="34" charset="-122"/>
                <a:cs typeface="Poppins" pitchFamily="34" charset="-120"/>
              </a:rPr>
              <a:t>, answered with HTTP 200 and the code within 30 seconds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Without a synchronous answer, open the </a:t>
            </a:r>
            <a:r>
              <a:rPr lang="en-US" sz="1400" dirty="0">
                <a:solidFill>
                  <a:srgbClr val="1B365D"/>
                </a:solidFill>
                <a:highlight>
                  <a:srgbClr val="F2F2F2"/>
                </a:highlight>
                <a:latin typeface="Consolas" pitchFamily="34" charset="0"/>
                <a:ea typeface="Consolas" pitchFamily="34" charset="-122"/>
                <a:cs typeface="Consolas" pitchFamily="34" charset="-120"/>
              </a:rPr>
              <a:t>validationUrl</a:t>
            </a:r>
            <a:r>
              <a:rPr lang="en-US" sz="1400" dirty="0">
                <a:solidFill>
                  <a:srgbClr val="1B365D"/>
                </a:solidFill>
                <a:latin typeface="Poppins" pitchFamily="34" charset="0"/>
                <a:ea typeface="Poppins" pitchFamily="34" charset="-122"/>
                <a:cs typeface="Poppins" pitchFamily="34" charset="-120"/>
              </a:rPr>
              <a:t> with a GET within 10 minutes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Azure Functions with the Event Grid trigger and Logic Apps answer automatically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HTTP 202 doesn't count, and self-signed certificates aren't supported</a:t>
            </a:r>
            <a:endParaRPr lang="en-US" sz="1400" dirty="0"/>
          </a:p>
        </p:txBody>
      </p:sp>
      <p:pic>
        <p:nvPicPr>
          <p:cNvPr id="5" name="Image 0" descr="preencoded.png"/>
          <p:cNvPicPr>
            <a:picLocks noChangeAspect="1"/>
          </p:cNvPicPr>
          <p:nvPr/>
        </p:nvPicPr>
        <p:blipFill>
          <a:blip r:embed="rId3"/>
          <a:stretch>
            <a:fillRect/>
          </a:stretch>
        </p:blipFill>
        <p:spPr>
          <a:xfrm>
            <a:off x="5879060" y="1602696"/>
            <a:ext cx="5841854" cy="32861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Grid: Filters, Retries, Dead-Letter</a:t>
            </a:r>
          </a:p>
          <a:p>
            <a:pPr>
              <a:lnSpc>
                <a:spcPct val="95000"/>
              </a:lnSpc>
              <a:spcBef>
                <a:spcPts val="1400"/>
              </a:spcBef>
            </a:pPr>
            <a:r>
              <a:rPr sz="2000" b="0">
                <a:solidFill>
                  <a:srgbClr val="595F67"/>
                </a:solidFill>
                <a:latin typeface="Poppins"/>
              </a:rPr>
              <a:t>Retry schedule, dead-letter storage, errors without retry</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Filters and the retry schedule</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Which events reach a subscription, and how long Event Grid keeps trying</a:t>
            </a:r>
            <a:endParaRPr lang="en-US" sz="1400" dirty="0"/>
          </a:p>
        </p:txBody>
      </p:sp>
      <p:sp>
        <p:nvSpPr>
          <p:cNvPr id="4" name="Text 2"/>
          <p:cNvSpPr/>
          <p:nvPr/>
        </p:nvSpPr>
        <p:spPr>
          <a:xfrm>
            <a:off x="609600" y="2844446"/>
            <a:ext cx="4964767" cy="24237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Filter on </a:t>
            </a:r>
            <a:r>
              <a:rPr lang="en-US" sz="1400" b="1" dirty="0">
                <a:solidFill>
                  <a:srgbClr val="1B365D"/>
                </a:solidFill>
                <a:latin typeface="Poppins Bold" pitchFamily="34" charset="0"/>
                <a:ea typeface="Poppins Bold" pitchFamily="34" charset="-122"/>
                <a:cs typeface="Poppins Bold" pitchFamily="34" charset="-120"/>
              </a:rPr>
              <a:t>event type</a:t>
            </a:r>
            <a:r>
              <a:rPr lang="en-US" sz="1400" dirty="0">
                <a:solidFill>
                  <a:srgbClr val="1B365D"/>
                </a:solidFill>
                <a:latin typeface="Poppins" pitchFamily="34" charset="0"/>
                <a:ea typeface="Poppins" pitchFamily="34" charset="-122"/>
                <a:cs typeface="Poppins" pitchFamily="34" charset="-120"/>
              </a:rPr>
              <a:t>, the start or end of the subject, and fields under </a:t>
            </a:r>
            <a:r>
              <a:rPr lang="en-US" sz="1400" dirty="0">
                <a:solidFill>
                  <a:srgbClr val="1B365D"/>
                </a:solidFill>
                <a:highlight>
                  <a:srgbClr val="F2F2F2"/>
                </a:highlight>
                <a:latin typeface="Consolas" pitchFamily="34" charset="0"/>
                <a:ea typeface="Consolas" pitchFamily="34" charset="-122"/>
                <a:cs typeface="Consolas" pitchFamily="34" charset="-120"/>
              </a:rPr>
              <a:t>data</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a:t>
            </a:r>
            <a:r>
              <a:rPr lang="en-US" sz="1400" b="1" dirty="0">
                <a:solidFill>
                  <a:srgbClr val="1B365D"/>
                </a:solidFill>
                <a:latin typeface="Poppins Bold" pitchFamily="34" charset="0"/>
                <a:ea typeface="Poppins Bold" pitchFamily="34" charset="-122"/>
                <a:cs typeface="Poppins Bold" pitchFamily="34" charset="-120"/>
              </a:rPr>
              <a:t>retry policy</a:t>
            </a:r>
            <a:r>
              <a:rPr lang="en-US" sz="1400" dirty="0">
                <a:solidFill>
                  <a:srgbClr val="1B365D"/>
                </a:solidFill>
                <a:latin typeface="Poppins" pitchFamily="34" charset="0"/>
                <a:ea typeface="Poppins" pitchFamily="34" charset="-122"/>
                <a:cs typeface="Poppins" pitchFamily="34" charset="-120"/>
              </a:rPr>
              <a:t> allows 1 to 30 attempts and a time to live of 1 to 1440 minutes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Event Grid stops at whichever limit it reaches first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Waits grow from 10 seconds to every 12 hours, plus a small random offset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Order isn't guaranteed and a retry can duplicate, so handlers accept both</a:t>
            </a:r>
            <a:endParaRPr lang="en-US" sz="1400" dirty="0"/>
          </a:p>
        </p:txBody>
      </p:sp>
      <p:pic>
        <p:nvPicPr>
          <p:cNvPr id="5" name="Image 0" descr="preencoded.png"/>
          <p:cNvPicPr>
            <a:picLocks noChangeAspect="1"/>
          </p:cNvPicPr>
          <p:nvPr/>
        </p:nvPicPr>
        <p:blipFill>
          <a:blip r:embed="rId3"/>
          <a:stretch>
            <a:fillRect/>
          </a:stretch>
        </p:blipFill>
        <p:spPr>
          <a:xfrm>
            <a:off x="6107654" y="1602696"/>
            <a:ext cx="5449057" cy="4716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Dead-lettering and errors without retries</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Where an event ends up when delivery fails</a:t>
            </a:r>
            <a:endParaRPr lang="en-US" sz="1400" dirty="0"/>
          </a:p>
        </p:txBody>
      </p:sp>
      <p:sp>
        <p:nvSpPr>
          <p:cNvPr id="4" name="Text 2"/>
          <p:cNvSpPr/>
          <p:nvPr/>
        </p:nvSpPr>
        <p:spPr>
          <a:xfrm>
            <a:off x="609600" y="2004270"/>
            <a:ext cx="4964767"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Dead-lettering is off by default: give the subscription a </a:t>
            </a:r>
            <a:r>
              <a:rPr lang="en-US" sz="1400" b="1" dirty="0">
                <a:solidFill>
                  <a:srgbClr val="1B365D"/>
                </a:solidFill>
                <a:latin typeface="Poppins Bold" pitchFamily="34" charset="0"/>
                <a:ea typeface="Poppins Bold" pitchFamily="34" charset="-122"/>
                <a:cs typeface="Poppins Bold" pitchFamily="34" charset="-120"/>
              </a:rPr>
              <a:t>blob container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Webhook 400, 401, 403 and 413 and Azure resource 400, 403 and 413 are never retried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dead-letter write comes five minutes after the last attempt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event in the blob carries </a:t>
            </a:r>
            <a:r>
              <a:rPr lang="en-US" sz="1400" dirty="0">
                <a:solidFill>
                  <a:srgbClr val="1B365D"/>
                </a:solidFill>
                <a:highlight>
                  <a:srgbClr val="F2F2F2"/>
                </a:highlight>
                <a:latin typeface="Consolas" pitchFamily="34" charset="0"/>
                <a:ea typeface="Consolas" pitchFamily="34" charset="-122"/>
                <a:cs typeface="Consolas" pitchFamily="34" charset="-120"/>
              </a:rPr>
              <a:t>deadLetterReason</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deliveryAttempts</a:t>
            </a:r>
            <a:r>
              <a:rPr lang="en-US" sz="1400" dirty="0">
                <a:solidFill>
                  <a:srgbClr val="1B365D"/>
                </a:solidFill>
                <a:latin typeface="Poppins" pitchFamily="34" charset="0"/>
                <a:ea typeface="Poppins" pitchFamily="34" charset="-122"/>
                <a:cs typeface="Poppins" pitchFamily="34" charset="-120"/>
              </a:rPr>
              <a:t> and </a:t>
            </a:r>
            <a:r>
              <a:rPr lang="en-US" sz="1400" dirty="0">
                <a:solidFill>
                  <a:srgbClr val="1B365D"/>
                </a:solidFill>
                <a:highlight>
                  <a:srgbClr val="F2F2F2"/>
                </a:highlight>
                <a:latin typeface="Consolas" pitchFamily="34" charset="0"/>
                <a:ea typeface="Consolas" pitchFamily="34" charset="-122"/>
                <a:cs typeface="Consolas" pitchFamily="34" charset="-120"/>
              </a:rPr>
              <a:t>lastDeliveryOutcome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 </a:t>
            </a:r>
            <a:r>
              <a:rPr lang="en-US" sz="1400" b="1" dirty="0">
                <a:solidFill>
                  <a:srgbClr val="1B365D"/>
                </a:solidFill>
                <a:latin typeface="Poppins Bold" pitchFamily="34" charset="0"/>
                <a:ea typeface="Poppins Bold" pitchFamily="34" charset="-122"/>
                <a:cs typeface="Poppins Bold" pitchFamily="34" charset="-120"/>
              </a:rPr>
              <a:t>probation</a:t>
            </a:r>
            <a:r>
              <a:rPr lang="en-US" sz="1400" dirty="0">
                <a:solidFill>
                  <a:srgbClr val="1B365D"/>
                </a:solidFill>
                <a:latin typeface="Poppins" pitchFamily="34" charset="0"/>
                <a:ea typeface="Poppins" pitchFamily="34" charset="-122"/>
                <a:cs typeface="Poppins" pitchFamily="34" charset="-120"/>
              </a:rPr>
              <a:t>, an event can be dead-lettered without a delivery attempt</a:t>
            </a:r>
            <a:endParaRPr lang="en-US" sz="1400" dirty="0"/>
          </a:p>
        </p:txBody>
      </p:sp>
      <p:pic>
        <p:nvPicPr>
          <p:cNvPr id="5" name="Image 0" descr="preencoded.png"/>
          <p:cNvPicPr>
            <a:picLocks noChangeAspect="1"/>
          </p:cNvPicPr>
          <p:nvPr/>
        </p:nvPicPr>
        <p:blipFill>
          <a:blip r:embed="rId3"/>
          <a:stretch>
            <a:fillRect/>
          </a:stretch>
        </p:blipFill>
        <p:spPr>
          <a:xfrm>
            <a:off x="5879060" y="1602696"/>
            <a:ext cx="5841854" cy="3286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Grid Namespaces: Pull Delivery</a:t>
            </a:r>
          </a:p>
          <a:p>
            <a:pPr>
              <a:lnSpc>
                <a:spcPct val="95000"/>
              </a:lnSpc>
              <a:spcBef>
                <a:spcPts val="1400"/>
              </a:spcBef>
            </a:pPr>
            <a:r>
              <a:rPr sz="2000" b="0">
                <a:solidFill>
                  <a:srgbClr val="595F67"/>
                </a:solidFill>
                <a:latin typeface="Poppins"/>
              </a:rPr>
              <a:t>Partners receive, acknowledge and release at their pace</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11175705"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Pull delivery with Event Grid namespaces</a:t>
            </a:r>
            <a:endParaRPr lang="en-US" sz="3000" dirty="0"/>
          </a:p>
        </p:txBody>
      </p:sp>
      <p:sp>
        <p:nvSpPr>
          <p:cNvPr id="3" name="Text 1"/>
          <p:cNvSpPr/>
          <p:nvPr/>
        </p:nvSpPr>
        <p:spPr>
          <a:xfrm>
            <a:off x="609600" y="1062673"/>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120"/>
              </a:rPr>
              <a:t>Partners without an inbound port call out when they are ready</a:t>
            </a:r>
            <a:endParaRPr lang="en-US" sz="1400" dirty="0"/>
          </a:p>
        </p:txBody>
      </p:sp>
      <p:sp>
        <p:nvSpPr>
          <p:cNvPr id="4" name="Text 2"/>
          <p:cNvSpPr/>
          <p:nvPr/>
        </p:nvSpPr>
        <p:spPr>
          <a:xfrm>
            <a:off x="609600" y="1704296"/>
            <a:ext cx="4964767"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namespace topic</a:t>
            </a:r>
            <a:r>
              <a:rPr lang="en-US" sz="1400" dirty="0">
                <a:solidFill>
                  <a:srgbClr val="1B365D"/>
                </a:solidFill>
                <a:latin typeface="Poppins" pitchFamily="34" charset="0"/>
                <a:ea typeface="Poppins" pitchFamily="34" charset="-122"/>
                <a:cs typeface="Poppins" pitchFamily="34" charset="-120"/>
              </a:rPr>
              <a:t> receives CloudEvents 1.0; each subscription picks </a:t>
            </a:r>
            <a:r>
              <a:rPr lang="en-US" sz="1400" dirty="0">
                <a:solidFill>
                  <a:srgbClr val="1B365D"/>
                </a:solidFill>
                <a:highlight>
                  <a:srgbClr val="F2F2F2"/>
                </a:highlight>
                <a:latin typeface="Consolas" pitchFamily="34" charset="0"/>
                <a:ea typeface="Consolas" pitchFamily="34" charset="-122"/>
                <a:cs typeface="Consolas" pitchFamily="34" charset="-120"/>
              </a:rPr>
              <a:t>queue</a:t>
            </a:r>
            <a:r>
              <a:rPr lang="en-US" sz="1400" dirty="0">
                <a:solidFill>
                  <a:srgbClr val="1B365D"/>
                </a:solidFill>
                <a:latin typeface="Poppins" pitchFamily="34" charset="0"/>
                <a:ea typeface="Poppins" pitchFamily="34" charset="-122"/>
                <a:cs typeface="Poppins" pitchFamily="34" charset="-120"/>
              </a:rPr>
              <a:t> or </a:t>
            </a:r>
            <a:r>
              <a:rPr lang="en-US" sz="1400" dirty="0">
                <a:solidFill>
                  <a:srgbClr val="1B365D"/>
                </a:solidFill>
                <a:highlight>
                  <a:srgbClr val="F2F2F2"/>
                </a:highlight>
                <a:latin typeface="Consolas" pitchFamily="34" charset="0"/>
                <a:ea typeface="Consolas" pitchFamily="34" charset="-122"/>
                <a:cs typeface="Consolas" pitchFamily="34" charset="-120"/>
              </a:rPr>
              <a:t>push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With pull, the partner calls out, so its network needs no inbound port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partner gets its own subscription and its own state for every event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Limits: 7 days retention, 500 subscriptions per topic, 1 MB per event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Push mode delivers to Event Hubs, the only destination supported today</a:t>
            </a:r>
            <a:endParaRPr lang="en-US" sz="1400" dirty="0"/>
          </a:p>
        </p:txBody>
      </p:sp>
      <p:pic>
        <p:nvPicPr>
          <p:cNvPr id="5" name="Image 0" descr="preencoded.png"/>
          <p:cNvPicPr>
            <a:picLocks noChangeAspect="1"/>
          </p:cNvPicPr>
          <p:nvPr/>
        </p:nvPicPr>
        <p:blipFill>
          <a:blip r:embed="rId3"/>
          <a:stretch>
            <a:fillRect/>
          </a:stretch>
        </p:blipFill>
        <p:spPr>
          <a:xfrm>
            <a:off x="5879060" y="1602696"/>
            <a:ext cx="5841854" cy="24949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Lock tokens in pull delivery</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Every received event stays locked until the consumer settles it</a:t>
            </a:r>
            <a:endParaRPr lang="en-US" sz="2000" dirty="0"/>
          </a:p>
        </p:txBody>
      </p:sp>
      <p:sp>
        <p:nvSpPr>
          <p:cNvPr id="4" name="Text 2"/>
          <p:cNvSpPr/>
          <p:nvPr/>
        </p:nvSpPr>
        <p:spPr>
          <a:xfrm>
            <a:off x="609600" y="2679636"/>
            <a:ext cx="4961294" cy="269795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ReceiveAsync</a:t>
            </a:r>
            <a:r>
              <a:rPr lang="en-US" sz="1400" dirty="0">
                <a:solidFill>
                  <a:srgbClr val="1B365D"/>
                </a:solidFill>
                <a:latin typeface="Poppins" pitchFamily="34" charset="0"/>
                <a:ea typeface="Poppins" pitchFamily="34" charset="-122"/>
                <a:cs typeface="Poppins" pitchFamily="34" charset="-120"/>
              </a:rPr>
              <a:t> reads up to 100 events and locks them for the consumer</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AcknowledgeAsync</a:t>
            </a:r>
            <a:r>
              <a:rPr lang="en-US" sz="1400" dirty="0">
                <a:solidFill>
                  <a:srgbClr val="1B365D"/>
                </a:solidFill>
                <a:latin typeface="Poppins" pitchFamily="34" charset="0"/>
                <a:ea typeface="Poppins" pitchFamily="34" charset="-122"/>
                <a:cs typeface="Poppins" pitchFamily="34" charset="-120"/>
              </a:rPr>
              <a:t> deletes the event for this subscription only</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ReleaseAsync</a:t>
            </a:r>
            <a:r>
              <a:rPr lang="en-US" sz="1400" dirty="0">
                <a:solidFill>
                  <a:srgbClr val="1B365D"/>
                </a:solidFill>
                <a:latin typeface="Poppins" pitchFamily="34" charset="0"/>
                <a:ea typeface="Poppins" pitchFamily="34" charset="-122"/>
                <a:cs typeface="Poppins" pitchFamily="34" charset="-120"/>
              </a:rPr>
              <a:t> makes it available again after 0, 10, 60, 600 or 3600 seconds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RejectAsync</a:t>
            </a:r>
            <a:r>
              <a:rPr lang="en-US" sz="1400" dirty="0">
                <a:solidFill>
                  <a:srgbClr val="1B365D"/>
                </a:solidFill>
                <a:latin typeface="Poppins" pitchFamily="34" charset="0"/>
                <a:ea typeface="Poppins" pitchFamily="34" charset="-122"/>
                <a:cs typeface="Poppins" pitchFamily="34" charset="-120"/>
              </a:rPr>
              <a:t> dead-letters it, or drops it when no destination exists</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RenewLocksAsync</a:t>
            </a:r>
            <a:r>
              <a:rPr lang="en-US" sz="1400" dirty="0">
                <a:solidFill>
                  <a:srgbClr val="1B365D"/>
                </a:solidFill>
                <a:latin typeface="Poppins" pitchFamily="34" charset="0"/>
                <a:ea typeface="Poppins" pitchFamily="34" charset="-122"/>
                <a:cs typeface="Poppins" pitchFamily="34" charset="-120"/>
              </a:rPr>
              <a:t> extends the lock while the consumer still works on it</a:t>
            </a:r>
            <a:endParaRPr lang="en-US" sz="1400" dirty="0"/>
          </a:p>
        </p:txBody>
      </p:sp>
      <p:pic>
        <p:nvPicPr>
          <p:cNvPr id="5" name="Image 0" descr="preencoded.png"/>
          <p:cNvPicPr>
            <a:picLocks noChangeAspect="1"/>
          </p:cNvPicPr>
          <p:nvPr/>
        </p:nvPicPr>
        <p:blipFill>
          <a:blip r:embed="rId3"/>
          <a:stretch>
            <a:fillRect/>
          </a:stretch>
        </p:blipFill>
        <p:spPr>
          <a:xfrm>
            <a:off x="5875587" y="2244725"/>
            <a:ext cx="5960517" cy="3352800"/>
          </a:xfrm>
          <a:prstGeom prst="rect">
            <a:avLst/>
          </a:prstGeom>
        </p:spPr>
      </p:pic>
    </p:spTree>
    <p:extLst>
      <p:ext uri="{BB962C8B-B14F-4D97-AF65-F5344CB8AC3E}">
        <p14:creationId xmlns:p14="http://schemas.microsoft.com/office/powerpoint/2010/main" val="4089258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Hubs: Partitions &amp; Checkpoints</a:t>
            </a:r>
          </a:p>
          <a:p>
            <a:pPr>
              <a:lnSpc>
                <a:spcPct val="95000"/>
              </a:lnSpc>
              <a:spcBef>
                <a:spcPts val="1400"/>
              </a:spcBef>
            </a:pPr>
            <a:r>
              <a:rPr sz="2000" b="0">
                <a:solidFill>
                  <a:srgbClr val="595F67"/>
                </a:solidFill>
                <a:latin typeface="Poppins"/>
              </a:rPr>
              <a:t>Keys, consumer groups, checkpoints and ownership</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Partitions and consumer groups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Order holds within one partition, each group reads the whole stream</a:t>
            </a:r>
            <a:endParaRPr lang="en-US" sz="2000" dirty="0"/>
          </a:p>
        </p:txBody>
      </p:sp>
      <p:sp>
        <p:nvSpPr>
          <p:cNvPr id="4" name="Text 2"/>
          <p:cNvSpPr/>
          <p:nvPr/>
        </p:nvSpPr>
        <p:spPr>
          <a:xfrm>
            <a:off x="609600" y="2679637"/>
            <a:ext cx="4961294"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a:t>
            </a:r>
            <a:r>
              <a:rPr lang="en-US" sz="1400" b="1" dirty="0">
                <a:solidFill>
                  <a:srgbClr val="1B365D"/>
                </a:solidFill>
                <a:latin typeface="Poppins Bold" pitchFamily="34" charset="0"/>
                <a:ea typeface="Poppins Bold" pitchFamily="34" charset="-122"/>
                <a:cs typeface="Poppins Bold" pitchFamily="34" charset="-120"/>
              </a:rPr>
              <a:t>partition</a:t>
            </a:r>
            <a:r>
              <a:rPr lang="en-US" sz="1400" dirty="0">
                <a:solidFill>
                  <a:srgbClr val="1B365D"/>
                </a:solidFill>
                <a:latin typeface="Poppins" pitchFamily="34" charset="0"/>
                <a:ea typeface="Poppins" pitchFamily="34" charset="-122"/>
                <a:cs typeface="Poppins" pitchFamily="34" charset="-120"/>
              </a:rPr>
              <a:t> is an ordered log, and order holds only inside one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van ID as partition key keeps one van's positions together, in order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Events without a key go round-robin; a fixed partition ID lowers availability</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 </a:t>
            </a:r>
            <a:r>
              <a:rPr lang="en-US" sz="1400" b="1" dirty="0">
                <a:solidFill>
                  <a:srgbClr val="1B365D"/>
                </a:solidFill>
                <a:latin typeface="Poppins Bold" pitchFamily="34" charset="0"/>
                <a:ea typeface="Poppins Bold" pitchFamily="34" charset="-122"/>
                <a:cs typeface="Poppins Bold" pitchFamily="34" charset="-120"/>
              </a:rPr>
              <a:t>consumer group</a:t>
            </a:r>
            <a:r>
              <a:rPr lang="en-US" sz="1400" dirty="0">
                <a:solidFill>
                  <a:srgbClr val="1B365D"/>
                </a:solidFill>
                <a:latin typeface="Poppins" pitchFamily="34" charset="0"/>
                <a:ea typeface="Poppins" pitchFamily="34" charset="-122"/>
                <a:cs typeface="Poppins" pitchFamily="34" charset="-120"/>
              </a:rPr>
              <a:t> reads the full stream at its own pace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One active reader per partition and group, one checkpoint container per group</a:t>
            </a:r>
            <a:endParaRPr lang="en-US" sz="1400" dirty="0"/>
          </a:p>
        </p:txBody>
      </p:sp>
      <p:pic>
        <p:nvPicPr>
          <p:cNvPr id="5" name="Image 0" descr="preencoded.png"/>
          <p:cNvPicPr>
            <a:picLocks noChangeAspect="1"/>
          </p:cNvPicPr>
          <p:nvPr/>
        </p:nvPicPr>
        <p:blipFill>
          <a:blip r:embed="rId3"/>
          <a:stretch>
            <a:fillRect/>
          </a:stretch>
        </p:blipFill>
        <p:spPr>
          <a:xfrm>
            <a:off x="5875587" y="2291259"/>
            <a:ext cx="5960517" cy="3259733"/>
          </a:xfrm>
          <a:prstGeom prst="rect">
            <a:avLst/>
          </a:prstGeom>
        </p:spPr>
      </p:pic>
    </p:spTree>
    <p:extLst>
      <p:ext uri="{BB962C8B-B14F-4D97-AF65-F5344CB8AC3E}">
        <p14:creationId xmlns:p14="http://schemas.microsoft.com/office/powerpoint/2010/main" val="896773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Checkpoints and partition ownership</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crashed instance's partitions resume from the last checkpoint</a:t>
            </a:r>
            <a:endParaRPr lang="en-US" sz="2000" dirty="0"/>
          </a:p>
        </p:txBody>
      </p:sp>
      <p:sp>
        <p:nvSpPr>
          <p:cNvPr id="4" name="Text 2"/>
          <p:cNvSpPr/>
          <p:nvPr/>
        </p:nvSpPr>
        <p:spPr>
          <a:xfrm>
            <a:off x="609600" y="2804396"/>
            <a:ext cx="4961294" cy="2181225"/>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EventProcessorClient</a:t>
            </a:r>
            <a:r>
              <a:rPr lang="en-US" sz="1400" dirty="0">
                <a:solidFill>
                  <a:srgbClr val="1B365D"/>
                </a:solidFill>
                <a:latin typeface="Poppins" pitchFamily="34" charset="0"/>
                <a:ea typeface="Poppins" pitchFamily="34" charset="-122"/>
                <a:cs typeface="Poppins" pitchFamily="34" charset="-120"/>
              </a:rPr>
              <a:t> stores ownership and checkpoints in a </a:t>
            </a:r>
            <a:r>
              <a:rPr lang="en-US" sz="1400" dirty="0">
                <a:solidFill>
                  <a:srgbClr val="1B365D"/>
                </a:solidFill>
                <a:highlight>
                  <a:srgbClr val="F2F2F2"/>
                </a:highlight>
                <a:latin typeface="Consolas" pitchFamily="34" charset="0"/>
                <a:ea typeface="Consolas" pitchFamily="34" charset="-122"/>
                <a:cs typeface="Consolas" pitchFamily="34" charset="-120"/>
              </a:rPr>
              <a:t>BlobContainerClient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Instances claim partitions until the load is balanced</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After a crash, another instance takes over from the last checkpoint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Delivery is </a:t>
            </a:r>
            <a:r>
              <a:rPr lang="en-US" sz="1400" b="1" dirty="0">
                <a:solidFill>
                  <a:srgbClr val="1B365D"/>
                </a:solidFill>
                <a:latin typeface="Poppins Bold" pitchFamily="34" charset="0"/>
                <a:ea typeface="Poppins Bold" pitchFamily="34" charset="-122"/>
                <a:cs typeface="Poppins Bold" pitchFamily="34" charset="-120"/>
              </a:rPr>
              <a:t>at least once</a:t>
            </a:r>
            <a:r>
              <a:rPr lang="en-US" sz="1400" dirty="0">
                <a:solidFill>
                  <a:srgbClr val="1B365D"/>
                </a:solidFill>
                <a:latin typeface="Poppins" pitchFamily="34" charset="0"/>
                <a:ea typeface="Poppins" pitchFamily="34" charset="-122"/>
                <a:cs typeface="Poppins" pitchFamily="34" charset="-120"/>
              </a:rPr>
              <a:t>, so the handler must be idempotent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Capture</a:t>
            </a:r>
            <a:r>
              <a:rPr lang="en-US" sz="1400" dirty="0">
                <a:solidFill>
                  <a:srgbClr val="1B365D"/>
                </a:solidFill>
                <a:latin typeface="Poppins" pitchFamily="34" charset="0"/>
                <a:ea typeface="Poppins" pitchFamily="34" charset="-122"/>
                <a:cs typeface="Poppins" pitchFamily="34" charset="-120"/>
              </a:rPr>
              <a:t> archives the stream to storage in Avro format</a:t>
            </a:r>
            <a:endParaRPr lang="en-US" sz="1400" dirty="0"/>
          </a:p>
        </p:txBody>
      </p:sp>
      <p:pic>
        <p:nvPicPr>
          <p:cNvPr id="5" name="Image 0" descr="preencoded.png"/>
          <p:cNvPicPr>
            <a:picLocks noChangeAspect="1"/>
          </p:cNvPicPr>
          <p:nvPr/>
        </p:nvPicPr>
        <p:blipFill>
          <a:blip r:embed="rId3"/>
          <a:stretch>
            <a:fillRect/>
          </a:stretch>
        </p:blipFill>
        <p:spPr>
          <a:xfrm>
            <a:off x="5875587" y="2206625"/>
            <a:ext cx="5208457" cy="3428901"/>
          </a:xfrm>
          <a:prstGeom prst="rect">
            <a:avLst/>
          </a:prstGeom>
        </p:spPr>
      </p:pic>
    </p:spTree>
    <p:extLst>
      <p:ext uri="{BB962C8B-B14F-4D97-AF65-F5344CB8AC3E}">
        <p14:creationId xmlns:p14="http://schemas.microsoft.com/office/powerpoint/2010/main" val="185321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Event Hubs: Kafka-Compatible Streaming</a:t>
            </a:r>
          </a:p>
          <a:p>
            <a:pPr>
              <a:lnSpc>
                <a:spcPct val="95000"/>
              </a:lnSpc>
              <a:spcBef>
                <a:spcPts val="1400"/>
              </a:spcBef>
            </a:pPr>
            <a:r>
              <a:rPr sz="2000" b="0">
                <a:solidFill>
                  <a:srgbClr val="595F67"/>
                </a:solidFill>
                <a:latin typeface="Poppins"/>
              </a:rPr>
              <a:t>Kafka clients on port 9093 with PLAIN or OAUTHBEARER</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The Kafka endpoint of Event Hubs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Kafka clients keep their code and change their connection settings</a:t>
            </a:r>
            <a:endParaRPr lang="en-US" sz="2000" dirty="0"/>
          </a:p>
        </p:txBody>
      </p:sp>
      <p:sp>
        <p:nvSpPr>
          <p:cNvPr id="4" name="Text 2"/>
          <p:cNvSpPr/>
          <p:nvPr/>
        </p:nvSpPr>
        <p:spPr>
          <a:xfrm>
            <a:off x="609600" y="2679588"/>
            <a:ext cx="4961294"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Port 9093 on the namespace (9092 in the emulator); a Kafka topic is an </a:t>
            </a:r>
            <a:r>
              <a:rPr lang="en-US" sz="1400" b="1" dirty="0">
                <a:solidFill>
                  <a:srgbClr val="1B365D"/>
                </a:solidFill>
                <a:latin typeface="Poppins Bold" pitchFamily="34" charset="0"/>
                <a:ea typeface="Poppins Bold" pitchFamily="34" charset="-122"/>
                <a:cs typeface="Poppins Bold" pitchFamily="34" charset="-120"/>
              </a:rPr>
              <a:t>event hub</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Standard, Premium and Dedicated tiers; Basic has no Kafka endpoint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SASL_SSL</a:t>
            </a:r>
            <a:r>
              <a:rPr lang="en-US" sz="1400" dirty="0">
                <a:solidFill>
                  <a:srgbClr val="1B365D"/>
                </a:solidFill>
                <a:latin typeface="Poppins" pitchFamily="34" charset="0"/>
                <a:ea typeface="Poppins" pitchFamily="34" charset="-122"/>
                <a:cs typeface="Poppins" pitchFamily="34" charset="-120"/>
              </a:rPr>
              <a:t> with </a:t>
            </a:r>
            <a:r>
              <a:rPr lang="en-US" sz="1400" b="1" dirty="0">
                <a:solidFill>
                  <a:srgbClr val="1B365D"/>
                </a:solidFill>
                <a:latin typeface="Poppins Bold" pitchFamily="34" charset="0"/>
                <a:ea typeface="Poppins Bold" pitchFamily="34" charset="-122"/>
                <a:cs typeface="Poppins Bold" pitchFamily="34" charset="-120"/>
              </a:rPr>
              <a:t>PLAIN</a:t>
            </a:r>
            <a:r>
              <a:rPr lang="en-US" sz="1400" dirty="0">
                <a:solidFill>
                  <a:srgbClr val="1B365D"/>
                </a:solidFill>
                <a:latin typeface="Poppins" pitchFamily="34" charset="0"/>
                <a:ea typeface="Poppins" pitchFamily="34" charset="-122"/>
                <a:cs typeface="Poppins" pitchFamily="34" charset="-120"/>
              </a:rPr>
              <a:t> and a connection string, or </a:t>
            </a:r>
            <a:r>
              <a:rPr lang="en-US" sz="1400" b="1" dirty="0">
                <a:solidFill>
                  <a:srgbClr val="1B365D"/>
                </a:solidFill>
                <a:latin typeface="Poppins Bold" pitchFamily="34" charset="0"/>
                <a:ea typeface="Poppins Bold" pitchFamily="34" charset="-122"/>
                <a:cs typeface="Poppins Bold" pitchFamily="34" charset="-120"/>
              </a:rPr>
              <a:t>OAUTHBEARER</a:t>
            </a:r>
            <a:r>
              <a:rPr lang="en-US" sz="1400" dirty="0">
                <a:solidFill>
                  <a:srgbClr val="1B365D"/>
                </a:solidFill>
                <a:latin typeface="Poppins" pitchFamily="34" charset="0"/>
                <a:ea typeface="Poppins" pitchFamily="34" charset="-122"/>
                <a:cs typeface="Poppins" pitchFamily="34" charset="-120"/>
              </a:rPr>
              <a:t> and an Entra ID token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message key picks the partition, so each van's positions stay in order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Only gzip compression; treat Kafka Streams and transactions as preview</a:t>
            </a:r>
            <a:endParaRPr lang="en-US" sz="1400" dirty="0"/>
          </a:p>
        </p:txBody>
      </p:sp>
      <p:pic>
        <p:nvPicPr>
          <p:cNvPr id="5" name="Image 0" descr="preencoded.png"/>
          <p:cNvPicPr>
            <a:picLocks noChangeAspect="1"/>
          </p:cNvPicPr>
          <p:nvPr/>
        </p:nvPicPr>
        <p:blipFill>
          <a:blip r:embed="rId3"/>
          <a:stretch>
            <a:fillRect/>
          </a:stretch>
        </p:blipFill>
        <p:spPr>
          <a:xfrm>
            <a:off x="5875587" y="2710359"/>
            <a:ext cx="5960517" cy="2421434"/>
          </a:xfrm>
          <a:prstGeom prst="rect">
            <a:avLst/>
          </a:prstGeom>
        </p:spPr>
      </p:pic>
    </p:spTree>
    <p:extLst>
      <p:ext uri="{BB962C8B-B14F-4D97-AF65-F5344CB8AC3E}">
        <p14:creationId xmlns:p14="http://schemas.microsoft.com/office/powerpoint/2010/main" val="3006814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SignalR Service: Push to Browsers</a:t>
            </a:r>
          </a:p>
          <a:p>
            <a:pPr>
              <a:lnSpc>
                <a:spcPct val="95000"/>
              </a:lnSpc>
              <a:spcBef>
                <a:spcPts val="1400"/>
              </a:spcBef>
            </a:pPr>
            <a:r>
              <a:rPr sz="2000" b="0">
                <a:solidFill>
                  <a:srgbClr val="595F67"/>
                </a:solidFill>
                <a:latin typeface="Poppins"/>
              </a:rPr>
              <a:t>Default and Serverless modes, the ops console client</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Event-Driven Distributed Apps on Azure: Aspire, Dapr &amp; Durable Execution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SignalR Service modes</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Who holds the browser connections</a:t>
            </a:r>
            <a:endParaRPr lang="en-US" sz="2000" dirty="0"/>
          </a:p>
        </p:txBody>
      </p:sp>
      <p:sp>
        <p:nvSpPr>
          <p:cNvPr id="4" name="Text 2"/>
          <p:cNvSpPr/>
          <p:nvPr/>
        </p:nvSpPr>
        <p:spPr>
          <a:xfrm>
            <a:off x="609600" y="2679587"/>
            <a:ext cx="4961294" cy="26852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Default</a:t>
            </a:r>
            <a:r>
              <a:rPr lang="en-US" sz="1400" dirty="0">
                <a:solidFill>
                  <a:srgbClr val="1B365D"/>
                </a:solidFill>
                <a:latin typeface="Poppins" pitchFamily="34" charset="0"/>
                <a:ea typeface="Poppins" pitchFamily="34" charset="-122"/>
                <a:cs typeface="Poppins" pitchFamily="34" charset="-120"/>
              </a:rPr>
              <a:t>: your server hosts the hub, and the service proxies each client to it</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AddAzureSignalR</a:t>
            </a:r>
            <a:r>
              <a:rPr lang="en-US" sz="1400" dirty="0">
                <a:solidFill>
                  <a:srgbClr val="1B365D"/>
                </a:solidFill>
                <a:latin typeface="Poppins" pitchFamily="34" charset="0"/>
                <a:ea typeface="Poppins" pitchFamily="34" charset="-122"/>
                <a:cs typeface="Poppins" pitchFamily="34" charset="-120"/>
              </a:rPr>
              <a:t> on the </a:t>
            </a:r>
            <a:r>
              <a:rPr lang="en-US" sz="1400" dirty="0">
                <a:solidFill>
                  <a:srgbClr val="1B365D"/>
                </a:solidFill>
                <a:highlight>
                  <a:srgbClr val="F2F2F2"/>
                </a:highlight>
                <a:latin typeface="Consolas" pitchFamily="34" charset="0"/>
                <a:ea typeface="Consolas" pitchFamily="34" charset="-122"/>
                <a:cs typeface="Consolas" pitchFamily="34" charset="-120"/>
              </a:rPr>
              <a:t>AddSignalR</a:t>
            </a:r>
            <a:r>
              <a:rPr lang="en-US" sz="1400" dirty="0">
                <a:solidFill>
                  <a:srgbClr val="1B365D"/>
                </a:solidFill>
                <a:latin typeface="Poppins" pitchFamily="34" charset="0"/>
                <a:ea typeface="Poppins" pitchFamily="34" charset="-122"/>
                <a:cs typeface="Poppins" pitchFamily="34" charset="-120"/>
              </a:rPr>
              <a:t> registration, only when the connection string is set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Serverless</a:t>
            </a:r>
            <a:r>
              <a:rPr lang="en-US" sz="1400" dirty="0">
                <a:solidFill>
                  <a:srgbClr val="1B365D"/>
                </a:solidFill>
                <a:latin typeface="Poppins" pitchFamily="34" charset="0"/>
                <a:ea typeface="Poppins" pitchFamily="34" charset="-122"/>
                <a:cs typeface="Poppins" pitchFamily="34" charset="-120"/>
              </a:rPr>
              <a:t>: a </a:t>
            </a:r>
            <a:r>
              <a:rPr lang="en-US" sz="1400" dirty="0">
                <a:solidFill>
                  <a:srgbClr val="1B365D"/>
                </a:solidFill>
                <a:highlight>
                  <a:srgbClr val="F2F2F2"/>
                </a:highlight>
                <a:latin typeface="Consolas" pitchFamily="34" charset="0"/>
                <a:ea typeface="Consolas" pitchFamily="34" charset="-122"/>
                <a:cs typeface="Consolas" pitchFamily="34" charset="-120"/>
              </a:rPr>
              <a:t>negotiate</a:t>
            </a:r>
            <a:r>
              <a:rPr lang="en-US" sz="1400" dirty="0">
                <a:solidFill>
                  <a:srgbClr val="1B365D"/>
                </a:solidFill>
                <a:latin typeface="Poppins" pitchFamily="34" charset="0"/>
                <a:ea typeface="Poppins" pitchFamily="34" charset="-122"/>
                <a:cs typeface="Poppins" pitchFamily="34" charset="-120"/>
              </a:rPr>
              <a:t> function and </a:t>
            </a:r>
            <a:r>
              <a:rPr lang="en-US" sz="1400" dirty="0">
                <a:solidFill>
                  <a:srgbClr val="1B365D"/>
                </a:solidFill>
                <a:highlight>
                  <a:srgbClr val="F2F2F2"/>
                </a:highlight>
                <a:latin typeface="Consolas" pitchFamily="34" charset="0"/>
                <a:ea typeface="Consolas" pitchFamily="34" charset="-122"/>
                <a:cs typeface="Consolas" pitchFamily="34" charset="-120"/>
              </a:rPr>
              <a:t>SignalROutput</a:t>
            </a:r>
            <a:r>
              <a:rPr lang="en-US" sz="1400" dirty="0">
                <a:solidFill>
                  <a:srgbClr val="1B365D"/>
                </a:solidFill>
                <a:latin typeface="Poppins" pitchFamily="34" charset="0"/>
                <a:ea typeface="Poppins" pitchFamily="34" charset="-122"/>
                <a:cs typeface="Poppins" pitchFamily="34" charset="-120"/>
              </a:rPr>
              <a:t>, with no hub server</a:t>
            </a:r>
            <a:endParaRPr lang="en-US" sz="1400" dirty="0"/>
          </a:p>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withAutomaticReconnect</a:t>
            </a:r>
            <a:r>
              <a:rPr lang="en-US" sz="1400" dirty="0">
                <a:solidFill>
                  <a:srgbClr val="1B365D"/>
                </a:solidFill>
                <a:latin typeface="Poppins" pitchFamily="34" charset="0"/>
                <a:ea typeface="Poppins" pitchFamily="34" charset="-122"/>
                <a:cs typeface="Poppins" pitchFamily="34" charset="-120"/>
              </a:rPr>
              <a:t> retries after 0, 2, 10 and 30 seconds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120"/>
              </a:rPr>
              <a:t>Web PubSub</a:t>
            </a:r>
            <a:r>
              <a:rPr lang="en-US" sz="1400" dirty="0">
                <a:solidFill>
                  <a:srgbClr val="1B365D"/>
                </a:solidFill>
                <a:latin typeface="Poppins" pitchFamily="34" charset="0"/>
                <a:ea typeface="Poppins" pitchFamily="34" charset="-122"/>
                <a:cs typeface="Poppins" pitchFamily="34" charset="-120"/>
              </a:rPr>
              <a:t> fits when you need a WebSocket protocol of your own</a:t>
            </a:r>
            <a:endParaRPr lang="en-US" sz="1400" dirty="0"/>
          </a:p>
        </p:txBody>
      </p:sp>
      <p:pic>
        <p:nvPicPr>
          <p:cNvPr id="5" name="Image 0" descr="preencoded.png"/>
          <p:cNvPicPr>
            <a:picLocks noChangeAspect="1"/>
          </p:cNvPicPr>
          <p:nvPr/>
        </p:nvPicPr>
        <p:blipFill>
          <a:blip r:embed="rId3"/>
          <a:stretch>
            <a:fillRect/>
          </a:stretch>
        </p:blipFill>
        <p:spPr>
          <a:xfrm>
            <a:off x="5875587" y="2586137"/>
            <a:ext cx="5960517" cy="2669877"/>
          </a:xfrm>
          <a:prstGeom prst="rect">
            <a:avLst/>
          </a:prstGeom>
        </p:spPr>
      </p:pic>
    </p:spTree>
    <p:extLst>
      <p:ext uri="{BB962C8B-B14F-4D97-AF65-F5344CB8AC3E}">
        <p14:creationId xmlns:p14="http://schemas.microsoft.com/office/powerpoint/2010/main" val="3704296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Streaming van positions to a live map</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The lab in five steps, from the van simulator to the partner queue</a:t>
            </a:r>
            <a:endParaRPr lang="en-US" sz="2000" dirty="0"/>
          </a:p>
        </p:txBody>
      </p:sp>
      <p:sp>
        <p:nvSpPr>
          <p:cNvPr id="4" name="Text 2"/>
          <p:cNvSpPr/>
          <p:nvPr/>
        </p:nvSpPr>
        <p:spPr>
          <a:xfrm>
            <a:off x="609600" y="2680825"/>
            <a:ext cx="4961294" cy="26789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The lab starts from the lab 4 solution, with an empty map and no partner events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 1: a van simulator sends keyed positions over </a:t>
            </a:r>
            <a:r>
              <a:rPr lang="en-US" sz="1400" b="1" dirty="0">
                <a:solidFill>
                  <a:srgbClr val="1B365D"/>
                </a:solidFill>
                <a:latin typeface="Poppins Bold" pitchFamily="34" charset="0"/>
                <a:ea typeface="Poppins Bold" pitchFamily="34" charset="-122"/>
                <a:cs typeface="Poppins Bold" pitchFamily="34" charset="-120"/>
              </a:rPr>
              <a:t>Kafka</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2 and 3: a checkpointed processor pushes them through </a:t>
            </a:r>
            <a:r>
              <a:rPr lang="en-US" sz="1400" b="1" dirty="0">
                <a:solidFill>
                  <a:srgbClr val="1B365D"/>
                </a:solidFill>
                <a:latin typeface="Poppins Bold" pitchFamily="34" charset="0"/>
                <a:ea typeface="Poppins Bold" pitchFamily="34" charset="-122"/>
                <a:cs typeface="Poppins Bold" pitchFamily="34" charset="-120"/>
              </a:rPr>
              <a:t>Azure SignalR Service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Steps 4 and 5: a proof-of-delivery photo publishes </a:t>
            </a:r>
            <a:r>
              <a:rPr lang="en-US" sz="1400" dirty="0">
                <a:solidFill>
                  <a:srgbClr val="1B365D"/>
                </a:solidFill>
                <a:highlight>
                  <a:srgbClr val="F2F2F2"/>
                </a:highlight>
                <a:latin typeface="Consolas" pitchFamily="34" charset="0"/>
                <a:ea typeface="Consolas" pitchFamily="34" charset="-122"/>
                <a:cs typeface="Consolas" pitchFamily="34" charset="-120"/>
              </a:rPr>
              <a:t>ParcelDelivered</a:t>
            </a:r>
            <a:r>
              <a:rPr lang="en-US" sz="1400" dirty="0">
                <a:solidFill>
                  <a:srgbClr val="1B365D"/>
                </a:solidFill>
                <a:latin typeface="Poppins" pitchFamily="34" charset="0"/>
                <a:ea typeface="Poppins" pitchFamily="34" charset="-122"/>
                <a:cs typeface="Poppins" pitchFamily="34" charset="-120"/>
              </a:rPr>
              <a:t> to the partner queue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About 45 minutes, with Docker Desktop and </a:t>
            </a:r>
            <a:r>
              <a:rPr lang="en-US" sz="1400" dirty="0">
                <a:solidFill>
                  <a:srgbClr val="1B365D"/>
                </a:solidFill>
                <a:highlight>
                  <a:srgbClr val="F2F2F2"/>
                </a:highlight>
                <a:latin typeface="Consolas" pitchFamily="34" charset="0"/>
                <a:ea typeface="Consolas" pitchFamily="34" charset="-122"/>
                <a:cs typeface="Consolas" pitchFamily="34" charset="-120"/>
              </a:rPr>
              <a:t>provision.azcli</a:t>
            </a:r>
            <a:endParaRPr lang="en-US" sz="1400" dirty="0"/>
          </a:p>
        </p:txBody>
      </p:sp>
      <p:pic>
        <p:nvPicPr>
          <p:cNvPr id="5" name="Image 0" descr="preencoded.png"/>
          <p:cNvPicPr>
            <a:picLocks noChangeAspect="1"/>
          </p:cNvPicPr>
          <p:nvPr/>
        </p:nvPicPr>
        <p:blipFill>
          <a:blip r:embed="rId3"/>
          <a:stretch>
            <a:fillRect/>
          </a:stretch>
        </p:blipFill>
        <p:spPr>
          <a:xfrm>
            <a:off x="5875587" y="2206625"/>
            <a:ext cx="4840762" cy="3428901"/>
          </a:xfrm>
          <a:prstGeom prst="rect">
            <a:avLst/>
          </a:prstGeom>
        </p:spPr>
      </p:pic>
    </p:spTree>
    <p:extLst>
      <p:ext uri="{BB962C8B-B14F-4D97-AF65-F5344CB8AC3E}">
        <p14:creationId xmlns:p14="http://schemas.microsoft.com/office/powerpoint/2010/main" val="1243744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11176000"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Checkpointing the van position processor</a:t>
            </a:r>
            <a:endParaRPr lang="en-US" sz="3000" dirty="0"/>
          </a:p>
        </p:txBody>
      </p:sp>
      <p:sp>
        <p:nvSpPr>
          <p:cNvPr id="3" name="Text 1"/>
          <p:cNvSpPr/>
          <p:nvPr/>
        </p:nvSpPr>
        <p:spPr>
          <a:xfrm>
            <a:off x="609600" y="1062673"/>
            <a:ext cx="11176000"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A restart replays from the last checkpoint and skips no position</a:t>
            </a:r>
            <a:endParaRPr lang="en-US" sz="2000" dirty="0"/>
          </a:p>
        </p:txBody>
      </p:sp>
      <p:sp>
        <p:nvSpPr>
          <p:cNvPr id="4" name="Text 2"/>
          <p:cNvSpPr/>
          <p:nvPr/>
        </p:nvSpPr>
        <p:spPr>
          <a:xfrm>
            <a:off x="609600" y="2679586"/>
            <a:ext cx="4961294" cy="2704306"/>
          </a:xfrm>
          <a:prstGeom prst="rect">
            <a:avLst/>
          </a:prstGeom>
          <a:noFill/>
          <a:ln/>
        </p:spPr>
        <p:txBody>
          <a:bodyPr wrap="square" lIns="0" tIns="0" rIns="0" bIns="0" rtlCol="0" anchor="t">
            <a:normAutofit/>
          </a:bodyPr>
          <a:lstStyle/>
          <a:p>
            <a:pPr marL="284480" indent="-284480" algn="l">
              <a:lnSpc>
                <a:spcPct val="117000"/>
              </a:lnSpc>
              <a:buSzPct val="100000"/>
              <a:buFont typeface="Poppins"/>
              <a:buChar char="•"/>
            </a:pPr>
            <a:r>
              <a:rPr lang="en-US" sz="1400" dirty="0">
                <a:solidFill>
                  <a:srgbClr val="1B365D"/>
                </a:solidFill>
                <a:highlight>
                  <a:srgbClr val="F2F2F2"/>
                </a:highlight>
                <a:latin typeface="Consolas" pitchFamily="34" charset="0"/>
                <a:ea typeface="Consolas" pitchFamily="34" charset="-122"/>
                <a:cs typeface="Consolas" pitchFamily="34" charset="-120"/>
              </a:rPr>
              <a:t>VanPositionProcessor</a:t>
            </a:r>
            <a:r>
              <a:rPr lang="en-US" sz="1400" dirty="0">
                <a:solidFill>
                  <a:srgbClr val="1B365D"/>
                </a:solidFill>
                <a:latin typeface="Poppins" pitchFamily="34" charset="0"/>
                <a:ea typeface="Poppins" pitchFamily="34" charset="-122"/>
                <a:cs typeface="Poppins" pitchFamily="34" charset="-120"/>
              </a:rPr>
              <a:t> reads </a:t>
            </a:r>
            <a:r>
              <a:rPr lang="en-US" sz="1400" dirty="0">
                <a:solidFill>
                  <a:srgbClr val="1B365D"/>
                </a:solidFill>
                <a:highlight>
                  <a:srgbClr val="F2F2F2"/>
                </a:highlight>
                <a:latin typeface="Consolas" pitchFamily="34" charset="0"/>
                <a:ea typeface="Consolas" pitchFamily="34" charset="-122"/>
                <a:cs typeface="Consolas" pitchFamily="34" charset="-120"/>
              </a:rPr>
              <a:t>van-positions</a:t>
            </a:r>
            <a:r>
              <a:rPr lang="en-US" sz="1400" dirty="0">
                <a:solidFill>
                  <a:srgbClr val="1B365D"/>
                </a:solidFill>
                <a:latin typeface="Poppins" pitchFamily="34" charset="0"/>
                <a:ea typeface="Poppins" pitchFamily="34" charset="-122"/>
                <a:cs typeface="Poppins" pitchFamily="34" charset="-120"/>
              </a:rPr>
              <a:t> through the </a:t>
            </a:r>
            <a:r>
              <a:rPr lang="en-US" sz="1400" dirty="0">
                <a:solidFill>
                  <a:srgbClr val="1B365D"/>
                </a:solidFill>
                <a:highlight>
                  <a:srgbClr val="F2F2F2"/>
                </a:highlight>
                <a:latin typeface="Consolas" pitchFamily="34" charset="0"/>
                <a:ea typeface="Consolas" pitchFamily="34" charset="-122"/>
                <a:cs typeface="Consolas" pitchFamily="34" charset="-120"/>
              </a:rPr>
              <a:t>ops-console</a:t>
            </a:r>
            <a:r>
              <a:rPr lang="en-US" sz="1400" dirty="0">
                <a:solidFill>
                  <a:srgbClr val="1B365D"/>
                </a:solidFill>
                <a:latin typeface="Poppins" pitchFamily="34" charset="0"/>
                <a:ea typeface="Poppins" pitchFamily="34" charset="-122"/>
                <a:cs typeface="Poppins" pitchFamily="34" charset="-120"/>
              </a:rPr>
              <a:t> consumer group</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Each position goes out with </a:t>
            </a:r>
            <a:r>
              <a:rPr lang="en-US" sz="1400" dirty="0">
                <a:solidFill>
                  <a:srgbClr val="1B365D"/>
                </a:solidFill>
                <a:highlight>
                  <a:srgbClr val="F2F2F2"/>
                </a:highlight>
                <a:latin typeface="Consolas" pitchFamily="34" charset="0"/>
                <a:ea typeface="Consolas" pitchFamily="34" charset="-122"/>
                <a:cs typeface="Consolas" pitchFamily="34" charset="-120"/>
              </a:rPr>
              <a:t>SendAsync</a:t>
            </a:r>
            <a:r>
              <a:rPr lang="en-US" sz="1400" dirty="0">
                <a:solidFill>
                  <a:srgbClr val="1B365D"/>
                </a:solidFill>
                <a:latin typeface="Poppins" pitchFamily="34" charset="0"/>
                <a:ea typeface="Poppins" pitchFamily="34" charset="-122"/>
                <a:cs typeface="Poppins" pitchFamily="34" charset="-120"/>
              </a:rPr>
              <a:t> before </a:t>
            </a:r>
            <a:r>
              <a:rPr lang="en-US" sz="1400" dirty="0">
                <a:solidFill>
                  <a:srgbClr val="1B365D"/>
                </a:solidFill>
                <a:highlight>
                  <a:srgbClr val="F2F2F2"/>
                </a:highlight>
                <a:latin typeface="Consolas" pitchFamily="34" charset="0"/>
                <a:ea typeface="Consolas" pitchFamily="34" charset="-122"/>
                <a:cs typeface="Consolas" pitchFamily="34" charset="-120"/>
              </a:rPr>
              <a:t>UpdateCheckpointAsync</a:t>
            </a:r>
            <a:r>
              <a:rPr lang="en-US" sz="1400" dirty="0">
                <a:solidFill>
                  <a:srgbClr val="1B365D"/>
                </a:solidFill>
                <a:latin typeface="Poppins" pitchFamily="34" charset="0"/>
                <a:ea typeface="Poppins" pitchFamily="34" charset="-122"/>
                <a:cs typeface="Poppins" pitchFamily="34" charset="-120"/>
              </a:rPr>
              <a:t> stores the checkpoint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Checkpoints live in the </a:t>
            </a:r>
            <a:r>
              <a:rPr lang="en-US" sz="1400" dirty="0">
                <a:solidFill>
                  <a:srgbClr val="1B365D"/>
                </a:solidFill>
                <a:highlight>
                  <a:srgbClr val="F2F2F2"/>
                </a:highlight>
                <a:latin typeface="Consolas" pitchFamily="34" charset="0"/>
                <a:ea typeface="Consolas" pitchFamily="34" charset="-122"/>
                <a:cs typeface="Consolas" pitchFamily="34" charset="-120"/>
              </a:rPr>
              <a:t>ops-console</a:t>
            </a:r>
            <a:r>
              <a:rPr lang="en-US" sz="1400" dirty="0">
                <a:solidFill>
                  <a:srgbClr val="1B365D"/>
                </a:solidFill>
                <a:latin typeface="Poppins" pitchFamily="34" charset="0"/>
                <a:ea typeface="Poppins" pitchFamily="34" charset="-122"/>
                <a:cs typeface="Poppins" pitchFamily="34" charset="-120"/>
              </a:rPr>
              <a:t> blob container in Azurite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After a restart, the last pushed position can reach the map twice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Test it: stop and start </a:t>
            </a:r>
            <a:r>
              <a:rPr lang="en-US" sz="1400" dirty="0">
                <a:solidFill>
                  <a:srgbClr val="1B365D"/>
                </a:solidFill>
                <a:highlight>
                  <a:srgbClr val="F2F2F2"/>
                </a:highlight>
                <a:latin typeface="Consolas" pitchFamily="34" charset="0"/>
                <a:ea typeface="Consolas" pitchFamily="34" charset="-122"/>
                <a:cs typeface="Consolas" pitchFamily="34" charset="-120"/>
              </a:rPr>
              <a:t>telemetry-ingest</a:t>
            </a:r>
            <a:r>
              <a:rPr lang="en-US" sz="1400" dirty="0">
                <a:solidFill>
                  <a:srgbClr val="1B365D"/>
                </a:solidFill>
                <a:latin typeface="Poppins" pitchFamily="34" charset="0"/>
                <a:ea typeface="Poppins" pitchFamily="34" charset="-122"/>
                <a:cs typeface="Poppins" pitchFamily="34" charset="-120"/>
              </a:rPr>
              <a:t>, and every van's sequence continues without a gap</a:t>
            </a:r>
            <a:endParaRPr lang="en-US" sz="1400" dirty="0"/>
          </a:p>
        </p:txBody>
      </p:sp>
      <p:pic>
        <p:nvPicPr>
          <p:cNvPr id="5" name="Image 0" descr="preencoded.png"/>
          <p:cNvPicPr>
            <a:picLocks noChangeAspect="1"/>
          </p:cNvPicPr>
          <p:nvPr/>
        </p:nvPicPr>
        <p:blipFill>
          <a:blip r:embed="rId3"/>
          <a:stretch>
            <a:fillRect/>
          </a:stretch>
        </p:blipFill>
        <p:spPr>
          <a:xfrm>
            <a:off x="5875587" y="2477492"/>
            <a:ext cx="5960517" cy="2887166"/>
          </a:xfrm>
          <a:prstGeom prst="rect">
            <a:avLst/>
          </a:prstGeom>
        </p:spPr>
      </p:pic>
    </p:spTree>
    <p:extLst>
      <p:ext uri="{BB962C8B-B14F-4D97-AF65-F5344CB8AC3E}">
        <p14:creationId xmlns:p14="http://schemas.microsoft.com/office/powerpoint/2010/main" val="1686877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487321"/>
            <a:ext cx="5130656"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120"/>
              </a:rPr>
              <a:t>Takeaways</a:t>
            </a:r>
            <a:endParaRPr lang="en-US" sz="3000" dirty="0"/>
          </a:p>
        </p:txBody>
      </p:sp>
      <p:sp>
        <p:nvSpPr>
          <p:cNvPr id="3" name="Text 1"/>
          <p:cNvSpPr/>
          <p:nvPr/>
        </p:nvSpPr>
        <p:spPr>
          <a:xfrm>
            <a:off x="609600" y="2092794"/>
            <a:ext cx="5130656" cy="566309"/>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120"/>
              </a:rPr>
              <a:t>What to carry into event sourcing and CQRS</a:t>
            </a:r>
            <a:endParaRPr lang="en-US" sz="2000" dirty="0"/>
          </a:p>
        </p:txBody>
      </p:sp>
      <p:sp>
        <p:nvSpPr>
          <p:cNvPr id="4" name="Text 2"/>
          <p:cNvSpPr/>
          <p:nvPr/>
        </p:nvSpPr>
        <p:spPr>
          <a:xfrm>
            <a:off x="609600" y="2887703"/>
            <a:ext cx="5130656" cy="267255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Publish </a:t>
            </a:r>
            <a:r>
              <a:rPr lang="en-US" sz="1400" dirty="0">
                <a:solidFill>
                  <a:srgbClr val="1B365D"/>
                </a:solidFill>
                <a:highlight>
                  <a:srgbClr val="F2F2F2"/>
                </a:highlight>
                <a:latin typeface="Consolas" pitchFamily="34" charset="0"/>
                <a:ea typeface="Consolas" pitchFamily="34" charset="-122"/>
                <a:cs typeface="Consolas" pitchFamily="34" charset="-120"/>
              </a:rPr>
              <a:t>ParcelDelivered</a:t>
            </a:r>
            <a:r>
              <a:rPr lang="en-US" sz="1400" dirty="0">
                <a:solidFill>
                  <a:srgbClr val="1B365D"/>
                </a:solidFill>
                <a:latin typeface="Poppins" pitchFamily="34" charset="0"/>
                <a:ea typeface="Poppins" pitchFamily="34" charset="-122"/>
                <a:cs typeface="Poppins" pitchFamily="34" charset="-120"/>
              </a:rPr>
              <a:t> once and keep its event type stable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Give every subscription filters, a retry policy and a </a:t>
            </a:r>
            <a:r>
              <a:rPr lang="en-US" sz="1400" b="1" dirty="0">
                <a:solidFill>
                  <a:srgbClr val="1B365D"/>
                </a:solidFill>
                <a:latin typeface="Poppins Bold" pitchFamily="34" charset="0"/>
                <a:ea typeface="Poppins Bold" pitchFamily="34" charset="-122"/>
                <a:cs typeface="Poppins Bold" pitchFamily="34" charset="-120"/>
              </a:rPr>
              <a:t>dead-letter</a:t>
            </a:r>
            <a:r>
              <a:rPr lang="en-US" sz="1400" dirty="0">
                <a:solidFill>
                  <a:srgbClr val="1B365D"/>
                </a:solidFill>
                <a:latin typeface="Poppins" pitchFamily="34" charset="0"/>
                <a:ea typeface="Poppins" pitchFamily="34" charset="-122"/>
                <a:cs typeface="Poppins" pitchFamily="34" charset="-120"/>
              </a:rPr>
              <a:t> container</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Offer </a:t>
            </a:r>
            <a:r>
              <a:rPr lang="en-US" sz="1400" b="1" dirty="0">
                <a:solidFill>
                  <a:srgbClr val="1B365D"/>
                </a:solidFill>
                <a:latin typeface="Poppins Bold" pitchFamily="34" charset="0"/>
                <a:ea typeface="Poppins Bold" pitchFamily="34" charset="-122"/>
                <a:cs typeface="Poppins Bold" pitchFamily="34" charset="-120"/>
              </a:rPr>
              <a:t>pull</a:t>
            </a:r>
            <a:r>
              <a:rPr lang="en-US" sz="1400" dirty="0">
                <a:solidFill>
                  <a:srgbClr val="1B365D"/>
                </a:solidFill>
                <a:latin typeface="Poppins" pitchFamily="34" charset="0"/>
                <a:ea typeface="Poppins" pitchFamily="34" charset="-122"/>
                <a:cs typeface="Poppins" pitchFamily="34" charset="-120"/>
              </a:rPr>
              <a:t> delivery to partners that can't open an inbound port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Key by van ID, read with one consumer group per service, keep handlers idempotent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120"/>
              </a:rPr>
              <a:t>Push to browsers through </a:t>
            </a:r>
            <a:r>
              <a:rPr lang="en-US" sz="1400" b="1" dirty="0">
                <a:solidFill>
                  <a:srgbClr val="1B365D"/>
                </a:solidFill>
                <a:latin typeface="Poppins Bold" pitchFamily="34" charset="0"/>
                <a:ea typeface="Poppins Bold" pitchFamily="34" charset="-122"/>
                <a:cs typeface="Poppins Bold" pitchFamily="34" charset="-120"/>
              </a:rPr>
              <a:t>SignalR Service</a:t>
            </a:r>
            <a:r>
              <a:rPr lang="en-US" sz="1400" dirty="0">
                <a:solidFill>
                  <a:srgbClr val="1B365D"/>
                </a:solidFill>
                <a:latin typeface="Poppins" pitchFamily="34" charset="0"/>
                <a:ea typeface="Poppins" pitchFamily="34" charset="-122"/>
                <a:cs typeface="Poppins" pitchFamily="34" charset="-120"/>
              </a:rPr>
              <a:t> in Default mode</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extLst>
      <p:ext uri="{BB962C8B-B14F-4D97-AF65-F5344CB8AC3E}">
        <p14:creationId xmlns:p14="http://schemas.microsoft.com/office/powerpoint/2010/main" val="3960321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1843</Words>
  <Application>Microsoft Office PowerPoint</Application>
  <PresentationFormat>Widescreen</PresentationFormat>
  <Paragraphs>215</Paragraphs>
  <Slides>26</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Montserrat</vt:lpstr>
      <vt:lpstr>Consolas</vt:lpstr>
      <vt:lpstr>Montserrat Bold</vt:lpstr>
      <vt:lpstr>Wingdings</vt:lpstr>
      <vt:lpstr>IBM Plex Sans</vt:lpstr>
      <vt:lpstr>Arial</vt:lpstr>
      <vt:lpstr>Aptos</vt:lpstr>
      <vt:lpstr>Poppins</vt:lpstr>
      <vt:lpstr>IBM Plex Sans Light</vt:lpstr>
      <vt:lpstr>Poppins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2026-10-19T00:34:04Z</dcterms:created>
  <dcterms:modified xsi:type="dcterms:W3CDTF">2026-10-19T00:39:58Z</dcterms:modified>
</cp:coreProperties>
</file>