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262" r:id="rId14"/>
    <p:sldId id="508" r:id="rId15"/>
    <p:sldId id="263" r:id="rId16"/>
    <p:sldId id="264" r:id="rId17"/>
    <p:sldId id="509" r:id="rId18"/>
    <p:sldId id="265" r:id="rId19"/>
    <p:sldId id="266" r:id="rId20"/>
    <p:sldId id="510" r:id="rId21"/>
    <p:sldId id="267" r:id="rId22"/>
    <p:sldId id="268" r:id="rId23"/>
    <p:sldId id="269" r:id="rId24"/>
    <p:sldId id="270" r:id="rId25"/>
    <p:sldId id="271" r:id="rId26"/>
  </p:sldIdLst>
  <p:sldSz cx="12192000" cy="6858000"/>
  <p:notesSz cx="6858000" cy="12192000"/>
  <p:embeddedFontLst>
    <p:embeddedFont>
      <p:font typeface="Consolas" panose="020B0609020204030204" pitchFamily="49" charset="0"/>
      <p:regular r:id="rId28"/>
      <p:bold r:id="rId29"/>
      <p:italic r:id="rId30"/>
      <p:boldItalic r:id="rId31"/>
    </p:embeddedFont>
    <p:embeddedFont>
      <p:font typeface="IBM Plex Sans" panose="020B0503050203000203" pitchFamily="34" charset="0"/>
      <p:italic r:id="rId32"/>
    </p:embeddedFont>
    <p:embeddedFont>
      <p:font typeface="IBM Plex Sans Light" panose="020B0403050203000203" pitchFamily="34" charset="0"/>
      <p:regular r:id="rId33"/>
    </p:embeddedFont>
    <p:embeddedFont>
      <p:font typeface="Montserrat" panose="00000500000000000000" pitchFamily="2" charset="0"/>
      <p:regular r:id="rId34"/>
      <p:bold r:id="rId35"/>
      <p:italic r:id="rId36"/>
      <p:boldItalic r:id="rId37"/>
    </p:embeddedFont>
    <p:embeddedFont>
      <p:font typeface="Montserrat Bold" panose="00000800000000000000" pitchFamily="2" charset="0"/>
      <p:bold r:id="rId38"/>
    </p:embeddedFont>
    <p:embeddedFont>
      <p:font typeface="Poppins" panose="00000500000000000000" pitchFamily="2" charset="0"/>
      <p:regular r:id="rId39"/>
    </p:embeddedFont>
    <p:embeddedFont>
      <p:font typeface="Poppins Bold" panose="00000800000000000000" charset="0"/>
      <p:regular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font" Target="fonts/font12.fntdata"/><Relationship Id="rId40" Type="http://schemas.openxmlformats.org/officeDocument/2006/relationships/font" Target="fonts/font13.fntdata"/><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363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58450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40902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takes the Contoso Logistics services that modules 1 and 2 designed and modeled in an Aspire AppHost, and puts them on Azure.</a:t>
            </a:r>
          </a:p>
          <a:p/>
          <a:p>
            <a:r>
              <a:t>Deploy: most services run on Azure Container Apps, the managed host for this class, and `aspire deploy` provisions the registry, the environment and the apps. The routing service runs on AKS because it depends on Dapr actors.</a:t>
            </a:r>
          </a:p>
          <a:p/>
          <a:p>
            <a:r>
              <a:t>Configure: secrets live in Key Vault and settings in App Configuration, and each service reads them through a managed identity, so no password is stored.</a:t>
            </a:r>
          </a:p>
          <a:p/>
          <a:p>
            <a:r>
              <a:t>Release and trace: revisions shift traffic to a new version and drain message consumers, and Application Insights follows a parcel scan from the HTTP request to the Service Bus handler.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five topics once, in the order the module teaches them.</a:t>
            </a:r>
          </a:p>
          <a:p/>
          <a:p>
            <a:r>
              <a:t>Aspire Deploy: the AppHost declares the Container Apps environment, and `aspire deploy` provisions the registry, the environment and one container app per service.</a:t>
            </a:r>
          </a:p>
          <a:p/>
          <a:p>
            <a:r>
              <a:t>Key Vault and App Configuration: secrets and settings reach the services through a managed identity, and feature flags refresh on their own every 30 seconds by default.</a:t>
            </a:r>
          </a:p>
          <a:p/>
          <a:p>
            <a:r>
              <a:t>Revisions: a new release starts with a small traffic weight while the previous revision stays active for rollback. Consumers finish their in-flight messages before the platform stops the replica.</a:t>
            </a:r>
          </a:p>
          <a:p/>
          <a:p>
            <a:r>
              <a:t>AKS: the routing service keeps one Dapr actor per van, which Container Apps managed Dapr doesn't support, so Aspire generates its Kubernetes deployment from the same AppHost.</a:t>
            </a:r>
          </a:p>
          <a:p/>
          <a:p>
            <a:r>
              <a:t>Application Insights: the Azure Monitor distro sends the telemetry, and KQL joins the rows of one transaction by `OperationId`.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Logistics has nine components, and each one needs an image, a registry, an environment and an identity that can pull the image. This slide shows how the AppHost and one command create all of that.</a:t>
            </a:r>
          </a:p>
          <a:p/>
          <a:p>
            <a:r>
              <a:t>The environment as a resource: since Aspire 9.4 removed the hybrid mode, an app that targets Container Apps must declare the environment with `AddAzureContainerAppEnvironment`. The AppHost needs the `Aspire.Hosting.Azure.AppContainers` package for that call.</a:t>
            </a:r>
          </a:p>
          <a:p/>
          <a:p>
            <a:r>
              <a:t>One command: after `az login`, `aspire deploy` provisions the infrastructure, builds and pushes the images, deploys the apps and prints the dashboard URL. With `Azure__SubscriptionId`, `Azure__Location` and `Azure__ResourceGroup` set, `--non-interactive` skips the prompts.</a:t>
            </a:r>
          </a:p>
          <a:p/>
          <a:p>
            <a:r>
              <a:t>Image pull: the deployment creates the registry and a user-assigned managed identity with the image pull permission, so no registry credentials go into the deployment. Azure Files shares are created only when the model declares a volume or bind mount.</a:t>
            </a:r>
          </a:p>
          <a:p/>
          <a:p>
            <a:r>
              <a:t>Builds in the registry: `aspire deploy` builds on your machine with Docker Desktop or Podman, and a CI job can skip the local runtime with `az acr build`. `az containerapp update --image` then points the app at the new image and creates a new revision.</a:t>
            </a:r>
          </a:p>
          <a:p/>
          <a:p>
            <a:r>
              <a:t>Cleanup: `aspire destroy --yes` deletes the entire resource group. The Aspire CLI reference labels `aspire deploy` as preview, so confirm its status before a production pipeline depends on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the apps are deployed, ingress decides which services receive traffic from outside the environment.</a:t>
            </a:r>
          </a:p>
          <a:p/>
          <a:p>
            <a:r>
              <a:t>External or internal: `WithExternalHttpEndpoints` publishes an endpoint, and a service without it is reachable only from apps in the same environment. Use the external call only for endpoints that clients outside the environment must reach.</a:t>
            </a:r>
          </a:p>
          <a:p/>
          <a:p>
            <a:r>
              <a:t>The two public services: the lab's AppHost calls `WithExternalHttpEndpoints` on `shipping-api` and `tracking-service`, the two services that clients reach from outside.</a:t>
            </a:r>
          </a:p>
          <a:p/>
          <a:p>
            <a:r>
              <a:t>Calls by app name: `tracking-service` reaches `shipping-api` at `http://shipping-api`, and that traffic never leaves the environment. App names are 2 to 32 lowercase letters, numbers and hyphens, starting with a letter and ending with a letter or number.</a:t>
            </a:r>
          </a:p>
          <a:p/>
          <a:p>
            <a:r>
              <a:t>Health from outside: the shared service defaults map `/health` in every environment, not only Development, so an external endpoint can be probed from outside your machine.</a:t>
            </a:r>
          </a:p>
          <a:p/>
          <a:p>
            <a:r>
              <a:t>Local only: `ops-console` and `exception-agent` call `ExcludeFromManifest()`, so `aspire deploy` leaves them out and they run only in local runs.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Carrier API keys and connection details must not sit in `appsettings.json` or in plain environment variables. Key Vault holds them, and a managed identity removes the password.</a:t>
            </a:r>
          </a:p>
          <a:p/>
          <a:p>
            <a:r>
              <a:t>One credential type: `DefaultAzureCredential` decides at runtime, using the Azure CLI sign-in on a developer machine and the app's managed identity in Azure. The same code runs in both places without environment checks.</a:t>
            </a:r>
          </a:p>
          <a:p/>
          <a:p>
            <a:r>
              <a:t>The client: `SecretClient` takes the vault URI and that credential. The diagram shows the lab's health check reading `carrier-api-key` this way on every `/health` call.</a:t>
            </a:r>
          </a:p>
          <a:p/>
          <a:p>
            <a:r>
              <a:t>The role: grant the identity Key Vault Secrets User with `az role assignment create`, scoped to the vault's resource ID.</a:t>
            </a:r>
          </a:p>
          <a:p/>
          <a:p>
            <a:r>
              <a:t>Aspire wiring: the AppHost declares the vault with `AddAzureKeyVault` and references it from the service, and Aspire assigns roles on the vault. The AppHost needs the `Aspire.Hosting.Azure.KeyVault` package.</a:t>
            </a:r>
          </a:p>
          <a:p/>
          <a:p>
            <a:r>
              <a:t>Least privilege: by default the consuming project gets Key Vault Administrator. For read-only access, call `WithRoleAssignments` with `KeyVaultBuiltInRole.KeyVaultSecretsUser`, as the Aspire example does.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workloads still need a password or a key, such as the carrier API key. For those, Key Vault versions and events drive the rotation.</a:t>
            </a:r>
          </a:p>
          <a:p/>
          <a:p>
            <a:r>
              <a:t>Versions: each write to a secret creates a new version, so `SetSecretAsync` on `carrier-api-key` stores the rotated key as a new version of the secret that the shipping API reads.</a:t>
            </a:r>
          </a:p>
          <a:p/>
          <a:p>
            <a:r>
              <a:t>Events: Key Vault raises `SecretNearExpiry` 30 days before the expiration date, `SecretNewVersionCreated` when a new version is written, and `SecretExpired` when the current version has expired.</a:t>
            </a:r>
          </a:p>
          <a:p/>
          <a:p>
            <a:r>
              <a:t>The rotation function: the Learn tutorials route `SecretNearExpiry` through Event Grid to a function that writes a new version and updates the consumer.</a:t>
            </a:r>
          </a:p>
          <a:p/>
          <a:p>
            <a:r>
              <a:t>Restart: Container Apps secret values need a revision restart before a container sees them, so plan rotations that restart the affected revision.</a:t>
            </a:r>
          </a:p>
          <a:p/>
          <a:p>
            <a:r>
              <a:t>Managed identity first: prefer managed identity over shared secrets, and use rotation only where a workload still needs a password or a key.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Settings that change between releases belong in App Configuration, not in a file that ships with the build.</a:t>
            </a:r>
          </a:p>
          <a:p/>
          <a:p>
            <a:r>
              <a:t>The provider: App Configuration stores key-values and feature flags, and the .NET provider loads them into `IConfiguration`. The tracking service selects its keys with `Select("Tracking:*")`.</a:t>
            </a:r>
          </a:p>
          <a:p/>
          <a:p>
            <a:r>
              <a:t>Key Vault references: a key in App Configuration can point to a secret in Key Vault, and the app reads it like any other key. The provider resolves it with its own credential when you call `ConfigureKeyVault`, so App Configuration never holds the secret value.</a:t>
            </a:r>
          </a:p>
          <a:p/>
          <a:p>
            <a:r>
              <a:t>Aspire wiring: the AppHost declares the store only in publish mode and never calls `RunAsEmulator`, so `aspire deploy` provisions it in Azure. The service references the store, and Aspire grants it a role on the store.</a:t>
            </a:r>
          </a:p>
          <a:p/>
          <a:p>
            <a:r>
              <a:t>Startup load: the provider loads key-values when the service starts, so a key added later needs a revision restart, as the diagram shows for `Tracking:PageSize`.</a:t>
            </a:r>
          </a:p>
          <a:p/>
          <a:p>
            <a:r>
              <a:t>Feature flags: flags are key-values with the `.appconfig.featureflag/` prefix, loaded by `UseFeatureFlags` and checked through `IFeatureManager`. The provider refreshes them on its own, every 30 seconds by default.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new tracking-service release must not reach every parcel at once. Container Apps keeps each version of an app as a revision, and you decide how much traffic each revision receives.</a:t>
            </a:r>
          </a:p>
          <a:p/>
          <a:p>
            <a:r>
              <a:t>Single mode: the default, where the new revision takes over after its replicas pass their probes and the old revision deactivates on its own. Most services in the class use it.</a:t>
            </a:r>
          </a:p>
          <a:p/>
          <a:p>
            <a:r>
              <a:t>Multiple mode: several revisions stay active and you set the weight of each, for blue-green and canary releases. A later `aspire deploy` returns the app to single mode, so run `az containerapp revision set-mode` again after each deploy.</a:t>
            </a:r>
          </a:p>
          <a:p/>
          <a:p>
            <a:r>
              <a:t>Weights: they must add up to 100, set by revision name or by label. The readme command sends 90 percent to the current revision and 10 percent to the new one.</a:t>
            </a:r>
          </a:p>
          <a:p/>
          <a:p>
            <a:r>
              <a:t>Rollback: the same command with the previous revision at 100. Keep the previous revision active until the new one proves itself, and the rollback needs only a traffic change.</a:t>
            </a:r>
          </a:p>
          <a:p/>
          <a:p>
            <a:r>
              <a:t>Labels: a preview mode in which named revisions such as `dev`, `staging` and `prod` each get a stable URL. Moving a label to another revision promotes it and keeps the URL, which suits a canary group.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new revision deactivates an old one, and a message consumer must not lose the messages it is handling at that moment.</a:t>
            </a:r>
          </a:p>
          <a:p/>
          <a:p>
            <a:r>
              <a:t>What creates a revision: a change to the template, which holds the container image, the environment variables, the resources and the scale rules. Secrets, the revision mode, ingress, traffic weights and labels apply to every revision and don't create one.</a:t>
            </a:r>
          </a:p>
          <a:p/>
          <a:p>
            <a:r>
              <a:t>The shutdown signal: when a replica scales in, the app is deleted or a revision deactivates, the platform sends SIGTERM. After the termination grace period, 30 seconds by default, it sends SIGKILL.</a:t>
            </a:r>
          </a:p>
          <a:p/>
          <a:p>
            <a:r>
              <a:t>Two timeouts: `HostOptions.ShutdownTimeout` sets how long the generic host waits in `StopAsync`, also 30 seconds by default. The diagram sets 25 s inside a 60 s grace period, so the host finishes before the platform kills the replica.</a:t>
            </a:r>
          </a:p>
          <a:p/>
          <a:p>
            <a:r>
              <a:t>Draining: the consumer's `StopAsync` calls `StopProcessingAsync`, which stops intake and waits for the in-flight message handlers to complete.</a:t>
            </a:r>
          </a:p>
          <a:p/>
          <a:p>
            <a:r>
              <a:t>Settlement: an unsettled message returns to the queue when its lock expires, and its delivery count goes up. Call `AbandonMessageAsync` for a message the handler can't finish, so the next receiver gets it at once.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53920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routing service keeps one Dapr actor per van, and Container Apps managed Dapr doesn't support the actor SDK package. Aspire generates its Kubernetes deployment from the same AppHost, so the service graph stays in one place.</a:t>
            </a:r>
          </a:p>
          <a:p/>
          <a:p>
            <a:r>
              <a:t>Helm charts: for the Kubernetes target, `aspire publish` writes a Helm chart to `aspire-output` beside the AppHost, and the `-o` option changes the folder.</a:t>
            </a:r>
          </a:p>
          <a:p/>
          <a:p>
            <a:r>
              <a:t>Applying the chart: a pipeline applies the chart with `helm` or a CI job. For the plain Kubernetes target, `aspire deploy` runs `helm install` against the current `kubectl` context.</a:t>
            </a:r>
          </a:p>
          <a:p/>
          <a:p>
            <a:r>
              <a:t>Review first: the publish step doesn't change the cluster, so you can review the chart before it reaches an environment. Learn's Orleans Kubernetes guide describes plain YAML files in the same output, so open the folder before you apply anything.</a:t>
            </a:r>
          </a:p>
          <a:p/>
          <a:p>
            <a:r>
              <a:t>The AKS target: `aspire publish` produces Helm charts and Bicep infrastructure, and `aspire deploy` provisions the Azure resources and deploys in a single command.</a:t>
            </a:r>
          </a:p>
          <a:p/>
          <a:p>
            <a:r>
              <a:t>Preview status: the Aspire CLI reference labels both `aspire publish` and `aspire deploy` as preview.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249643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the AppHost declares the AKS cluster and how the Dapr runtime gets onto it.</a:t>
            </a:r>
          </a:p>
          <a:p/>
          <a:p>
            <a:r>
              <a:t>The environment: `AddAzureKubernetesEnvironment` from the `Aspire.Hosting.Azure.Kubernetes` package declares the cluster, and `aspire deploy` creates it the first time it runs. The cluster bills until you delete its resource group.</a:t>
            </a:r>
          </a:p>
          <a:p/>
          <a:p>
            <a:r>
              <a:t>Node pools: `WithSystemNodePool` uses the default VM size and node counts, and `AddNodePool` adds a second pool named `routing` with `Standard_D2s_v5` nodes for the routing workload.</a:t>
            </a:r>
          </a:p>
          <a:p/>
          <a:p>
            <a:r>
              <a:t>Existing resources: `WithContainerRegistry` attaches the registry that holds the images, `WithWorkloadIdentity` turns workload identity on or off, and `WithSubnet` joins a subnet you already defined.</a:t>
            </a:r>
          </a:p>
          <a:p/>
          <a:p>
            <a:r>
              <a:t>The Dapr extension: `az k8s-extension create` with `--extension-type Microsoft.Dapr` installs the runtime as a managed cluster extension, so you don't install or upgrade it yourself. It accepts `--configuration-settings` for Dapr options such as high availability.</a:t>
            </a:r>
          </a:p>
          <a:p/>
          <a:p>
            <a:r>
              <a:t>Ingress: ingress and Gateway API on AKS are preview features, so check the Aspire reference for the current API before routing-service depends on them. Module 7 compares the two hosts for actors.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69556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 parcel scan fails, the cause can sit in the HTTP request, the Service Bus message, the database write or a consumer exception. One trace across those hops starts with every service sending telemetry.</a:t>
            </a:r>
          </a:p>
          <a:p/>
          <a:p>
            <a:r>
              <a:t>The distro: install `Azure.Monitor.OpenTelemetry.AspNetCore` and call `UseAzureMonitor` on the OpenTelemetry builder to add traces, metrics and logs to an ASP.NET Core service.</a:t>
            </a:r>
          </a:p>
          <a:p/>
          <a:p>
            <a:r>
              <a:t>The connection string: the distro reads `APPLICATIONINSIGHTS_CONNECTION_STRING`, and the lab's shared service defaults call `UseAzureMonitor` only when that variable is set.</a:t>
            </a:r>
          </a:p>
          <a:p/>
          <a:p>
            <a:r>
              <a:t>Aspire wiring: in the AppHost, `AddAzureApplicationInsights` and `WithReference` set the variable for each service, and only in publish mode.</a:t>
            </a:r>
          </a:p>
          <a:p/>
          <a:p>
            <a:r>
              <a:t>The managed agent: a preview alternative for apps that send OTLP over gRPC, running inside the Container Apps environment as one replica with a fixed 0.5 vCPU and 1.5 GB of memory. Its configuration lives at the environment level, and it sends logs and traces to Application Insights, which takes no metrics from it.</a:t>
            </a:r>
          </a:p>
          <a:p/>
          <a:p>
            <a:r>
              <a:t>Distro choice: Learn now recommends the Microsoft OpenTelemetry Distro for new .NET apps, and existing Azure Monitor distro users need no action. This module teaches the Azure Monitor distro and its `UseAzureMonitor` call.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404528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Correlation depends on one identifier that travels with every hop, across the HTTP call and across the Service Bus message.</a:t>
            </a:r>
          </a:p>
          <a:p/>
          <a:p>
            <a:r>
              <a:t>Trace context in the message: the Azure Service Bus SDK writes the W3C trace context into the `Diagnostic-Id` application property, in `traceparent` format. You don't write the propagation code, but both services need a tracing setup that exports the spans.</a:t>
            </a:r>
          </a:p>
          <a:p/>
          <a:p>
            <a:r>
              <a:t>SDK spans: `ServiceBusSender.Send`, `ServiceBusReceiver.Receive`, `ServiceBusProcessor.ProcessMessage` and `ServiceBusReceiver.Complete` link through a `Message` span. A scan that starts at tracking-service and ends in a consumer appears as one transaction.</a:t>
            </a:r>
          </a:p>
          <a:p/>
          <a:p>
            <a:r>
              <a:t>One table per type: `AppRequests` holds inbound requests, `AppDependencies` outbound calls, `AppTraces` log messages and `AppExceptions` exceptions.</a:t>
            </a:r>
          </a:p>
          <a:p/>
          <a:p>
            <a:r>
              <a:t>The join: every row carries `OperationId` and `ParentId`, and a `union` over the four tables filtered by one `OperationId` returns the whole transaction in time order.</a:t>
            </a:r>
          </a:p>
          <a:p/>
          <a:p>
            <a:r>
              <a:t>The portal view: transaction search opens the end-to-end transaction details, a Gantt chart of each event with its duration and response code. With sampling on, a missing row can mean the sampler dropped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187300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lab, Contoso Logistics moves from your machine, where the AppHost starts the Service Bus and Cosmos DB emulators, into the resource group `rg-azn-labs`. It takes about 55 minutes, and each step adds one piece of the diagram.</a:t>
            </a:r>
          </a:p>
          <a:p/>
          <a:p>
            <a:r>
              <a:t>Deploy: step 1 declares `aca-env`, gives `shipping-api` and `tracking-service` external endpoints and maps `/health` in every environment. Then `aspire deploy --non-interactive` creates the apps.</a:t>
            </a:r>
          </a:p>
          <a:p/>
          <a:p>
            <a:r>
              <a:t>Secrets and settings: step 2 adds a Key Vault and a `carrier-api-key` health check, and step 3 adds an App Configuration store with `Tracking:PageSize` set to 50. Each step proves the read with a health check that reports Healthy.</a:t>
            </a:r>
          </a:p>
          <a:p/>
          <a:p>
            <a:r>
              <a:t>Telemetry: step 4 adds an Application Insights resource and the Azure Monitor distro in the shared service defaults, so one booking can be followed across both services.</a:t>
            </a:r>
          </a:p>
          <a:p/>
          <a:p>
            <a:r>
              <a:t>Release: step 5 adds a `schemaVersion` field to the tracking response, switches tracking-service to multiple revision mode and sends 10 percent of requests to v2. The previous revision stays active for rollback.</a:t>
            </a:r>
          </a:p>
          <a:p/>
          <a:p>
            <a:r>
              <a:t>Query: step 6 writes `docs/booking-trace.kql` and sends one booking to `shipping-api`. Keep the environment afterwards, because the next lab deploys into the same resource group.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291107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lab step proves that the telemetry from step 4 works: one query follows one booking across both services.</a:t>
            </a:r>
          </a:p>
          <a:p/>
          <a:p>
            <a:r>
              <a:t>The booking: send the JSON booking with tracking number `CL-2026-000142` to `https://&lt;SHIPPING_API_FQDN&gt;/shipments` with any HTTP client, and the response is 201 Created.</a:t>
            </a:r>
          </a:p>
          <a:p/>
          <a:p>
            <a:r>
              <a:t>Shipping side: `POST /shipments` writes the shipment to the Cosmos DB container `shipments` and sends a `ShipmentBooked` message to the `shipment-events` topic.</a:t>
            </a:r>
          </a:p>
          <a:p/>
          <a:p>
            <a:r>
              <a:t>Tracking side: `ShipmentBookedProcessor` handles the message from the tracking subscription and writes to the `tracking` container. The Service Bus SDK carries the `OperationId` across that hop.</a:t>
            </a:r>
          </a:p>
          <a:p/>
          <a:p>
            <a:r>
              <a:t>Finding the operation: the query takes the most recent POST from the shipping-api role in the last 30 minutes. `AppRoleName` carries the environment name as a prefix, so it matches with `endswith`.</a:t>
            </a:r>
          </a:p>
          <a:p/>
          <a:p>
            <a:r>
              <a:t>The union: it returns every `AppRequests`, `AppDependencies` and `AppTraces` row with that `OperationId` in time order, and projects `Message` as `Name` because `AppTraces` has no `Name` column. Give Application Insights a few minutes to ingest the telemetry before you run it in Logs.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450205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this module built for every service that goes to Azure.</a:t>
            </a:r>
          </a:p>
          <a:p/>
          <a:p>
            <a:r>
              <a:t>Deploy from the AppHost: the Container Apps environment is a resource you declare, and `aspire deploy` creates the registry, the identity and one container app per service.</a:t>
            </a:r>
          </a:p>
          <a:p/>
          <a:p>
            <a:r>
              <a:t>Managed identity: `DefaultAzureCredential` runs the same code on a laptop and in Azure, with secrets in Key Vault and settings in App Configuration.</a:t>
            </a:r>
          </a:p>
          <a:p/>
          <a:p>
            <a:r>
              <a:t>Traffic split: multiple revision mode and weights that add up to 100 let a release start at 10 percent, and the rollback is only a traffic change.</a:t>
            </a:r>
          </a:p>
          <a:p/>
          <a:p>
            <a:r>
              <a:t>Draining: set `terminationGracePeriodSeconds` longer than `HostOptions.ShutdownTimeout`, and settle every message before the handler returns.</a:t>
            </a:r>
          </a:p>
          <a:p/>
          <a:p>
            <a:r>
              <a:t>Host and trace: the routing service runs on AKS with the Dapr extension because Container Apps managed Dapr doesn't support the actor SDK package, and `OperationId` joins one scan across the telemetry tables. Module 4 connects the services with Service Bus.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507141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003932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672273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1961814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2284516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3</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Hosting on Container Apps &amp; AKS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Putting the Contoso Logistics services on Azure</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261585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Aspire Deploy: ACR &amp; Container Apps</a:t>
            </a:r>
          </a:p>
          <a:p>
            <a:pPr>
              <a:lnSpc>
                <a:spcPct val="95000"/>
              </a:lnSpc>
              <a:spcBef>
                <a:spcPts val="600"/>
              </a:spcBef>
            </a:pPr>
            <a:r>
              <a:rPr sz="1200" b="0">
                <a:solidFill>
                  <a:srgbClr val="595F67"/>
                </a:solidFill>
                <a:latin typeface="Poppins"/>
              </a:rPr>
              <a:t>The registry, the environment and the apps from the AppHost</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Key Vault &amp; App Configuration</a:t>
            </a:r>
          </a:p>
          <a:p>
            <a:pPr>
              <a:lnSpc>
                <a:spcPct val="95000"/>
              </a:lnSpc>
              <a:spcBef>
                <a:spcPts val="600"/>
              </a:spcBef>
            </a:pPr>
            <a:r>
              <a:rPr sz="1200" b="0">
                <a:solidFill>
                  <a:srgbClr val="595F67"/>
                </a:solidFill>
                <a:latin typeface="Poppins"/>
              </a:rPr>
              <a:t>Managed identity, secrets, settings and feature flags</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Revisions: Traffic Splitting &amp; Draining</a:t>
            </a:r>
          </a:p>
          <a:p>
            <a:pPr>
              <a:lnSpc>
                <a:spcPct val="95000"/>
              </a:lnSpc>
              <a:spcBef>
                <a:spcPts val="600"/>
              </a:spcBef>
            </a:pPr>
            <a:r>
              <a:rPr sz="1200" b="0">
                <a:solidFill>
                  <a:srgbClr val="595F67"/>
                </a:solidFill>
                <a:latin typeface="Poppins"/>
              </a:rPr>
              <a:t>Revision modes, traffic weights and graceful shutdown</a:t>
            </a:r>
          </a:p>
        </p:txBody>
      </p:sp>
      <p:sp>
        <p:nvSpPr>
          <p:cNvPr id="14" name="gd-topics-box"/>
          <p:cNvSpPr/>
          <p:nvPr/>
        </p:nvSpPr>
        <p:spPr>
          <a:xfrm>
            <a:off x="2611944"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2611944"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2841944"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2841944"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AKS: Aspire-Generated Kubernetes Manifests</a:t>
            </a:r>
          </a:p>
          <a:p>
            <a:pPr>
              <a:lnSpc>
                <a:spcPct val="95000"/>
              </a:lnSpc>
              <a:spcBef>
                <a:spcPts val="600"/>
              </a:spcBef>
            </a:pPr>
            <a:r>
              <a:rPr sz="1200" b="0">
                <a:solidFill>
                  <a:srgbClr val="595F67"/>
                </a:solidFill>
                <a:latin typeface="Poppins"/>
              </a:rPr>
              <a:t>Helm charts, the AKS environment and the Dapr extension</a:t>
            </a:r>
          </a:p>
        </p:txBody>
      </p:sp>
      <p:sp>
        <p:nvSpPr>
          <p:cNvPr id="18" name="gd-topics-box"/>
          <p:cNvSpPr/>
          <p:nvPr/>
        </p:nvSpPr>
        <p:spPr>
          <a:xfrm>
            <a:off x="6210299"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6210299"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6440299"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6440299"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Application Insights: Traces &amp; KQL</a:t>
            </a:r>
          </a:p>
          <a:p>
            <a:pPr>
              <a:lnSpc>
                <a:spcPct val="95000"/>
              </a:lnSpc>
              <a:spcBef>
                <a:spcPts val="600"/>
              </a:spcBef>
            </a:pPr>
            <a:r>
              <a:rPr sz="1200" b="0">
                <a:solidFill>
                  <a:srgbClr val="595F67"/>
                </a:solidFill>
                <a:latin typeface="Poppins"/>
              </a:rPr>
              <a:t>The Azure Monitor distro, trace context and KQL</a:t>
            </a:r>
          </a:p>
        </p:txBody>
      </p:sp>
      <p:sp>
        <p:nvSpPr>
          <p:cNvPr id="2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1760021"/>
            <a:ext cx="5130657" cy="906145"/>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Hosting on Container Apps and AKS</a:t>
            </a:r>
            <a:endParaRPr lang="en-US" sz="3400" dirty="0"/>
          </a:p>
        </p:txBody>
      </p:sp>
      <p:sp>
        <p:nvSpPr>
          <p:cNvPr id="3" name="Text 1"/>
          <p:cNvSpPr/>
          <p:nvPr/>
        </p:nvSpPr>
        <p:spPr>
          <a:xfrm>
            <a:off x="609601" y="2818566"/>
            <a:ext cx="5130657"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Putting the Contoso Logistics services on Azure</a:t>
            </a:r>
            <a:endParaRPr lang="en-US" sz="2000" dirty="0"/>
          </a:p>
        </p:txBody>
      </p:sp>
      <p:sp>
        <p:nvSpPr>
          <p:cNvPr id="4" name="Text 2"/>
          <p:cNvSpPr/>
          <p:nvPr/>
        </p:nvSpPr>
        <p:spPr>
          <a:xfrm>
            <a:off x="609601" y="3613475"/>
            <a:ext cx="5130657" cy="158829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Deploy</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aspire deploy</a:t>
            </a:r>
            <a:r>
              <a:rPr lang="en-US" sz="1400" dirty="0">
                <a:solidFill>
                  <a:srgbClr val="1B365D"/>
                </a:solidFill>
                <a:latin typeface="Poppins" pitchFamily="34" charset="0"/>
                <a:ea typeface="Poppins" pitchFamily="34" charset="-122"/>
                <a:cs typeface="Poppins" pitchFamily="34" charset="-120"/>
              </a:rPr>
              <a:t> puts the AppHost on Container Apps, the routing service runs on AKS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Configure</a:t>
            </a:r>
            <a:r>
              <a:rPr lang="en-US" sz="1400" dirty="0">
                <a:solidFill>
                  <a:srgbClr val="1B365D"/>
                </a:solidFill>
                <a:latin typeface="Poppins" pitchFamily="34" charset="0"/>
                <a:ea typeface="Poppins" pitchFamily="34" charset="-122"/>
                <a:cs typeface="Poppins" pitchFamily="34" charset="-120"/>
              </a:rPr>
              <a:t>: secrets from Key Vault and settings from App Configuration over a managed identity</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Release and trace</a:t>
            </a:r>
            <a:r>
              <a:rPr lang="en-US" sz="1400" dirty="0">
                <a:solidFill>
                  <a:srgbClr val="1B365D"/>
                </a:solidFill>
                <a:latin typeface="Poppins" pitchFamily="34" charset="0"/>
                <a:ea typeface="Poppins" pitchFamily="34" charset="-122"/>
                <a:cs typeface="Poppins" pitchFamily="34" charset="-120"/>
              </a:rPr>
              <a:t>: revisions shift traffic, Application Insights follows a parcel scan</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path through the five topics</a:t>
            </a:r>
            <a:endParaRPr lang="en-US" sz="2000" dirty="0"/>
          </a:p>
        </p:txBody>
      </p:sp>
      <p:sp>
        <p:nvSpPr>
          <p:cNvPr id="4" name="Text 2"/>
          <p:cNvSpPr/>
          <p:nvPr/>
        </p:nvSpPr>
        <p:spPr>
          <a:xfrm>
            <a:off x="609600" y="2693576"/>
            <a:ext cx="4964767" cy="241736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Deploy the AppHost to Container Apps with </a:t>
            </a:r>
            <a:r>
              <a:rPr lang="en-US" sz="1400" b="1" dirty="0">
                <a:solidFill>
                  <a:srgbClr val="1B365D"/>
                </a:solidFill>
                <a:latin typeface="Poppins Bold" pitchFamily="34" charset="0"/>
                <a:ea typeface="Poppins Bold" pitchFamily="34" charset="-122"/>
                <a:cs typeface="Poppins Bold" pitchFamily="34" charset="-120"/>
              </a:rPr>
              <a:t>aspire deploy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Keep secrets in </a:t>
            </a:r>
            <a:r>
              <a:rPr lang="en-US" sz="1400" b="1" dirty="0">
                <a:solidFill>
                  <a:srgbClr val="1B365D"/>
                </a:solidFill>
                <a:latin typeface="Poppins Bold" pitchFamily="34" charset="0"/>
                <a:ea typeface="Poppins Bold" pitchFamily="34" charset="-122"/>
                <a:cs typeface="Poppins Bold" pitchFamily="34" charset="-120"/>
              </a:rPr>
              <a:t>Key Vault</a:t>
            </a:r>
            <a:r>
              <a:rPr lang="en-US" sz="1400" dirty="0">
                <a:solidFill>
                  <a:srgbClr val="1B365D"/>
                </a:solidFill>
                <a:latin typeface="Poppins" pitchFamily="34" charset="0"/>
                <a:ea typeface="Poppins" pitchFamily="34" charset="-122"/>
                <a:cs typeface="Poppins" pitchFamily="34" charset="-120"/>
              </a:rPr>
              <a:t> and settings in </a:t>
            </a:r>
            <a:r>
              <a:rPr lang="en-US" sz="1400" b="1" dirty="0">
                <a:solidFill>
                  <a:srgbClr val="1B365D"/>
                </a:solidFill>
                <a:latin typeface="Poppins Bold" pitchFamily="34" charset="0"/>
                <a:ea typeface="Poppins Bold" pitchFamily="34" charset="-122"/>
                <a:cs typeface="Poppins Bold" pitchFamily="34" charset="-120"/>
              </a:rPr>
              <a:t>App Configuration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Release a new version behind a </a:t>
            </a:r>
            <a:r>
              <a:rPr lang="en-US" sz="1400" b="1" dirty="0">
                <a:solidFill>
                  <a:srgbClr val="1B365D"/>
                </a:solidFill>
                <a:latin typeface="Poppins Bold" pitchFamily="34" charset="0"/>
                <a:ea typeface="Poppins Bold" pitchFamily="34" charset="-122"/>
                <a:cs typeface="Poppins Bold" pitchFamily="34" charset="-120"/>
              </a:rPr>
              <a:t>traffic split</a:t>
            </a:r>
            <a:r>
              <a:rPr lang="en-US" sz="1400" dirty="0">
                <a:solidFill>
                  <a:srgbClr val="1B365D"/>
                </a:solidFill>
                <a:latin typeface="Poppins" pitchFamily="34" charset="0"/>
                <a:ea typeface="Poppins" pitchFamily="34" charset="-122"/>
                <a:cs typeface="Poppins" pitchFamily="34" charset="-120"/>
              </a:rPr>
              <a:t> and drain consumers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Host the routing service on </a:t>
            </a:r>
            <a:r>
              <a:rPr lang="en-US" sz="1400" b="1" dirty="0">
                <a:solidFill>
                  <a:srgbClr val="1B365D"/>
                </a:solidFill>
                <a:latin typeface="Poppins Bold" pitchFamily="34" charset="0"/>
                <a:ea typeface="Poppins Bold" pitchFamily="34" charset="-122"/>
                <a:cs typeface="Poppins Bold" pitchFamily="34" charset="-120"/>
              </a:rPr>
              <a:t>AKS</a:t>
            </a:r>
            <a:r>
              <a:rPr lang="en-US" sz="1400" dirty="0">
                <a:solidFill>
                  <a:srgbClr val="1B365D"/>
                </a:solidFill>
                <a:latin typeface="Poppins" pitchFamily="34" charset="0"/>
                <a:ea typeface="Poppins" pitchFamily="34" charset="-122"/>
                <a:cs typeface="Poppins" pitchFamily="34" charset="-120"/>
              </a:rPr>
              <a:t> with the Dapr extension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Follow a parcel scan in </a:t>
            </a:r>
            <a:r>
              <a:rPr lang="en-US" sz="1400" b="1" dirty="0">
                <a:solidFill>
                  <a:srgbClr val="1B365D"/>
                </a:solidFill>
                <a:latin typeface="Poppins Bold" pitchFamily="34" charset="0"/>
                <a:ea typeface="Poppins Bold" pitchFamily="34" charset="-122"/>
                <a:cs typeface="Poppins Bold" pitchFamily="34" charset="-120"/>
              </a:rPr>
              <a:t>Application Insights</a:t>
            </a:r>
            <a:r>
              <a:rPr lang="en-US" sz="1400" dirty="0">
                <a:solidFill>
                  <a:srgbClr val="1B365D"/>
                </a:solidFill>
                <a:latin typeface="Poppins" pitchFamily="34" charset="0"/>
                <a:ea typeface="Poppins" pitchFamily="34" charset="-122"/>
                <a:cs typeface="Poppins" pitchFamily="34" charset="-120"/>
              </a:rPr>
              <a:t> with KQL</a:t>
            </a:r>
            <a:endParaRPr lang="en-US" sz="1400" dirty="0"/>
          </a:p>
        </p:txBody>
      </p:sp>
      <p:pic>
        <p:nvPicPr>
          <p:cNvPr id="5" name="Image 0" descr="preencoded.png"/>
          <p:cNvPicPr>
            <a:picLocks noChangeAspect="1"/>
          </p:cNvPicPr>
          <p:nvPr/>
        </p:nvPicPr>
        <p:blipFill>
          <a:blip r:embed="rId3"/>
          <a:stretch>
            <a:fillRect/>
          </a:stretch>
        </p:blipFill>
        <p:spPr>
          <a:xfrm>
            <a:off x="5879060" y="2273895"/>
            <a:ext cx="5906245" cy="33223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Aspire Deploy: ACR &amp; Container Apps</a:t>
            </a:r>
          </a:p>
          <a:p>
            <a:pPr>
              <a:lnSpc>
                <a:spcPct val="95000"/>
              </a:lnSpc>
              <a:spcBef>
                <a:spcPts val="1400"/>
              </a:spcBef>
            </a:pPr>
            <a:r>
              <a:rPr sz="2000" b="0">
                <a:solidFill>
                  <a:srgbClr val="595F67"/>
                </a:solidFill>
                <a:latin typeface="Poppins"/>
              </a:rPr>
              <a:t>The registry, the environment and the apps from the AppHost</a:t>
            </a:r>
          </a:p>
        </p:txBody>
      </p:sp>
      <p:sp>
        <p:nvSpPr>
          <p:cNvPr id="5" name="gd-topics-box"/>
          <p:cNvSpPr/>
          <p:nvPr/>
        </p:nvSpPr>
        <p:spPr>
          <a:xfrm>
            <a:off x="6100000"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Deploying with aspire deploy</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AppHost declares the environment, one command provisions the rest</a:t>
            </a:r>
            <a:endParaRPr lang="en-US" sz="2000" dirty="0"/>
          </a:p>
        </p:txBody>
      </p:sp>
      <p:sp>
        <p:nvSpPr>
          <p:cNvPr id="4" name="Text 2"/>
          <p:cNvSpPr/>
          <p:nvPr/>
        </p:nvSpPr>
        <p:spPr>
          <a:xfrm>
            <a:off x="609600" y="2818336"/>
            <a:ext cx="4964767" cy="2193925"/>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AddAzureContainerAppEnvironment</a:t>
            </a:r>
            <a:r>
              <a:rPr lang="en-US" sz="1400" dirty="0">
                <a:solidFill>
                  <a:srgbClr val="1B365D"/>
                </a:solidFill>
                <a:latin typeface="Poppins" pitchFamily="34" charset="0"/>
                <a:ea typeface="Poppins" pitchFamily="34" charset="-122"/>
                <a:cs typeface="Poppins" pitchFamily="34" charset="-120"/>
              </a:rPr>
              <a:t> declares the environment in the AppHost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aspire deploy</a:t>
            </a:r>
            <a:r>
              <a:rPr lang="en-US" sz="1400" dirty="0">
                <a:solidFill>
                  <a:srgbClr val="1B365D"/>
                </a:solidFill>
                <a:latin typeface="Poppins" pitchFamily="34" charset="0"/>
                <a:ea typeface="Poppins" pitchFamily="34" charset="-122"/>
                <a:cs typeface="Poppins" pitchFamily="34" charset="-120"/>
              </a:rPr>
              <a:t> provisions, builds and pushes the images, then deploys the apps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managed identity</a:t>
            </a:r>
            <a:r>
              <a:rPr lang="en-US" sz="1400" dirty="0">
                <a:solidFill>
                  <a:srgbClr val="1B365D"/>
                </a:solidFill>
                <a:latin typeface="Poppins" pitchFamily="34" charset="0"/>
                <a:ea typeface="Poppins" pitchFamily="34" charset="-122"/>
                <a:cs typeface="Poppins" pitchFamily="34" charset="-120"/>
              </a:rPr>
              <a:t> pulls the images, so you pass no registry credentials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CI job can build in the registry with </a:t>
            </a:r>
            <a:r>
              <a:rPr lang="en-US" sz="1400" dirty="0">
                <a:solidFill>
                  <a:srgbClr val="1B365D"/>
                </a:solidFill>
                <a:highlight>
                  <a:srgbClr val="F2F2F2"/>
                </a:highlight>
                <a:latin typeface="Consolas" pitchFamily="34" charset="0"/>
                <a:ea typeface="Consolas" pitchFamily="34" charset="-122"/>
                <a:cs typeface="Consolas" pitchFamily="34" charset="-120"/>
              </a:rPr>
              <a:t>az acr build</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aspire destroy --yes</a:t>
            </a:r>
            <a:r>
              <a:rPr lang="en-US" sz="1400" dirty="0">
                <a:solidFill>
                  <a:srgbClr val="1B365D"/>
                </a:solidFill>
                <a:latin typeface="Poppins" pitchFamily="34" charset="0"/>
                <a:ea typeface="Poppins" pitchFamily="34" charset="-122"/>
                <a:cs typeface="Poppins" pitchFamily="34" charset="-120"/>
              </a:rPr>
              <a:t> deletes the whole resource group</a:t>
            </a:r>
            <a:endParaRPr lang="en-US" sz="1400" dirty="0"/>
          </a:p>
        </p:txBody>
      </p:sp>
      <p:pic>
        <p:nvPicPr>
          <p:cNvPr id="5" name="Image 0" descr="preencoded.png"/>
          <p:cNvPicPr>
            <a:picLocks noChangeAspect="1"/>
          </p:cNvPicPr>
          <p:nvPr/>
        </p:nvPicPr>
        <p:blipFill>
          <a:blip r:embed="rId3"/>
          <a:stretch>
            <a:fillRect/>
          </a:stretch>
        </p:blipFill>
        <p:spPr>
          <a:xfrm>
            <a:off x="5879060" y="2396927"/>
            <a:ext cx="5906245" cy="30761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Ingress and calls by app name</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Public endpoints only where outside clients need them</a:t>
            </a:r>
            <a:endParaRPr lang="en-US" sz="2000" dirty="0"/>
          </a:p>
        </p:txBody>
      </p:sp>
      <p:sp>
        <p:nvSpPr>
          <p:cNvPr id="4" name="Text 2"/>
          <p:cNvSpPr/>
          <p:nvPr/>
        </p:nvSpPr>
        <p:spPr>
          <a:xfrm>
            <a:off x="609600" y="2693735"/>
            <a:ext cx="4964767" cy="270430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WithExternalHttpEndpoints</a:t>
            </a:r>
            <a:r>
              <a:rPr lang="en-US" sz="1400" dirty="0">
                <a:solidFill>
                  <a:srgbClr val="1B365D"/>
                </a:solidFill>
                <a:latin typeface="Poppins" pitchFamily="34" charset="0"/>
                <a:ea typeface="Poppins" pitchFamily="34" charset="-122"/>
                <a:cs typeface="Poppins" pitchFamily="34" charset="-120"/>
              </a:rPr>
              <a:t> publishes an endpoint; without it a service stays internal</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shipping-api</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tracking-service</a:t>
            </a:r>
            <a:r>
              <a:rPr lang="en-US" sz="1400" dirty="0">
                <a:solidFill>
                  <a:srgbClr val="1B365D"/>
                </a:solidFill>
                <a:latin typeface="Poppins" pitchFamily="34" charset="0"/>
                <a:ea typeface="Poppins" pitchFamily="34" charset="-122"/>
                <a:cs typeface="Poppins" pitchFamily="34" charset="-120"/>
              </a:rPr>
              <a:t> are the two public services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Apps in the environment call each other by name: </a:t>
            </a:r>
            <a:r>
              <a:rPr lang="en-US" sz="1400" dirty="0">
                <a:solidFill>
                  <a:srgbClr val="1B365D"/>
                </a:solidFill>
                <a:highlight>
                  <a:srgbClr val="F2F2F2"/>
                </a:highlight>
                <a:latin typeface="Consolas" pitchFamily="34" charset="0"/>
                <a:ea typeface="Consolas" pitchFamily="34" charset="-122"/>
                <a:cs typeface="Consolas" pitchFamily="34" charset="-120"/>
              </a:rPr>
              <a:t>http://shipping-api</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/health</a:t>
            </a:r>
            <a:r>
              <a:rPr lang="en-US" sz="1400" dirty="0">
                <a:solidFill>
                  <a:srgbClr val="1B365D"/>
                </a:solidFill>
                <a:latin typeface="Poppins" pitchFamily="34" charset="0"/>
                <a:ea typeface="Poppins" pitchFamily="34" charset="-122"/>
                <a:cs typeface="Poppins" pitchFamily="34" charset="-120"/>
              </a:rPr>
              <a:t> maps in every environment, so it can be probed from outside</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ExcludeFromManifest()</a:t>
            </a:r>
            <a:r>
              <a:rPr lang="en-US" sz="1400" dirty="0">
                <a:solidFill>
                  <a:srgbClr val="1B365D"/>
                </a:solidFill>
                <a:latin typeface="Poppins" pitchFamily="34" charset="0"/>
                <a:ea typeface="Poppins" pitchFamily="34" charset="-122"/>
                <a:cs typeface="Poppins" pitchFamily="34" charset="-120"/>
              </a:rPr>
              <a:t> keeps </a:t>
            </a:r>
            <a:r>
              <a:rPr lang="en-US" sz="1400" dirty="0">
                <a:solidFill>
                  <a:srgbClr val="1B365D"/>
                </a:solidFill>
                <a:highlight>
                  <a:srgbClr val="F2F2F2"/>
                </a:highlight>
                <a:latin typeface="Consolas" pitchFamily="34" charset="0"/>
                <a:ea typeface="Consolas" pitchFamily="34" charset="-122"/>
                <a:cs typeface="Consolas" pitchFamily="34" charset="-120"/>
              </a:rPr>
              <a:t>ops-console</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exception-agent</a:t>
            </a:r>
            <a:r>
              <a:rPr lang="en-US" sz="1400" dirty="0">
                <a:solidFill>
                  <a:srgbClr val="1B365D"/>
                </a:solidFill>
                <a:latin typeface="Poppins" pitchFamily="34" charset="0"/>
                <a:ea typeface="Poppins" pitchFamily="34" charset="-122"/>
                <a:cs typeface="Poppins" pitchFamily="34" charset="-120"/>
              </a:rPr>
              <a:t> local</a:t>
            </a:r>
            <a:endParaRPr lang="en-US" sz="1400" dirty="0"/>
          </a:p>
        </p:txBody>
      </p:sp>
      <p:pic>
        <p:nvPicPr>
          <p:cNvPr id="5" name="Image 0" descr="preencoded.png"/>
          <p:cNvPicPr>
            <a:picLocks noChangeAspect="1"/>
          </p:cNvPicPr>
          <p:nvPr/>
        </p:nvPicPr>
        <p:blipFill>
          <a:blip r:embed="rId3"/>
          <a:stretch>
            <a:fillRect/>
          </a:stretch>
        </p:blipFill>
        <p:spPr>
          <a:xfrm>
            <a:off x="5879060" y="2273895"/>
            <a:ext cx="5906245" cy="33223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Key Vault &amp; App Configuration</a:t>
            </a:r>
          </a:p>
          <a:p>
            <a:pPr>
              <a:lnSpc>
                <a:spcPct val="95000"/>
              </a:lnSpc>
              <a:spcBef>
                <a:spcPts val="1400"/>
              </a:spcBef>
            </a:pPr>
            <a:r>
              <a:rPr sz="2000" b="0">
                <a:solidFill>
                  <a:srgbClr val="595F67"/>
                </a:solidFill>
                <a:latin typeface="Poppins"/>
              </a:rPr>
              <a:t>Managed identity, secrets, settings and feature flags</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Key Vault access with a managed identity</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same code runs on a laptop and in Azure</a:t>
            </a:r>
            <a:endParaRPr lang="en-US" sz="2000" dirty="0"/>
          </a:p>
        </p:txBody>
      </p:sp>
      <p:sp>
        <p:nvSpPr>
          <p:cNvPr id="4" name="Text 2"/>
          <p:cNvSpPr/>
          <p:nvPr/>
        </p:nvSpPr>
        <p:spPr>
          <a:xfrm>
            <a:off x="609600" y="2693735"/>
            <a:ext cx="4964767" cy="269160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DefaultAzureCredential</a:t>
            </a:r>
            <a:r>
              <a:rPr lang="en-US" sz="1400" dirty="0">
                <a:solidFill>
                  <a:srgbClr val="1B365D"/>
                </a:solidFill>
                <a:latin typeface="Poppins" pitchFamily="34" charset="0"/>
                <a:ea typeface="Poppins" pitchFamily="34" charset="-122"/>
                <a:cs typeface="Poppins" pitchFamily="34" charset="-120"/>
              </a:rPr>
              <a:t> uses the Azure CLI sign-in locally and the </a:t>
            </a:r>
            <a:r>
              <a:rPr lang="en-US" sz="1400" b="1" dirty="0">
                <a:solidFill>
                  <a:srgbClr val="1B365D"/>
                </a:solidFill>
                <a:latin typeface="Poppins Bold" pitchFamily="34" charset="0"/>
                <a:ea typeface="Poppins Bold" pitchFamily="34" charset="-122"/>
                <a:cs typeface="Poppins Bold" pitchFamily="34" charset="-120"/>
              </a:rPr>
              <a:t>managed identity</a:t>
            </a:r>
            <a:r>
              <a:rPr lang="en-US" sz="1400" dirty="0">
                <a:solidFill>
                  <a:srgbClr val="1B365D"/>
                </a:solidFill>
                <a:latin typeface="Poppins" pitchFamily="34" charset="0"/>
                <a:ea typeface="Poppins" pitchFamily="34" charset="-122"/>
                <a:cs typeface="Poppins" pitchFamily="34" charset="-120"/>
              </a:rPr>
              <a:t> in Azure</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SecretClient</a:t>
            </a:r>
            <a:r>
              <a:rPr lang="en-US" sz="1400" dirty="0">
                <a:solidFill>
                  <a:srgbClr val="1B365D"/>
                </a:solidFill>
                <a:latin typeface="Poppins" pitchFamily="34" charset="0"/>
                <a:ea typeface="Poppins" pitchFamily="34" charset="-122"/>
                <a:cs typeface="Poppins" pitchFamily="34" charset="-120"/>
              </a:rPr>
              <a:t> reads secrets with that credential, so no password is stored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Read access comes from the </a:t>
            </a:r>
            <a:r>
              <a:rPr lang="en-US" sz="1400" b="1" dirty="0">
                <a:solidFill>
                  <a:srgbClr val="1B365D"/>
                </a:solidFill>
                <a:latin typeface="Poppins Bold" pitchFamily="34" charset="0"/>
                <a:ea typeface="Poppins Bold" pitchFamily="34" charset="-122"/>
                <a:cs typeface="Poppins Bold" pitchFamily="34" charset="-120"/>
              </a:rPr>
              <a:t>Key Vault Secrets User</a:t>
            </a:r>
            <a:r>
              <a:rPr lang="en-US" sz="1400" dirty="0">
                <a:solidFill>
                  <a:srgbClr val="1B365D"/>
                </a:solidFill>
                <a:latin typeface="Poppins" pitchFamily="34" charset="0"/>
                <a:ea typeface="Poppins" pitchFamily="34" charset="-122"/>
                <a:cs typeface="Poppins" pitchFamily="34" charset="-120"/>
              </a:rPr>
              <a:t> role, scoped to the vault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AddAzureKeyVault</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WithReference</a:t>
            </a:r>
            <a:r>
              <a:rPr lang="en-US" sz="1400" dirty="0">
                <a:solidFill>
                  <a:srgbClr val="1B365D"/>
                </a:solidFill>
                <a:latin typeface="Poppins" pitchFamily="34" charset="0"/>
                <a:ea typeface="Poppins" pitchFamily="34" charset="-122"/>
                <a:cs typeface="Poppins" pitchFamily="34" charset="-120"/>
              </a:rPr>
              <a:t> let Aspire assign the role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default is Key Vault Administrator; </a:t>
            </a:r>
            <a:r>
              <a:rPr lang="en-US" sz="1400" dirty="0">
                <a:solidFill>
                  <a:srgbClr val="1B365D"/>
                </a:solidFill>
                <a:highlight>
                  <a:srgbClr val="F2F2F2"/>
                </a:highlight>
                <a:latin typeface="Consolas" pitchFamily="34" charset="0"/>
                <a:ea typeface="Consolas" pitchFamily="34" charset="-122"/>
                <a:cs typeface="Consolas" pitchFamily="34" charset="-120"/>
              </a:rPr>
              <a:t>WithRoleAssignments</a:t>
            </a:r>
            <a:r>
              <a:rPr lang="en-US" sz="1400" dirty="0">
                <a:solidFill>
                  <a:srgbClr val="1B365D"/>
                </a:solidFill>
                <a:latin typeface="Poppins" pitchFamily="34" charset="0"/>
                <a:ea typeface="Poppins" pitchFamily="34" charset="-122"/>
                <a:cs typeface="Poppins" pitchFamily="34" charset="-120"/>
              </a:rPr>
              <a:t> narrows it</a:t>
            </a:r>
            <a:endParaRPr lang="en-US" sz="1400" dirty="0"/>
          </a:p>
        </p:txBody>
      </p:sp>
      <p:pic>
        <p:nvPicPr>
          <p:cNvPr id="5" name="Image 0" descr="preencoded.png"/>
          <p:cNvPicPr>
            <a:picLocks noChangeAspect="1"/>
          </p:cNvPicPr>
          <p:nvPr/>
        </p:nvPicPr>
        <p:blipFill>
          <a:blip r:embed="rId3"/>
          <a:stretch>
            <a:fillRect/>
          </a:stretch>
        </p:blipFill>
        <p:spPr>
          <a:xfrm>
            <a:off x="5879060" y="2704604"/>
            <a:ext cx="5906245" cy="24609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Secret versions and rotation</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Key Vault events drive the rotation</a:t>
            </a:r>
            <a:endParaRPr lang="en-US" sz="2000" dirty="0"/>
          </a:p>
        </p:txBody>
      </p:sp>
      <p:sp>
        <p:nvSpPr>
          <p:cNvPr id="4" name="Text 2"/>
          <p:cNvSpPr/>
          <p:nvPr/>
        </p:nvSpPr>
        <p:spPr>
          <a:xfrm>
            <a:off x="609600" y="2693576"/>
            <a:ext cx="4964767"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write creates a new </a:t>
            </a:r>
            <a:r>
              <a:rPr lang="en-US" sz="1400" b="1" dirty="0">
                <a:solidFill>
                  <a:srgbClr val="1B365D"/>
                </a:solidFill>
                <a:latin typeface="Poppins Bold" pitchFamily="34" charset="0"/>
                <a:ea typeface="Poppins Bold" pitchFamily="34" charset="-122"/>
                <a:cs typeface="Poppins Bold" pitchFamily="34" charset="-120"/>
              </a:rPr>
              <a:t>secret version</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SetSecretAsync</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Key Vault raises </a:t>
            </a:r>
            <a:r>
              <a:rPr lang="en-US" sz="1400" dirty="0">
                <a:solidFill>
                  <a:srgbClr val="1B365D"/>
                </a:solidFill>
                <a:highlight>
                  <a:srgbClr val="F2F2F2"/>
                </a:highlight>
                <a:latin typeface="Consolas" pitchFamily="34" charset="0"/>
                <a:ea typeface="Consolas" pitchFamily="34" charset="-122"/>
                <a:cs typeface="Consolas" pitchFamily="34" charset="-120"/>
              </a:rPr>
              <a:t>SecretNearExpiry</a:t>
            </a:r>
            <a:r>
              <a:rPr lang="en-US" sz="1400" dirty="0">
                <a:solidFill>
                  <a:srgbClr val="1B365D"/>
                </a:solidFill>
                <a:latin typeface="Poppins" pitchFamily="34" charset="0"/>
                <a:ea typeface="Poppins" pitchFamily="34" charset="-122"/>
                <a:cs typeface="Poppins" pitchFamily="34" charset="-120"/>
              </a:rPr>
              <a:t> 30 days before the expiration date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Event Grid delivers it to a rotation function that writes the new version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Restart the Container Apps revision so the container reads it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Prefer managed identity; rotate only where a key is still needed</a:t>
            </a:r>
            <a:endParaRPr lang="en-US" sz="1400" dirty="0"/>
          </a:p>
        </p:txBody>
      </p:sp>
      <p:pic>
        <p:nvPicPr>
          <p:cNvPr id="5" name="Image 0" descr="preencoded.png"/>
          <p:cNvPicPr>
            <a:picLocks noChangeAspect="1"/>
          </p:cNvPicPr>
          <p:nvPr/>
        </p:nvPicPr>
        <p:blipFill>
          <a:blip r:embed="rId3"/>
          <a:stretch>
            <a:fillRect/>
          </a:stretch>
        </p:blipFill>
        <p:spPr>
          <a:xfrm>
            <a:off x="5879060" y="2273895"/>
            <a:ext cx="5906245" cy="33223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App Configuration and feature flags</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Settings load at startup, flags refresh on their own</a:t>
            </a:r>
            <a:endParaRPr lang="en-US" sz="2000" dirty="0"/>
          </a:p>
        </p:txBody>
      </p:sp>
      <p:sp>
        <p:nvSpPr>
          <p:cNvPr id="4" name="Text 2"/>
          <p:cNvSpPr/>
          <p:nvPr/>
        </p:nvSpPr>
        <p:spPr>
          <a:xfrm>
            <a:off x="609600" y="2693577"/>
            <a:ext cx="4964767" cy="26852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.NET provider loads key-values and feature flags into </a:t>
            </a:r>
            <a:r>
              <a:rPr lang="en-US" sz="1400" dirty="0">
                <a:solidFill>
                  <a:srgbClr val="1B365D"/>
                </a:solidFill>
                <a:highlight>
                  <a:srgbClr val="F2F2F2"/>
                </a:highlight>
                <a:latin typeface="Consolas" pitchFamily="34" charset="0"/>
                <a:ea typeface="Consolas" pitchFamily="34" charset="-122"/>
                <a:cs typeface="Consolas" pitchFamily="34" charset="-120"/>
              </a:rPr>
              <a:t>IConfiguration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Key Vault reference</a:t>
            </a:r>
            <a:r>
              <a:rPr lang="en-US" sz="1400" dirty="0">
                <a:solidFill>
                  <a:srgbClr val="1B365D"/>
                </a:solidFill>
                <a:latin typeface="Poppins" pitchFamily="34" charset="0"/>
                <a:ea typeface="Poppins" pitchFamily="34" charset="-122"/>
                <a:cs typeface="Poppins" pitchFamily="34" charset="-120"/>
              </a:rPr>
              <a:t> points to a secret that stays in the vault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AppHost declares the store in publish mode, </a:t>
            </a:r>
            <a:r>
              <a:rPr lang="en-US" sz="1400" dirty="0">
                <a:solidFill>
                  <a:srgbClr val="1B365D"/>
                </a:solidFill>
                <a:highlight>
                  <a:srgbClr val="F2F2F2"/>
                </a:highlight>
                <a:latin typeface="Consolas" pitchFamily="34" charset="0"/>
                <a:ea typeface="Consolas" pitchFamily="34" charset="-122"/>
                <a:cs typeface="Consolas" pitchFamily="34" charset="-120"/>
              </a:rPr>
              <a:t>WithReference</a:t>
            </a:r>
            <a:r>
              <a:rPr lang="en-US" sz="1400" dirty="0">
                <a:solidFill>
                  <a:srgbClr val="1B365D"/>
                </a:solidFill>
                <a:latin typeface="Poppins" pitchFamily="34" charset="0"/>
                <a:ea typeface="Poppins" pitchFamily="34" charset="-122"/>
                <a:cs typeface="Poppins" pitchFamily="34" charset="-120"/>
              </a:rPr>
              <a:t> grants a role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Keys load at startup, so a new key needs a </a:t>
            </a:r>
            <a:r>
              <a:rPr lang="en-US" sz="1400" b="1" dirty="0">
                <a:solidFill>
                  <a:srgbClr val="1B365D"/>
                </a:solidFill>
                <a:latin typeface="Poppins Bold" pitchFamily="34" charset="0"/>
                <a:ea typeface="Poppins Bold" pitchFamily="34" charset="-122"/>
                <a:cs typeface="Poppins Bold" pitchFamily="34" charset="-120"/>
              </a:rPr>
              <a:t>revision restart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UseFeatureFlags</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IFeatureManager</a:t>
            </a:r>
            <a:r>
              <a:rPr lang="en-US" sz="1400" dirty="0">
                <a:solidFill>
                  <a:srgbClr val="1B365D"/>
                </a:solidFill>
                <a:latin typeface="Poppins" pitchFamily="34" charset="0"/>
                <a:ea typeface="Poppins" pitchFamily="34" charset="-122"/>
                <a:cs typeface="Poppins" pitchFamily="34" charset="-120"/>
              </a:rPr>
              <a:t>, refreshed every 30 seconds</a:t>
            </a:r>
            <a:endParaRPr lang="en-US" sz="1400" dirty="0"/>
          </a:p>
        </p:txBody>
      </p:sp>
      <p:pic>
        <p:nvPicPr>
          <p:cNvPr id="5" name="Image 0" descr="preencoded.png"/>
          <p:cNvPicPr>
            <a:picLocks noChangeAspect="1"/>
          </p:cNvPicPr>
          <p:nvPr/>
        </p:nvPicPr>
        <p:blipFill>
          <a:blip r:embed="rId3"/>
          <a:stretch>
            <a:fillRect/>
          </a:stretch>
        </p:blipFill>
        <p:spPr>
          <a:xfrm>
            <a:off x="5879060" y="2673846"/>
            <a:ext cx="5906245" cy="25224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Revisions: Traffic Splitting &amp; Draining</a:t>
            </a:r>
          </a:p>
          <a:p>
            <a:pPr>
              <a:lnSpc>
                <a:spcPct val="95000"/>
              </a:lnSpc>
              <a:spcBef>
                <a:spcPts val="1400"/>
              </a:spcBef>
            </a:pPr>
            <a:r>
              <a:rPr sz="2000" b="0">
                <a:solidFill>
                  <a:srgbClr val="595F67"/>
                </a:solidFill>
                <a:latin typeface="Poppins"/>
              </a:rPr>
              <a:t>Revision modes, traffic weights and graceful shutdown</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Revision modes and traffic splitting</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Weighted traffic per revision and rollback</a:t>
            </a:r>
            <a:endParaRPr lang="en-US" sz="2000" dirty="0"/>
          </a:p>
        </p:txBody>
      </p:sp>
      <p:sp>
        <p:nvSpPr>
          <p:cNvPr id="4" name="Text 2"/>
          <p:cNvSpPr/>
          <p:nvPr/>
        </p:nvSpPr>
        <p:spPr>
          <a:xfrm>
            <a:off x="609600" y="2818336"/>
            <a:ext cx="4964767" cy="24237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Single</a:t>
            </a:r>
            <a:r>
              <a:rPr lang="en-US" sz="1400" dirty="0">
                <a:solidFill>
                  <a:srgbClr val="1B365D"/>
                </a:solidFill>
                <a:latin typeface="Poppins" pitchFamily="34" charset="0"/>
                <a:ea typeface="Poppins" pitchFamily="34" charset="-122"/>
                <a:cs typeface="Poppins" pitchFamily="34" charset="-120"/>
              </a:rPr>
              <a:t> mode is the default: the new revision takes over once ready</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Multiple</a:t>
            </a:r>
            <a:r>
              <a:rPr lang="en-US" sz="1400" dirty="0">
                <a:solidFill>
                  <a:srgbClr val="1B365D"/>
                </a:solidFill>
                <a:latin typeface="Poppins" pitchFamily="34" charset="0"/>
                <a:ea typeface="Poppins" pitchFamily="34" charset="-122"/>
                <a:cs typeface="Poppins" pitchFamily="34" charset="-120"/>
              </a:rPr>
              <a:t> mode keeps several revisions active for blue-green and canary</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az containerapp ingress traffic set</a:t>
            </a:r>
            <a:r>
              <a:rPr lang="en-US" sz="1400" dirty="0">
                <a:solidFill>
                  <a:srgbClr val="1B365D"/>
                </a:solidFill>
                <a:latin typeface="Poppins" pitchFamily="34" charset="0"/>
                <a:ea typeface="Poppins" pitchFamily="34" charset="-122"/>
                <a:cs typeface="Poppins" pitchFamily="34" charset="-120"/>
              </a:rPr>
              <a:t> sets weights that add up to 100</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Roll back with the same command and the previous revision at 100</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Labels</a:t>
            </a:r>
            <a:r>
              <a:rPr lang="en-US" sz="1400" dirty="0">
                <a:solidFill>
                  <a:srgbClr val="1B365D"/>
                </a:solidFill>
                <a:latin typeface="Poppins" pitchFamily="34" charset="0"/>
                <a:ea typeface="Poppins" pitchFamily="34" charset="-122"/>
                <a:cs typeface="Poppins" pitchFamily="34" charset="-120"/>
              </a:rPr>
              <a:t> (preview) give a revision a stable URL</a:t>
            </a:r>
            <a:endParaRPr lang="en-US" sz="1400" dirty="0"/>
          </a:p>
        </p:txBody>
      </p:sp>
      <p:pic>
        <p:nvPicPr>
          <p:cNvPr id="5" name="Image 0" descr="preencoded.png"/>
          <p:cNvPicPr>
            <a:picLocks noChangeAspect="1"/>
          </p:cNvPicPr>
          <p:nvPr/>
        </p:nvPicPr>
        <p:blipFill>
          <a:blip r:embed="rId3"/>
          <a:stretch>
            <a:fillRect/>
          </a:stretch>
        </p:blipFill>
        <p:spPr>
          <a:xfrm>
            <a:off x="5879060" y="2581473"/>
            <a:ext cx="5906245" cy="27070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Graceful shutdown for message consumers</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In-flight messages settle before SIGKILL</a:t>
            </a:r>
            <a:endParaRPr lang="en-US" sz="2000" dirty="0"/>
          </a:p>
        </p:txBody>
      </p:sp>
      <p:sp>
        <p:nvSpPr>
          <p:cNvPr id="4" name="Text 2"/>
          <p:cNvSpPr/>
          <p:nvPr/>
        </p:nvSpPr>
        <p:spPr>
          <a:xfrm>
            <a:off x="609600" y="2815806"/>
            <a:ext cx="4963080" cy="24364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change to the </a:t>
            </a:r>
            <a:r>
              <a:rPr lang="en-US" sz="1400" b="1" dirty="0">
                <a:solidFill>
                  <a:srgbClr val="1B365D"/>
                </a:solidFill>
                <a:latin typeface="Poppins Bold" pitchFamily="34" charset="0"/>
                <a:ea typeface="Poppins Bold" pitchFamily="34" charset="-122"/>
                <a:cs typeface="Poppins Bold" pitchFamily="34" charset="-120"/>
              </a:rPr>
              <a:t>template</a:t>
            </a:r>
            <a:r>
              <a:rPr lang="en-US" sz="1400" dirty="0">
                <a:solidFill>
                  <a:srgbClr val="1B365D"/>
                </a:solidFill>
                <a:latin typeface="Poppins" pitchFamily="34" charset="0"/>
                <a:ea typeface="Poppins" pitchFamily="34" charset="-122"/>
                <a:cs typeface="Poppins" pitchFamily="34" charset="-120"/>
              </a:rPr>
              <a:t> creates a revision; app-wide settings do not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SIGTERM, then </a:t>
            </a:r>
            <a:r>
              <a:rPr lang="en-US" sz="1400" dirty="0">
                <a:solidFill>
                  <a:srgbClr val="1B365D"/>
                </a:solidFill>
                <a:highlight>
                  <a:srgbClr val="F2F2F2"/>
                </a:highlight>
                <a:latin typeface="Consolas" pitchFamily="34" charset="0"/>
                <a:ea typeface="Consolas" pitchFamily="34" charset="-122"/>
                <a:cs typeface="Consolas" pitchFamily="34" charset="-120"/>
              </a:rPr>
              <a:t>terminationGracePeriodSeconds</a:t>
            </a:r>
            <a:r>
              <a:rPr lang="en-US" sz="1400" dirty="0">
                <a:solidFill>
                  <a:srgbClr val="1B365D"/>
                </a:solidFill>
                <a:latin typeface="Poppins" pitchFamily="34" charset="0"/>
                <a:ea typeface="Poppins" pitchFamily="34" charset="-122"/>
                <a:cs typeface="Poppins" pitchFamily="34" charset="-120"/>
              </a:rPr>
              <a:t> (default 30 s), then SIGKILL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Set the grace period longer than </a:t>
            </a:r>
            <a:r>
              <a:rPr lang="en-US" sz="1400" dirty="0">
                <a:solidFill>
                  <a:srgbClr val="1B365D"/>
                </a:solidFill>
                <a:highlight>
                  <a:srgbClr val="F2F2F2"/>
                </a:highlight>
                <a:latin typeface="Consolas" pitchFamily="34" charset="0"/>
                <a:ea typeface="Consolas" pitchFamily="34" charset="-122"/>
                <a:cs typeface="Consolas" pitchFamily="34" charset="-120"/>
              </a:rPr>
              <a:t>HostOptions.ShutdownTimeout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StopProcessingAsync</a:t>
            </a:r>
            <a:r>
              <a:rPr lang="en-US" sz="1400" dirty="0">
                <a:solidFill>
                  <a:srgbClr val="1B365D"/>
                </a:solidFill>
                <a:latin typeface="Poppins" pitchFamily="34" charset="0"/>
                <a:ea typeface="Poppins" pitchFamily="34" charset="-122"/>
                <a:cs typeface="Poppins" pitchFamily="34" charset="-120"/>
              </a:rPr>
              <a:t> stops intake and waits for in-flight handlers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Settle each message before the handler returns</a:t>
            </a:r>
            <a:endParaRPr lang="en-US" sz="1400" dirty="0"/>
          </a:p>
        </p:txBody>
      </p:sp>
      <p:pic>
        <p:nvPicPr>
          <p:cNvPr id="5" name="Image 0" descr="preencoded.png"/>
          <p:cNvPicPr>
            <a:picLocks noChangeAspect="1"/>
          </p:cNvPicPr>
          <p:nvPr/>
        </p:nvPicPr>
        <p:blipFill>
          <a:blip r:embed="rId3"/>
          <a:stretch>
            <a:fillRect/>
          </a:stretch>
        </p:blipFill>
        <p:spPr>
          <a:xfrm>
            <a:off x="5877373" y="2572742"/>
            <a:ext cx="5933331" cy="2719487"/>
          </a:xfrm>
          <a:prstGeom prst="rect">
            <a:avLst/>
          </a:prstGeom>
        </p:spPr>
      </p:pic>
    </p:spTree>
    <p:extLst>
      <p:ext uri="{BB962C8B-B14F-4D97-AF65-F5344CB8AC3E}">
        <p14:creationId xmlns:p14="http://schemas.microsoft.com/office/powerpoint/2010/main" val="1537483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AKS: Aspire-Generated Kubernetes Manifests</a:t>
            </a:r>
          </a:p>
          <a:p>
            <a:pPr>
              <a:lnSpc>
                <a:spcPct val="95000"/>
              </a:lnSpc>
              <a:spcBef>
                <a:spcPts val="1400"/>
              </a:spcBef>
            </a:pPr>
            <a:r>
              <a:rPr sz="2000" b="0">
                <a:solidFill>
                  <a:srgbClr val="595F67"/>
                </a:solidFill>
                <a:latin typeface="Poppins"/>
              </a:rPr>
              <a:t>Helm charts, the AKS environment and the Dapr extension</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Helm charts and the AKS target</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Publish for a pipeline or deploy in one step</a:t>
            </a:r>
            <a:endParaRPr lang="en-US" sz="2000" dirty="0"/>
          </a:p>
        </p:txBody>
      </p:sp>
      <p:sp>
        <p:nvSpPr>
          <p:cNvPr id="4" name="Text 2"/>
          <p:cNvSpPr/>
          <p:nvPr/>
        </p:nvSpPr>
        <p:spPr>
          <a:xfrm>
            <a:off x="609600" y="2815855"/>
            <a:ext cx="4963080" cy="243641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aspire publish</a:t>
            </a:r>
            <a:r>
              <a:rPr lang="en-US" sz="1400" dirty="0">
                <a:solidFill>
                  <a:srgbClr val="1B365D"/>
                </a:solidFill>
                <a:latin typeface="Poppins" pitchFamily="34" charset="0"/>
                <a:ea typeface="Poppins" pitchFamily="34" charset="-122"/>
                <a:cs typeface="Poppins" pitchFamily="34" charset="-120"/>
              </a:rPr>
              <a:t> writes a </a:t>
            </a:r>
            <a:r>
              <a:rPr lang="en-US" sz="1400" b="1" dirty="0">
                <a:solidFill>
                  <a:srgbClr val="1B365D"/>
                </a:solidFill>
                <a:latin typeface="Poppins Bold" pitchFamily="34" charset="0"/>
                <a:ea typeface="Poppins Bold" pitchFamily="34" charset="-122"/>
                <a:cs typeface="Poppins Bold" pitchFamily="34" charset="-120"/>
              </a:rPr>
              <a:t>Helm chart</a:t>
            </a:r>
            <a:r>
              <a:rPr lang="en-US" sz="1400" dirty="0">
                <a:solidFill>
                  <a:srgbClr val="1B365D"/>
                </a:solidFill>
                <a:latin typeface="Poppins" pitchFamily="34" charset="0"/>
                <a:ea typeface="Poppins" pitchFamily="34" charset="-122"/>
                <a:cs typeface="Poppins" pitchFamily="34" charset="-120"/>
              </a:rPr>
              <a:t> to </a:t>
            </a:r>
            <a:r>
              <a:rPr lang="en-US" sz="1400" dirty="0">
                <a:solidFill>
                  <a:srgbClr val="1B365D"/>
                </a:solidFill>
                <a:highlight>
                  <a:srgbClr val="F2F2F2"/>
                </a:highlight>
                <a:latin typeface="Consolas" pitchFamily="34" charset="0"/>
                <a:ea typeface="Consolas" pitchFamily="34" charset="-122"/>
                <a:cs typeface="Consolas" pitchFamily="34" charset="-120"/>
              </a:rPr>
              <a:t>aspire-output</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-o</a:t>
            </a:r>
            <a:r>
              <a:rPr lang="en-US" sz="1400" dirty="0">
                <a:solidFill>
                  <a:srgbClr val="1B365D"/>
                </a:solidFill>
                <a:latin typeface="Poppins" pitchFamily="34" charset="0"/>
                <a:ea typeface="Poppins" pitchFamily="34" charset="-122"/>
                <a:cs typeface="Poppins" pitchFamily="34" charset="-120"/>
              </a:rPr>
              <a:t> changes the folder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pipeline applies the chart with </a:t>
            </a:r>
            <a:r>
              <a:rPr lang="en-US" sz="1400" dirty="0">
                <a:solidFill>
                  <a:srgbClr val="1B365D"/>
                </a:solidFill>
                <a:highlight>
                  <a:srgbClr val="F2F2F2"/>
                </a:highlight>
                <a:latin typeface="Consolas" pitchFamily="34" charset="0"/>
                <a:ea typeface="Consolas" pitchFamily="34" charset="-122"/>
                <a:cs typeface="Consolas" pitchFamily="34" charset="-120"/>
              </a:rPr>
              <a:t>helm</a:t>
            </a:r>
            <a:r>
              <a:rPr lang="en-US" sz="1400" dirty="0">
                <a:solidFill>
                  <a:srgbClr val="1B365D"/>
                </a:solidFill>
                <a:latin typeface="Poppins" pitchFamily="34" charset="0"/>
                <a:ea typeface="Poppins" pitchFamily="34" charset="-122"/>
                <a:cs typeface="Poppins" pitchFamily="34" charset="-120"/>
              </a:rPr>
              <a:t> or a CI job</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Publishing leaves the cluster unchanged, so you can review the chart first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AKS target</a:t>
            </a:r>
            <a:r>
              <a:rPr lang="en-US" sz="1400" dirty="0">
                <a:solidFill>
                  <a:srgbClr val="1B365D"/>
                </a:solidFill>
                <a:latin typeface="Poppins" pitchFamily="34" charset="0"/>
                <a:ea typeface="Poppins" pitchFamily="34" charset="-122"/>
                <a:cs typeface="Poppins" pitchFamily="34" charset="-120"/>
              </a:rPr>
              <a:t> adds Bicep: </a:t>
            </a:r>
            <a:r>
              <a:rPr lang="en-US" sz="1400" dirty="0">
                <a:solidFill>
                  <a:srgbClr val="1B365D"/>
                </a:solidFill>
                <a:highlight>
                  <a:srgbClr val="F2F2F2"/>
                </a:highlight>
                <a:latin typeface="Consolas" pitchFamily="34" charset="0"/>
                <a:ea typeface="Consolas" pitchFamily="34" charset="-122"/>
                <a:cs typeface="Consolas" pitchFamily="34" charset="-120"/>
              </a:rPr>
              <a:t>aspire deploy</a:t>
            </a:r>
            <a:r>
              <a:rPr lang="en-US" sz="1400" dirty="0">
                <a:solidFill>
                  <a:srgbClr val="1B365D"/>
                </a:solidFill>
                <a:latin typeface="Poppins" pitchFamily="34" charset="0"/>
                <a:ea typeface="Poppins" pitchFamily="34" charset="-122"/>
                <a:cs typeface="Poppins" pitchFamily="34" charset="-120"/>
              </a:rPr>
              <a:t> provisions and deploys in one command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Aspire CLI reference labels both commands as preview</a:t>
            </a:r>
            <a:endParaRPr lang="en-US" sz="1400" dirty="0"/>
          </a:p>
        </p:txBody>
      </p:sp>
      <p:pic>
        <p:nvPicPr>
          <p:cNvPr id="5" name="Image 0" descr="preencoded.png"/>
          <p:cNvPicPr>
            <a:picLocks noChangeAspect="1"/>
          </p:cNvPicPr>
          <p:nvPr/>
        </p:nvPicPr>
        <p:blipFill>
          <a:blip r:embed="rId3"/>
          <a:stretch>
            <a:fillRect/>
          </a:stretch>
        </p:blipFill>
        <p:spPr>
          <a:xfrm>
            <a:off x="5877373" y="2263775"/>
            <a:ext cx="5933331" cy="3337520"/>
          </a:xfrm>
          <a:prstGeom prst="rect">
            <a:avLst/>
          </a:prstGeom>
        </p:spPr>
      </p:pic>
    </p:spTree>
    <p:extLst>
      <p:ext uri="{BB962C8B-B14F-4D97-AF65-F5344CB8AC3E}">
        <p14:creationId xmlns:p14="http://schemas.microsoft.com/office/powerpoint/2010/main" val="3886563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AKS environment and the Dapr extension</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host where you control the Dapr extension</a:t>
            </a:r>
            <a:endParaRPr lang="en-US" sz="2000" dirty="0"/>
          </a:p>
        </p:txBody>
      </p:sp>
      <p:sp>
        <p:nvSpPr>
          <p:cNvPr id="4" name="Text 2"/>
          <p:cNvSpPr/>
          <p:nvPr/>
        </p:nvSpPr>
        <p:spPr>
          <a:xfrm>
            <a:off x="609600" y="2691047"/>
            <a:ext cx="4963080" cy="269160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AddAzureKubernetesEnvironment</a:t>
            </a:r>
            <a:r>
              <a:rPr lang="en-US" sz="1400" dirty="0">
                <a:solidFill>
                  <a:srgbClr val="1B365D"/>
                </a:solidFill>
                <a:latin typeface="Poppins" pitchFamily="34" charset="0"/>
                <a:ea typeface="Poppins" pitchFamily="34" charset="-122"/>
                <a:cs typeface="Poppins" pitchFamily="34" charset="-120"/>
              </a:rPr>
              <a:t> declares the cluster as a compute environment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WithSystemNodePool</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AddNodePool("routing", ...)</a:t>
            </a:r>
            <a:r>
              <a:rPr lang="en-US" sz="1400" dirty="0">
                <a:solidFill>
                  <a:srgbClr val="1B365D"/>
                </a:solidFill>
                <a:latin typeface="Poppins" pitchFamily="34" charset="0"/>
                <a:ea typeface="Poppins" pitchFamily="34" charset="-122"/>
                <a:cs typeface="Poppins" pitchFamily="34" charset="-120"/>
              </a:rPr>
              <a:t> set the node pools</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WithContainerRegistry</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WithWorkloadIdentity</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WithSubnet</a:t>
            </a:r>
            <a:r>
              <a:rPr lang="en-US" sz="1400" dirty="0">
                <a:solidFill>
                  <a:srgbClr val="1B365D"/>
                </a:solidFill>
                <a:latin typeface="Poppins" pitchFamily="34" charset="0"/>
                <a:ea typeface="Poppins" pitchFamily="34" charset="-122"/>
                <a:cs typeface="Poppins" pitchFamily="34" charset="-120"/>
              </a:rPr>
              <a:t> fit existing resources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Dapr extension</a:t>
            </a:r>
            <a:r>
              <a:rPr lang="en-US" sz="1400" dirty="0">
                <a:solidFill>
                  <a:srgbClr val="1B365D"/>
                </a:solidFill>
                <a:latin typeface="Poppins" pitchFamily="34" charset="0"/>
                <a:ea typeface="Poppins" pitchFamily="34" charset="-122"/>
                <a:cs typeface="Poppins" pitchFamily="34" charset="-120"/>
              </a:rPr>
              <a:t> installs the runtime as a managed cluster extension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Ingress and Gateway API on AKS are preview in the Aspire documentation</a:t>
            </a:r>
            <a:endParaRPr lang="en-US" sz="1400" dirty="0"/>
          </a:p>
        </p:txBody>
      </p:sp>
      <p:pic>
        <p:nvPicPr>
          <p:cNvPr id="5" name="Image 0" descr="preencoded.png"/>
          <p:cNvPicPr>
            <a:picLocks noChangeAspect="1"/>
          </p:cNvPicPr>
          <p:nvPr/>
        </p:nvPicPr>
        <p:blipFill>
          <a:blip r:embed="rId3"/>
          <a:stretch>
            <a:fillRect/>
          </a:stretch>
        </p:blipFill>
        <p:spPr>
          <a:xfrm>
            <a:off x="5877373" y="2263775"/>
            <a:ext cx="5933331" cy="3337520"/>
          </a:xfrm>
          <a:prstGeom prst="rect">
            <a:avLst/>
          </a:prstGeom>
        </p:spPr>
      </p:pic>
    </p:spTree>
    <p:extLst>
      <p:ext uri="{BB962C8B-B14F-4D97-AF65-F5344CB8AC3E}">
        <p14:creationId xmlns:p14="http://schemas.microsoft.com/office/powerpoint/2010/main" val="3051198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Application Insights: Traces &amp; KQL</a:t>
            </a:r>
          </a:p>
          <a:p>
            <a:pPr>
              <a:lnSpc>
                <a:spcPct val="95000"/>
              </a:lnSpc>
              <a:spcBef>
                <a:spcPts val="1400"/>
              </a:spcBef>
            </a:pPr>
            <a:r>
              <a:rPr sz="2000" b="0">
                <a:solidFill>
                  <a:srgbClr val="595F67"/>
                </a:solidFill>
                <a:latin typeface="Poppins"/>
              </a:rPr>
              <a:t>The Azure Monitor distro, trace context and KQL</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Sending telemetry to Application Insights</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Azure Monitor distro in the shared service defaults</a:t>
            </a:r>
            <a:endParaRPr lang="en-US" sz="2000" dirty="0"/>
          </a:p>
        </p:txBody>
      </p:sp>
      <p:sp>
        <p:nvSpPr>
          <p:cNvPr id="4" name="Text 2"/>
          <p:cNvSpPr/>
          <p:nvPr/>
        </p:nvSpPr>
        <p:spPr>
          <a:xfrm>
            <a:off x="609600" y="2691047"/>
            <a:ext cx="4963080" cy="268525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UseAzureMonitor</a:t>
            </a:r>
            <a:r>
              <a:rPr lang="en-US" sz="1400" dirty="0">
                <a:solidFill>
                  <a:srgbClr val="1B365D"/>
                </a:solidFill>
                <a:latin typeface="Poppins" pitchFamily="34" charset="0"/>
                <a:ea typeface="Poppins" pitchFamily="34" charset="-122"/>
                <a:cs typeface="Poppins" pitchFamily="34" charset="-120"/>
              </a:rPr>
              <a:t> adds traces, metrics and logs to an ASP.NET Core service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distro reads </a:t>
            </a:r>
            <a:r>
              <a:rPr lang="en-US" sz="1400" dirty="0">
                <a:solidFill>
                  <a:srgbClr val="1B365D"/>
                </a:solidFill>
                <a:highlight>
                  <a:srgbClr val="F2F2F2"/>
                </a:highlight>
                <a:latin typeface="Consolas" pitchFamily="34" charset="0"/>
                <a:ea typeface="Consolas" pitchFamily="34" charset="-122"/>
                <a:cs typeface="Consolas" pitchFamily="34" charset="-120"/>
              </a:rPr>
              <a:t>APPLICATIONINSIGHTS_CONNECTION_STRING</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AddAzureApplicationInsights</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WithReference</a:t>
            </a:r>
            <a:r>
              <a:rPr lang="en-US" sz="1400" dirty="0">
                <a:solidFill>
                  <a:srgbClr val="1B365D"/>
                </a:solidFill>
                <a:latin typeface="Poppins" pitchFamily="34" charset="0"/>
                <a:ea typeface="Poppins" pitchFamily="34" charset="-122"/>
                <a:cs typeface="Poppins" pitchFamily="34" charset="-120"/>
              </a:rPr>
              <a:t> set it in publish mode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managed OpenTelemetry agent</a:t>
            </a:r>
            <a:r>
              <a:rPr lang="en-US" sz="1400" dirty="0">
                <a:solidFill>
                  <a:srgbClr val="1B365D"/>
                </a:solidFill>
                <a:latin typeface="Poppins" pitchFamily="34" charset="0"/>
                <a:ea typeface="Poppins" pitchFamily="34" charset="-122"/>
                <a:cs typeface="Poppins" pitchFamily="34" charset="-120"/>
              </a:rPr>
              <a:t> receives OTLP over gRPC (preview)</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Learn recommends the Microsoft OpenTelemetry Distro for new .NET apps</a:t>
            </a:r>
            <a:endParaRPr lang="en-US" sz="1400" dirty="0"/>
          </a:p>
        </p:txBody>
      </p:sp>
      <p:pic>
        <p:nvPicPr>
          <p:cNvPr id="5" name="Image 0" descr="preencoded.png"/>
          <p:cNvPicPr>
            <a:picLocks noChangeAspect="1"/>
          </p:cNvPicPr>
          <p:nvPr/>
        </p:nvPicPr>
        <p:blipFill>
          <a:blip r:embed="rId3"/>
          <a:stretch>
            <a:fillRect/>
          </a:stretch>
        </p:blipFill>
        <p:spPr>
          <a:xfrm>
            <a:off x="5877373" y="2665512"/>
            <a:ext cx="5933331" cy="2534047"/>
          </a:xfrm>
          <a:prstGeom prst="rect">
            <a:avLst/>
          </a:prstGeom>
        </p:spPr>
      </p:pic>
    </p:spTree>
    <p:extLst>
      <p:ext uri="{BB962C8B-B14F-4D97-AF65-F5344CB8AC3E}">
        <p14:creationId xmlns:p14="http://schemas.microsoft.com/office/powerpoint/2010/main" val="1736447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Trace context and telemetry tables</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OperationId and ParentId join the rows of one scan</a:t>
            </a:r>
            <a:endParaRPr lang="en-US" sz="2000" dirty="0"/>
          </a:p>
        </p:txBody>
      </p:sp>
      <p:sp>
        <p:nvSpPr>
          <p:cNvPr id="4" name="Text 2"/>
          <p:cNvSpPr/>
          <p:nvPr/>
        </p:nvSpPr>
        <p:spPr>
          <a:xfrm>
            <a:off x="609600" y="2690997"/>
            <a:ext cx="4963080" cy="26979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Service Bus SDK writes the trace context as </a:t>
            </a:r>
            <a:r>
              <a:rPr lang="en-US" sz="1400" dirty="0">
                <a:solidFill>
                  <a:srgbClr val="1B365D"/>
                </a:solidFill>
                <a:highlight>
                  <a:srgbClr val="F2F2F2"/>
                </a:highlight>
                <a:latin typeface="Consolas" pitchFamily="34" charset="0"/>
                <a:ea typeface="Consolas" pitchFamily="34" charset="-122"/>
                <a:cs typeface="Consolas" pitchFamily="34" charset="-120"/>
              </a:rPr>
              <a:t>Diagnostic-Id</a:t>
            </a:r>
            <a:r>
              <a:rPr lang="en-US" sz="1400" dirty="0">
                <a:solidFill>
                  <a:srgbClr val="1B365D"/>
                </a:solidFill>
                <a:latin typeface="Poppins" pitchFamily="34" charset="0"/>
                <a:ea typeface="Poppins" pitchFamily="34" charset="-122"/>
                <a:cs typeface="Poppins" pitchFamily="34" charset="-120"/>
              </a:rPr>
              <a:t> in </a:t>
            </a:r>
            <a:r>
              <a:rPr lang="en-US" sz="1400" dirty="0">
                <a:solidFill>
                  <a:srgbClr val="1B365D"/>
                </a:solidFill>
                <a:highlight>
                  <a:srgbClr val="F2F2F2"/>
                </a:highlight>
                <a:latin typeface="Consolas" pitchFamily="34" charset="0"/>
                <a:ea typeface="Consolas" pitchFamily="34" charset="-122"/>
                <a:cs typeface="Consolas" pitchFamily="34" charset="-120"/>
              </a:rPr>
              <a:t>traceparent</a:t>
            </a:r>
            <a:r>
              <a:rPr lang="en-US" sz="1400" dirty="0">
                <a:solidFill>
                  <a:srgbClr val="1B365D"/>
                </a:solidFill>
                <a:latin typeface="Poppins" pitchFamily="34" charset="0"/>
                <a:ea typeface="Poppins" pitchFamily="34" charset="-122"/>
                <a:cs typeface="Poppins" pitchFamily="34" charset="-120"/>
              </a:rPr>
              <a:t> format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Send, receive, process and complete spans link through a </a:t>
            </a:r>
            <a:r>
              <a:rPr lang="en-US" sz="1400" dirty="0">
                <a:solidFill>
                  <a:srgbClr val="1B365D"/>
                </a:solidFill>
                <a:highlight>
                  <a:srgbClr val="F2F2F2"/>
                </a:highlight>
                <a:latin typeface="Consolas" pitchFamily="34" charset="0"/>
                <a:ea typeface="Consolas" pitchFamily="34" charset="-122"/>
                <a:cs typeface="Consolas" pitchFamily="34" charset="-120"/>
              </a:rPr>
              <a:t>Message</a:t>
            </a:r>
            <a:r>
              <a:rPr lang="en-US" sz="1400" dirty="0">
                <a:solidFill>
                  <a:srgbClr val="1B365D"/>
                </a:solidFill>
                <a:latin typeface="Poppins" pitchFamily="34" charset="0"/>
                <a:ea typeface="Poppins" pitchFamily="34" charset="-122"/>
                <a:cs typeface="Poppins" pitchFamily="34" charset="-120"/>
              </a:rPr>
              <a:t> span</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AppRequests</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AppDependencies</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AppTraces</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AppExceptions</a:t>
            </a:r>
            <a:r>
              <a:rPr lang="en-US" sz="1400" dirty="0">
                <a:solidFill>
                  <a:srgbClr val="1B365D"/>
                </a:solidFill>
                <a:latin typeface="Poppins" pitchFamily="34" charset="0"/>
                <a:ea typeface="Poppins" pitchFamily="34" charset="-122"/>
                <a:cs typeface="Poppins" pitchFamily="34" charset="-120"/>
              </a:rPr>
              <a:t>: one table per type</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OperationId</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ParentId</a:t>
            </a:r>
            <a:r>
              <a:rPr lang="en-US" sz="1400" dirty="0">
                <a:solidFill>
                  <a:srgbClr val="1B365D"/>
                </a:solidFill>
                <a:latin typeface="Poppins" pitchFamily="34" charset="0"/>
                <a:ea typeface="Poppins" pitchFamily="34" charset="-122"/>
                <a:cs typeface="Poppins" pitchFamily="34" charset="-120"/>
              </a:rPr>
              <a:t> join the rows of one transaction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end-to-end transaction view draws them as a </a:t>
            </a:r>
            <a:r>
              <a:rPr lang="en-US" sz="1400" b="1" dirty="0">
                <a:solidFill>
                  <a:srgbClr val="1B365D"/>
                </a:solidFill>
                <a:latin typeface="Poppins Bold" pitchFamily="34" charset="0"/>
                <a:ea typeface="Poppins Bold" pitchFamily="34" charset="-122"/>
                <a:cs typeface="Poppins Bold" pitchFamily="34" charset="-120"/>
              </a:rPr>
              <a:t>Gantt chart</a:t>
            </a:r>
            <a:endParaRPr lang="en-US" sz="1400" dirty="0"/>
          </a:p>
        </p:txBody>
      </p:sp>
      <p:pic>
        <p:nvPicPr>
          <p:cNvPr id="5" name="Image 0" descr="preencoded.png"/>
          <p:cNvPicPr>
            <a:picLocks noChangeAspect="1"/>
          </p:cNvPicPr>
          <p:nvPr/>
        </p:nvPicPr>
        <p:blipFill>
          <a:blip r:embed="rId3"/>
          <a:stretch>
            <a:fillRect/>
          </a:stretch>
        </p:blipFill>
        <p:spPr>
          <a:xfrm>
            <a:off x="5877373" y="2232819"/>
            <a:ext cx="5933331" cy="3399334"/>
          </a:xfrm>
          <a:prstGeom prst="rect">
            <a:avLst/>
          </a:prstGeom>
        </p:spPr>
      </p:pic>
    </p:spTree>
    <p:extLst>
      <p:ext uri="{BB962C8B-B14F-4D97-AF65-F5344CB8AC3E}">
        <p14:creationId xmlns:p14="http://schemas.microsoft.com/office/powerpoint/2010/main" val="877073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Shipping Contoso Logistics to Container Apps</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runs in rg-azn-labs at the end of the lab</a:t>
            </a:r>
            <a:endParaRPr lang="en-US" sz="2000" dirty="0"/>
          </a:p>
        </p:txBody>
      </p:sp>
      <p:sp>
        <p:nvSpPr>
          <p:cNvPr id="4" name="Text 2"/>
          <p:cNvSpPr/>
          <p:nvPr/>
        </p:nvSpPr>
        <p:spPr>
          <a:xfrm>
            <a:off x="609600" y="2691047"/>
            <a:ext cx="4963080" cy="24491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1: </a:t>
            </a:r>
            <a:r>
              <a:rPr lang="en-US" sz="1400" dirty="0">
                <a:solidFill>
                  <a:srgbClr val="1B365D"/>
                </a:solidFill>
                <a:highlight>
                  <a:srgbClr val="F2F2F2"/>
                </a:highlight>
                <a:latin typeface="Consolas" pitchFamily="34" charset="0"/>
                <a:ea typeface="Consolas" pitchFamily="34" charset="-122"/>
                <a:cs typeface="Consolas" pitchFamily="34" charset="-120"/>
              </a:rPr>
              <a:t>aspire deploy</a:t>
            </a:r>
            <a:r>
              <a:rPr lang="en-US" sz="1400" dirty="0">
                <a:solidFill>
                  <a:srgbClr val="1B365D"/>
                </a:solidFill>
                <a:latin typeface="Poppins" pitchFamily="34" charset="0"/>
                <a:ea typeface="Poppins" pitchFamily="34" charset="-122"/>
                <a:cs typeface="Poppins" pitchFamily="34" charset="-120"/>
              </a:rPr>
              <a:t> creates </a:t>
            </a:r>
            <a:r>
              <a:rPr lang="en-US" sz="1400" dirty="0">
                <a:solidFill>
                  <a:srgbClr val="1B365D"/>
                </a:solidFill>
                <a:highlight>
                  <a:srgbClr val="F2F2F2"/>
                </a:highlight>
                <a:latin typeface="Consolas" pitchFamily="34" charset="0"/>
                <a:ea typeface="Consolas" pitchFamily="34" charset="-122"/>
                <a:cs typeface="Consolas" pitchFamily="34" charset="-120"/>
              </a:rPr>
              <a:t>aca-env</a:t>
            </a:r>
            <a:r>
              <a:rPr lang="en-US" sz="1400" dirty="0">
                <a:solidFill>
                  <a:srgbClr val="1B365D"/>
                </a:solidFill>
                <a:latin typeface="Poppins" pitchFamily="34" charset="0"/>
                <a:ea typeface="Poppins" pitchFamily="34" charset="-122"/>
                <a:cs typeface="Poppins" pitchFamily="34" charset="-120"/>
              </a:rPr>
              <a:t> with public </a:t>
            </a:r>
            <a:r>
              <a:rPr lang="en-US" sz="1400" dirty="0">
                <a:solidFill>
                  <a:srgbClr val="1B365D"/>
                </a:solidFill>
                <a:highlight>
                  <a:srgbClr val="F2F2F2"/>
                </a:highlight>
                <a:latin typeface="Consolas" pitchFamily="34" charset="0"/>
                <a:ea typeface="Consolas" pitchFamily="34" charset="-122"/>
                <a:cs typeface="Consolas" pitchFamily="34" charset="-120"/>
              </a:rPr>
              <a:t>shipping-api</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tracking-service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2 and 3: </a:t>
            </a:r>
            <a:r>
              <a:rPr lang="en-US" sz="1400" dirty="0">
                <a:solidFill>
                  <a:srgbClr val="1B365D"/>
                </a:solidFill>
                <a:highlight>
                  <a:srgbClr val="F2F2F2"/>
                </a:highlight>
                <a:latin typeface="Consolas" pitchFamily="34" charset="0"/>
                <a:ea typeface="Consolas" pitchFamily="34" charset="-122"/>
                <a:cs typeface="Consolas" pitchFamily="34" charset="-120"/>
              </a:rPr>
              <a:t>carrier-api-key</a:t>
            </a:r>
            <a:r>
              <a:rPr lang="en-US" sz="1400" dirty="0">
                <a:solidFill>
                  <a:srgbClr val="1B365D"/>
                </a:solidFill>
                <a:latin typeface="Poppins" pitchFamily="34" charset="0"/>
                <a:ea typeface="Poppins" pitchFamily="34" charset="-122"/>
                <a:cs typeface="Poppins" pitchFamily="34" charset="-120"/>
              </a:rPr>
              <a:t> from </a:t>
            </a:r>
            <a:r>
              <a:rPr lang="en-US" sz="1400" b="1" dirty="0">
                <a:solidFill>
                  <a:srgbClr val="1B365D"/>
                </a:solidFill>
                <a:latin typeface="Poppins Bold" pitchFamily="34" charset="0"/>
                <a:ea typeface="Poppins Bold" pitchFamily="34" charset="-122"/>
                <a:cs typeface="Poppins Bold" pitchFamily="34" charset="-120"/>
              </a:rPr>
              <a:t>Key Vault</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Tracking:PageSize</a:t>
            </a:r>
            <a:r>
              <a:rPr lang="en-US" sz="1400" dirty="0">
                <a:solidFill>
                  <a:srgbClr val="1B365D"/>
                </a:solidFill>
                <a:latin typeface="Poppins" pitchFamily="34" charset="0"/>
                <a:ea typeface="Poppins" pitchFamily="34" charset="-122"/>
                <a:cs typeface="Poppins" pitchFamily="34" charset="-120"/>
              </a:rPr>
              <a:t> from </a:t>
            </a:r>
            <a:r>
              <a:rPr lang="en-US" sz="1400" b="1" dirty="0">
                <a:solidFill>
                  <a:srgbClr val="1B365D"/>
                </a:solidFill>
                <a:latin typeface="Poppins Bold" pitchFamily="34" charset="0"/>
                <a:ea typeface="Poppins Bold" pitchFamily="34" charset="-122"/>
                <a:cs typeface="Poppins Bold" pitchFamily="34" charset="-120"/>
              </a:rPr>
              <a:t>App Configuration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4: both services export telemetry to </a:t>
            </a:r>
            <a:r>
              <a:rPr lang="en-US" sz="1400" b="1" dirty="0">
                <a:solidFill>
                  <a:srgbClr val="1B365D"/>
                </a:solidFill>
                <a:latin typeface="Poppins Bold" pitchFamily="34" charset="0"/>
                <a:ea typeface="Poppins Bold" pitchFamily="34" charset="-122"/>
                <a:cs typeface="Poppins Bold" pitchFamily="34" charset="-120"/>
              </a:rPr>
              <a:t>Application Insights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5: tracking-service v2 behind a </a:t>
            </a:r>
            <a:r>
              <a:rPr lang="en-US" sz="1400" b="1" dirty="0">
                <a:solidFill>
                  <a:srgbClr val="1B365D"/>
                </a:solidFill>
                <a:latin typeface="Poppins Bold" pitchFamily="34" charset="0"/>
                <a:ea typeface="Poppins Bold" pitchFamily="34" charset="-122"/>
                <a:cs typeface="Poppins Bold" pitchFamily="34" charset="-120"/>
              </a:rPr>
              <a:t>90/10 traffic split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6: </a:t>
            </a:r>
            <a:r>
              <a:rPr lang="en-US" sz="1400" dirty="0">
                <a:solidFill>
                  <a:srgbClr val="1B365D"/>
                </a:solidFill>
                <a:highlight>
                  <a:srgbClr val="F2F2F2"/>
                </a:highlight>
                <a:latin typeface="Consolas" pitchFamily="34" charset="0"/>
                <a:ea typeface="Consolas" pitchFamily="34" charset="-122"/>
                <a:cs typeface="Consolas" pitchFamily="34" charset="-120"/>
              </a:rPr>
              <a:t>booking-trace.kql</a:t>
            </a:r>
            <a:r>
              <a:rPr lang="en-US" sz="1400" dirty="0">
                <a:solidFill>
                  <a:srgbClr val="1B365D"/>
                </a:solidFill>
                <a:latin typeface="Poppins" pitchFamily="34" charset="0"/>
                <a:ea typeface="Poppins" pitchFamily="34" charset="-122"/>
                <a:cs typeface="Poppins" pitchFamily="34" charset="-120"/>
              </a:rPr>
              <a:t> follows one booking across both services</a:t>
            </a:r>
            <a:endParaRPr lang="en-US" sz="1400" dirty="0"/>
          </a:p>
        </p:txBody>
      </p:sp>
      <p:pic>
        <p:nvPicPr>
          <p:cNvPr id="5" name="Image 0" descr="preencoded.png"/>
          <p:cNvPicPr>
            <a:picLocks noChangeAspect="1"/>
          </p:cNvPicPr>
          <p:nvPr/>
        </p:nvPicPr>
        <p:blipFill>
          <a:blip r:embed="rId3"/>
          <a:stretch>
            <a:fillRect/>
          </a:stretch>
        </p:blipFill>
        <p:spPr>
          <a:xfrm>
            <a:off x="5877373" y="2263775"/>
            <a:ext cx="5933331" cy="3337520"/>
          </a:xfrm>
          <a:prstGeom prst="rect">
            <a:avLst/>
          </a:prstGeom>
        </p:spPr>
      </p:pic>
    </p:spTree>
    <p:extLst>
      <p:ext uri="{BB962C8B-B14F-4D97-AF65-F5344CB8AC3E}">
        <p14:creationId xmlns:p14="http://schemas.microsoft.com/office/powerpoint/2010/main" val="964020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Following one booking with KQL</a:t>
            </a:r>
            <a:endParaRPr lang="en-US" sz="28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One query returns every row of the booking</a:t>
            </a:r>
            <a:endParaRPr lang="en-US" sz="2000" dirty="0"/>
          </a:p>
        </p:txBody>
      </p:sp>
      <p:sp>
        <p:nvSpPr>
          <p:cNvPr id="4" name="Text 2"/>
          <p:cNvSpPr/>
          <p:nvPr/>
        </p:nvSpPr>
        <p:spPr>
          <a:xfrm>
            <a:off x="609600" y="2691156"/>
            <a:ext cx="4963080" cy="271065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POST /shipments</a:t>
            </a:r>
            <a:r>
              <a:rPr lang="en-US" sz="1400" dirty="0">
                <a:solidFill>
                  <a:srgbClr val="1B365D"/>
                </a:solidFill>
                <a:latin typeface="Poppins" pitchFamily="34" charset="0"/>
                <a:ea typeface="Poppins" pitchFamily="34" charset="-122"/>
                <a:cs typeface="Poppins" pitchFamily="34" charset="-120"/>
              </a:rPr>
              <a:t> with tracking number </a:t>
            </a:r>
            <a:r>
              <a:rPr lang="en-US" sz="1400" dirty="0">
                <a:solidFill>
                  <a:srgbClr val="1B365D"/>
                </a:solidFill>
                <a:highlight>
                  <a:srgbClr val="F2F2F2"/>
                </a:highlight>
                <a:latin typeface="Consolas" pitchFamily="34" charset="0"/>
                <a:ea typeface="Consolas" pitchFamily="34" charset="-122"/>
                <a:cs typeface="Consolas" pitchFamily="34" charset="-120"/>
              </a:rPr>
              <a:t>CL-2026-000142</a:t>
            </a:r>
            <a:r>
              <a:rPr lang="en-US" sz="1400" dirty="0">
                <a:solidFill>
                  <a:srgbClr val="1B365D"/>
                </a:solidFill>
                <a:latin typeface="Poppins" pitchFamily="34" charset="0"/>
                <a:ea typeface="Poppins" pitchFamily="34" charset="-122"/>
                <a:cs typeface="Poppins" pitchFamily="34" charset="-120"/>
              </a:rPr>
              <a:t> returns 201 Created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shipping-api writes to </a:t>
            </a:r>
            <a:r>
              <a:rPr lang="en-US" sz="1400" dirty="0">
                <a:solidFill>
                  <a:srgbClr val="1B365D"/>
                </a:solidFill>
                <a:highlight>
                  <a:srgbClr val="F2F2F2"/>
                </a:highlight>
                <a:latin typeface="Consolas" pitchFamily="34" charset="0"/>
                <a:ea typeface="Consolas" pitchFamily="34" charset="-122"/>
                <a:cs typeface="Consolas" pitchFamily="34" charset="-120"/>
              </a:rPr>
              <a:t>shipments</a:t>
            </a:r>
            <a:r>
              <a:rPr lang="en-US" sz="1400" dirty="0">
                <a:solidFill>
                  <a:srgbClr val="1B365D"/>
                </a:solidFill>
                <a:latin typeface="Poppins" pitchFamily="34" charset="0"/>
                <a:ea typeface="Poppins" pitchFamily="34" charset="-122"/>
                <a:cs typeface="Poppins" pitchFamily="34" charset="-120"/>
              </a:rPr>
              <a:t> and sends </a:t>
            </a:r>
            <a:r>
              <a:rPr lang="en-US" sz="1400" dirty="0">
                <a:solidFill>
                  <a:srgbClr val="1B365D"/>
                </a:solidFill>
                <a:highlight>
                  <a:srgbClr val="F2F2F2"/>
                </a:highlight>
                <a:latin typeface="Consolas" pitchFamily="34" charset="0"/>
                <a:ea typeface="Consolas" pitchFamily="34" charset="-122"/>
                <a:cs typeface="Consolas" pitchFamily="34" charset="-120"/>
              </a:rPr>
              <a:t>ShipmentBooked</a:t>
            </a:r>
            <a:r>
              <a:rPr lang="en-US" sz="1400" dirty="0">
                <a:solidFill>
                  <a:srgbClr val="1B365D"/>
                </a:solidFill>
                <a:latin typeface="Poppins" pitchFamily="34" charset="0"/>
                <a:ea typeface="Poppins" pitchFamily="34" charset="-122"/>
                <a:cs typeface="Poppins" pitchFamily="34" charset="-120"/>
              </a:rPr>
              <a:t> to </a:t>
            </a:r>
            <a:r>
              <a:rPr lang="en-US" sz="1400" dirty="0">
                <a:solidFill>
                  <a:srgbClr val="1B365D"/>
                </a:solidFill>
                <a:highlight>
                  <a:srgbClr val="F2F2F2"/>
                </a:highlight>
                <a:latin typeface="Consolas" pitchFamily="34" charset="0"/>
                <a:ea typeface="Consolas" pitchFamily="34" charset="-122"/>
                <a:cs typeface="Consolas" pitchFamily="34" charset="-120"/>
              </a:rPr>
              <a:t>shipment-events</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ShipmentBookedProcessor</a:t>
            </a:r>
            <a:r>
              <a:rPr lang="en-US" sz="1400" dirty="0">
                <a:solidFill>
                  <a:srgbClr val="1B365D"/>
                </a:solidFill>
                <a:latin typeface="Poppins" pitchFamily="34" charset="0"/>
                <a:ea typeface="Poppins" pitchFamily="34" charset="-122"/>
                <a:cs typeface="Poppins" pitchFamily="34" charset="-120"/>
              </a:rPr>
              <a:t> in tracking-service writes the booking to </a:t>
            </a:r>
            <a:r>
              <a:rPr lang="en-US" sz="1400" dirty="0">
                <a:solidFill>
                  <a:srgbClr val="1B365D"/>
                </a:solidFill>
                <a:highlight>
                  <a:srgbClr val="F2F2F2"/>
                </a:highlight>
                <a:latin typeface="Consolas" pitchFamily="34" charset="0"/>
                <a:ea typeface="Consolas" pitchFamily="34" charset="-122"/>
                <a:cs typeface="Consolas" pitchFamily="34" charset="-120"/>
              </a:rPr>
              <a:t>tracking</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booking-trace.kql</a:t>
            </a:r>
            <a:r>
              <a:rPr lang="en-US" sz="1400" dirty="0">
                <a:solidFill>
                  <a:srgbClr val="1B365D"/>
                </a:solidFill>
                <a:latin typeface="Poppins" pitchFamily="34" charset="0"/>
                <a:ea typeface="Poppins" pitchFamily="34" charset="-122"/>
                <a:cs typeface="Poppins" pitchFamily="34" charset="-120"/>
              </a:rPr>
              <a:t> takes the </a:t>
            </a:r>
            <a:r>
              <a:rPr lang="en-US" sz="1400" b="1" dirty="0">
                <a:solidFill>
                  <a:srgbClr val="1B365D"/>
                </a:solidFill>
                <a:latin typeface="Poppins Bold" pitchFamily="34" charset="0"/>
                <a:ea typeface="Poppins Bold" pitchFamily="34" charset="-122"/>
                <a:cs typeface="Poppins Bold" pitchFamily="34" charset="-120"/>
              </a:rPr>
              <a:t>OperationId</a:t>
            </a:r>
            <a:r>
              <a:rPr lang="en-US" sz="1400" dirty="0">
                <a:solidFill>
                  <a:srgbClr val="1B365D"/>
                </a:solidFill>
                <a:latin typeface="Poppins" pitchFamily="34" charset="0"/>
                <a:ea typeface="Poppins" pitchFamily="34" charset="-122"/>
                <a:cs typeface="Poppins" pitchFamily="34" charset="-120"/>
              </a:rPr>
              <a:t> of the latest shipping-api POST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It unions </a:t>
            </a:r>
            <a:r>
              <a:rPr lang="en-US" sz="1400" dirty="0">
                <a:solidFill>
                  <a:srgbClr val="1B365D"/>
                </a:solidFill>
                <a:highlight>
                  <a:srgbClr val="F2F2F2"/>
                </a:highlight>
                <a:latin typeface="Consolas" pitchFamily="34" charset="0"/>
                <a:ea typeface="Consolas" pitchFamily="34" charset="-122"/>
                <a:cs typeface="Consolas" pitchFamily="34" charset="-120"/>
              </a:rPr>
              <a:t>AppRequests</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AppDependencies</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AppTraces</a:t>
            </a:r>
            <a:r>
              <a:rPr lang="en-US" sz="1400" dirty="0">
                <a:solidFill>
                  <a:srgbClr val="1B365D"/>
                </a:solidFill>
                <a:latin typeface="Poppins" pitchFamily="34" charset="0"/>
                <a:ea typeface="Poppins" pitchFamily="34" charset="-122"/>
                <a:cs typeface="Poppins" pitchFamily="34" charset="-120"/>
              </a:rPr>
              <a:t> in time order</a:t>
            </a:r>
            <a:endParaRPr lang="en-US" sz="1400" dirty="0"/>
          </a:p>
        </p:txBody>
      </p:sp>
      <p:pic>
        <p:nvPicPr>
          <p:cNvPr id="5" name="Image 0" descr="preencoded.png"/>
          <p:cNvPicPr>
            <a:picLocks noChangeAspect="1"/>
          </p:cNvPicPr>
          <p:nvPr/>
        </p:nvPicPr>
        <p:blipFill>
          <a:blip r:embed="rId3"/>
          <a:stretch>
            <a:fillRect/>
          </a:stretch>
        </p:blipFill>
        <p:spPr>
          <a:xfrm>
            <a:off x="5877373" y="2218035"/>
            <a:ext cx="5878068" cy="3428901"/>
          </a:xfrm>
          <a:prstGeom prst="rect">
            <a:avLst/>
          </a:prstGeom>
        </p:spPr>
      </p:pic>
    </p:spTree>
    <p:extLst>
      <p:ext uri="{BB962C8B-B14F-4D97-AF65-F5344CB8AC3E}">
        <p14:creationId xmlns:p14="http://schemas.microsoft.com/office/powerpoint/2010/main" val="40594838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487479"/>
            <a:ext cx="510525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Takeaways</a:t>
            </a:r>
            <a:endParaRPr lang="en-US" sz="2800" dirty="0"/>
          </a:p>
        </p:txBody>
      </p:sp>
      <p:sp>
        <p:nvSpPr>
          <p:cNvPr id="3" name="Text 1"/>
          <p:cNvSpPr/>
          <p:nvPr/>
        </p:nvSpPr>
        <p:spPr>
          <a:xfrm>
            <a:off x="609600" y="2092952"/>
            <a:ext cx="5105257"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to carry into reliable messaging with Service Bus</a:t>
            </a:r>
            <a:endParaRPr lang="en-US" sz="2000" dirty="0"/>
          </a:p>
        </p:txBody>
      </p:sp>
      <p:sp>
        <p:nvSpPr>
          <p:cNvPr id="4" name="Text 2"/>
          <p:cNvSpPr/>
          <p:nvPr/>
        </p:nvSpPr>
        <p:spPr>
          <a:xfrm>
            <a:off x="609600" y="2887861"/>
            <a:ext cx="5105257" cy="26852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Declare the environment in the AppHost and let </a:t>
            </a:r>
            <a:r>
              <a:rPr lang="en-US" sz="1400" dirty="0">
                <a:solidFill>
                  <a:srgbClr val="1B365D"/>
                </a:solidFill>
                <a:highlight>
                  <a:srgbClr val="F2F2F2"/>
                </a:highlight>
                <a:latin typeface="Consolas" pitchFamily="34" charset="0"/>
                <a:ea typeface="Consolas" pitchFamily="34" charset="-122"/>
                <a:cs typeface="Consolas" pitchFamily="34" charset="-120"/>
              </a:rPr>
              <a:t>aspire deploy</a:t>
            </a:r>
            <a:r>
              <a:rPr lang="en-US" sz="1400" dirty="0">
                <a:solidFill>
                  <a:srgbClr val="1B365D"/>
                </a:solidFill>
                <a:latin typeface="Poppins" pitchFamily="34" charset="0"/>
                <a:ea typeface="Poppins" pitchFamily="34" charset="-122"/>
                <a:cs typeface="Poppins" pitchFamily="34" charset="-120"/>
              </a:rPr>
              <a:t> build the rest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Read secrets and settings through a </a:t>
            </a:r>
            <a:r>
              <a:rPr lang="en-US" sz="1400" b="1" dirty="0">
                <a:solidFill>
                  <a:srgbClr val="1B365D"/>
                </a:solidFill>
                <a:latin typeface="Poppins Bold" pitchFamily="34" charset="0"/>
                <a:ea typeface="Poppins Bold" pitchFamily="34" charset="-122"/>
                <a:cs typeface="Poppins Bold" pitchFamily="34" charset="-120"/>
              </a:rPr>
              <a:t>managed identity</a:t>
            </a:r>
            <a:r>
              <a:rPr lang="en-US" sz="1400" dirty="0">
                <a:solidFill>
                  <a:srgbClr val="1B365D"/>
                </a:solidFill>
                <a:latin typeface="Poppins" pitchFamily="34" charset="0"/>
                <a:ea typeface="Poppins" pitchFamily="34" charset="-122"/>
                <a:cs typeface="Poppins" pitchFamily="34" charset="-120"/>
              </a:rPr>
              <a:t>, so no password is stored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Release behind a </a:t>
            </a:r>
            <a:r>
              <a:rPr lang="en-US" sz="1400" b="1" dirty="0">
                <a:solidFill>
                  <a:srgbClr val="1B365D"/>
                </a:solidFill>
                <a:latin typeface="Poppins Bold" pitchFamily="34" charset="0"/>
                <a:ea typeface="Poppins Bold" pitchFamily="34" charset="-122"/>
                <a:cs typeface="Poppins Bold" pitchFamily="34" charset="-120"/>
              </a:rPr>
              <a:t>traffic split</a:t>
            </a:r>
            <a:r>
              <a:rPr lang="en-US" sz="1400" dirty="0">
                <a:solidFill>
                  <a:srgbClr val="1B365D"/>
                </a:solidFill>
                <a:latin typeface="Poppins" pitchFamily="34" charset="0"/>
                <a:ea typeface="Poppins" pitchFamily="34" charset="-122"/>
                <a:cs typeface="Poppins" pitchFamily="34" charset="-120"/>
              </a:rPr>
              <a:t> and keep the previous revision for rollback</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Give consumers a grace period longer than the host shutdown timeout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Run Dapr actors on AKS, and join one scan's telemetry by </a:t>
            </a:r>
            <a:r>
              <a:rPr lang="en-US" sz="1400" dirty="0">
                <a:solidFill>
                  <a:srgbClr val="1B365D"/>
                </a:solidFill>
                <a:highlight>
                  <a:srgbClr val="F2F2F2"/>
                </a:highlight>
                <a:latin typeface="Consolas" pitchFamily="34" charset="0"/>
                <a:ea typeface="Consolas" pitchFamily="34" charset="-122"/>
                <a:cs typeface="Consolas" pitchFamily="34" charset="-120"/>
              </a:rPr>
              <a:t>OperationId</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extLst>
      <p:ext uri="{BB962C8B-B14F-4D97-AF65-F5344CB8AC3E}">
        <p14:creationId xmlns:p14="http://schemas.microsoft.com/office/powerpoint/2010/main" val="2096501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1669</Words>
  <Application>Microsoft Office PowerPoint</Application>
  <PresentationFormat>Widescreen</PresentationFormat>
  <Paragraphs>208</Paragraphs>
  <Slides>25</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Aptos</vt:lpstr>
      <vt:lpstr>Poppins Bold</vt:lpstr>
      <vt:lpstr>Arial</vt:lpstr>
      <vt:lpstr>IBM Plex Sans</vt:lpstr>
      <vt:lpstr>IBM Plex Sans Light</vt:lpstr>
      <vt:lpstr>Consolas</vt:lpstr>
      <vt:lpstr>Montserrat</vt:lpstr>
      <vt:lpstr>Poppins</vt:lpstr>
      <vt:lpstr>Calibri</vt:lpstr>
      <vt:lpstr>Montserrat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2026-10-19T00:32:26Z</dcterms:created>
  <dcterms:modified xsi:type="dcterms:W3CDTF">2026-10-19T00:38:37Z</dcterms:modified>
</cp:coreProperties>
</file>