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5"/>
  </p:notesMasterIdLst>
  <p:sldIdLst>
    <p:sldId id="502" r:id="rId2"/>
    <p:sldId id="503" r:id="rId3"/>
  </p:sldIdLst>
  <p:sldSz cx="12192000" cy="6858000"/>
  <p:notesSz cx="6858000" cy="12192000"/>
  <p:embeddedFontLst>
    <p:embeddedFont>
      <p:font typeface="Consolas" panose="020B0609020204030204" pitchFamily="49" charset="0"/>
      <p:regular r:id="rId36"/>
      <p:bold r:id="rId37"/>
      <p:italic r:id="rId38"/>
      <p:boldItalic r:id="rId39"/>
    </p:embeddedFont>
    <p:embeddedFont>
      <p:font typeface="IBM Plex Sans" panose="020B0503050203000203" pitchFamily="34" charset="0"/>
      <p:regular r:id="rId40"/>
      <p:bold r:id="rId41"/>
      <p:italic r:id="rId42"/>
    </p:embeddedFont>
    <p:embeddedFont>
      <p:font typeface="IBM Plex Sans Light" panose="020B0403050203000203" pitchFamily="34" charset="0"/>
      <p:regular r:id="rId43"/>
    </p:embeddedFont>
    <p:embeddedFont>
      <p:font typeface="Montserrat" panose="00000500000000000000" pitchFamily="2" charset="0"/>
      <p:regular r:id="rId44"/>
      <p:bold r:id="rId45"/>
      <p:italic r:id="rId46"/>
      <p:boldItalic r:id="rId47"/>
    </p:embeddedFont>
    <p:embeddedFont>
      <p:font typeface="Montserrat Bold" panose="00000800000000000000" pitchFamily="2" charset="0"/>
      <p:regular r:id="rId48"/>
      <p:bold r:id="rId49"/>
    </p:embeddedFont>
    <p:embeddedFont>
      <p:font typeface="Poppins" panose="00000500000000000000" pitchFamily="2" charset="0"/>
      <p:regular r:id="rId50"/>
      <p:boldItalic r:id="rId51"/>
    </p:embeddedFont>
    <p:embeddedFont>
      <p:font typeface="Poppins Bold" panose="00000800000000000000" charset="0"/>
      <p:regular r:id="rId5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35" Type="http://schemas.openxmlformats.org/officeDocument/2006/relationships/notesMaster" Target="notesMasters/notesMaster1.xml"/><Relationship Id="rId36" Type="http://schemas.openxmlformats.org/officeDocument/2006/relationships/font" Target="fonts/font1.fntdata"/><Relationship Id="rId37" Type="http://schemas.openxmlformats.org/officeDocument/2006/relationships/font" Target="fonts/font2.fntdata"/><Relationship Id="rId38" Type="http://schemas.openxmlformats.org/officeDocument/2006/relationships/font" Target="fonts/font3.fntdata"/><Relationship Id="rId39" Type="http://schemas.openxmlformats.org/officeDocument/2006/relationships/font" Target="fonts/font4.fntdata"/><Relationship Id="rId40" Type="http://schemas.openxmlformats.org/officeDocument/2006/relationships/font" Target="fonts/font5.fntdata"/><Relationship Id="rId41" Type="http://schemas.openxmlformats.org/officeDocument/2006/relationships/font" Target="fonts/font6.fntdata"/><Relationship Id="rId42" Type="http://schemas.openxmlformats.org/officeDocument/2006/relationships/font" Target="fonts/font7.fntdata"/><Relationship Id="rId43" Type="http://schemas.openxmlformats.org/officeDocument/2006/relationships/font" Target="fonts/font8.fntdata"/><Relationship Id="rId44" Type="http://schemas.openxmlformats.org/officeDocument/2006/relationships/font" Target="fonts/font9.fntdata"/><Relationship Id="rId45" Type="http://schemas.openxmlformats.org/officeDocument/2006/relationships/font" Target="fonts/font10.fntdata"/><Relationship Id="rId46" Type="http://schemas.openxmlformats.org/officeDocument/2006/relationships/font" Target="fonts/font11.fntdata"/><Relationship Id="rId47" Type="http://schemas.openxmlformats.org/officeDocument/2006/relationships/font" Target="fonts/font12.fntdata"/><Relationship Id="rId48" Type="http://schemas.openxmlformats.org/officeDocument/2006/relationships/font" Target="fonts/font13.fntdata"/><Relationship Id="rId49" Type="http://schemas.openxmlformats.org/officeDocument/2006/relationships/font" Target="fonts/font14.fntdata"/><Relationship Id="rId50" Type="http://schemas.openxmlformats.org/officeDocument/2006/relationships/font" Target="fonts/font15.fntdata"/><Relationship Id="rId51" Type="http://schemas.openxmlformats.org/officeDocument/2006/relationships/font" Target="fonts/font16.fntdata"/><Relationship Id="rId52" Type="http://schemas.openxmlformats.org/officeDocument/2006/relationships/font" Target="fonts/font17.fnt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er Kastil" userId="233a6446-c176-4ee3-8287-218af80bef74" providerId="ADAL" clId="{39B520E0-73D8-4E14-846F-CE3E5757F482}"/>
    <pc:docChg chg="modSld sldOrd">
      <pc:chgData name="Alexander Kastil" userId="233a6446-c176-4ee3-8287-218af80bef74" providerId="ADAL" clId="{39B520E0-73D8-4E14-846F-CE3E5757F482}" dt="2026-10-05T20:29:37.287" v="1"/>
      <pc:docMkLst>
        <pc:docMk/>
      </pc:docMkLst>
      <pc:sldChg chg="ord">
        <pc:chgData name="Alexander Kastil" userId="233a6446-c176-4ee3-8287-218af80bef74" providerId="ADAL" clId="{39B520E0-73D8-4E14-846F-CE3E5757F482}" dt="2026-10-05T20:29:37.287" v="1"/>
        <pc:sldMkLst>
          <pc:docMk/>
          <pc:sldMk cId="0" sldId="514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3703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461A2-C3FB-8FF7-A183-A6C9154D3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E791D27-971C-48FE-7C44-479BE7AE81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017CC76-223D-4E1C-7685-BA68E3EA47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1"/>
              <a:t>Die Fast Lane Gruppe. 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/>
          </a:p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/>
              <a:t>Fast Lane … Dienstleister u. Spezialist für High-End Technologie und Business Trainings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	IT Trainings zu den  unterschiedlichsten Herstellern wie Microsoft, Google, Cisco oder AWS. Und vielen weiteren wichtigen IT Herstellern. 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	Sei es Cloud, Security, Netzwerk oder allgemein digitale Transformationsprojekte	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	Und das seit 2003.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de-DE"/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/>
              <a:t>Das spannende ist, dass die Fast Lane Gruppe bereits seit 2009 durchgängig zu den </a:t>
            </a:r>
            <a:r>
              <a:rPr lang="de-DE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 20 Unternehmen in der IT Trainingsbranche </a:t>
            </a: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weltweit zählt.</a:t>
            </a:r>
            <a:endParaRPr lang="de-DE"/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de-DE"/>
          </a:p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/>
              <a:t>Aber auch Footprint ebenso im klassischen Professional Services Bereich für unsere wichtigsten Hersteller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de-DE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PreSales</a:t>
            </a: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Support, </a:t>
            </a:r>
            <a:r>
              <a:rPr lang="de-DE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Deployment</a:t>
            </a: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Services und Adoption Trainings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Additional Information:</a:t>
            </a:r>
            <a:b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 Jahr 2021 sind wir zur „</a:t>
            </a:r>
            <a:r>
              <a:rPr lang="de-DE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</a:t>
            </a: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strategic</a:t>
            </a: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IT Education </a:t>
            </a:r>
            <a:r>
              <a:rPr lang="de-DE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company</a:t>
            </a: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worldwide</a:t>
            </a: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 von der IDC im „</a:t>
            </a:r>
            <a:r>
              <a:rPr lang="de-DE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magic</a:t>
            </a: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quadrant</a:t>
            </a: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 aufgeführt worden !</a:t>
            </a:r>
          </a:p>
          <a:p>
            <a:endParaRPr lang="de-DE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de-DE"/>
              <a:t>1 </a:t>
            </a:r>
            <a:r>
              <a:rPr lang="de-DE" err="1"/>
              <a:t>mio</a:t>
            </a:r>
            <a:r>
              <a:rPr lang="de-DE"/>
              <a:t> Teilnehmer insgesamt seit bestehen, 50.000+ </a:t>
            </a:r>
            <a:r>
              <a:rPr lang="de-DE" err="1"/>
              <a:t>Students</a:t>
            </a:r>
            <a:r>
              <a:rPr lang="de-DE"/>
              <a:t> </a:t>
            </a:r>
            <a:r>
              <a:rPr lang="de-DE" err="1"/>
              <a:t>ww</a:t>
            </a:r>
            <a:r>
              <a:rPr lang="de-DE"/>
              <a:t> </a:t>
            </a:r>
            <a:r>
              <a:rPr lang="de-DE" err="1"/>
              <a:t>p.A</a:t>
            </a:r>
            <a:r>
              <a:rPr lang="de-DE"/>
              <a:t>, 20.000 in DE pro Jahr</a:t>
            </a:r>
          </a:p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147C99C-1C3E-1038-E7AD-EE3A64ED03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0D7EAB-36F5-E04E-BA34-9D312A17DA3C}" type="slidenum">
              <a:rPr kumimoji="0" lang="en-HR" sz="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HR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06590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Intro: Alexander Kastil, integrations.at. Four practice areas from AI at Work to team enablement. Certifications: Agentic AI Business Solutions Architect, Azure AI App and Agent Developer Associate, DevOps Engineer Expert.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48351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FF5F0EB-5CD2-194F-BB8C-91CBF8948E3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HR"/>
              <a:t>Click or drag to add picture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128D6CBD-EAC7-0540-9B7E-CC16CC95FE7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4965" y="390742"/>
            <a:ext cx="5856831" cy="6924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1">
                <a:solidFill>
                  <a:schemeClr val="bg1"/>
                </a:solidFill>
                <a:latin typeface="IBM Plex Sans" panose="020B0503050203000203" pitchFamily="34" charset="0"/>
              </a:defRPr>
            </a:lvl1pPr>
          </a:lstStyle>
          <a:p>
            <a:pPr lvl="0"/>
            <a:endParaRPr lang="en-HR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192EB840-6AE9-194D-B55E-C0698CCD47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5" y="1122467"/>
            <a:ext cx="5856831" cy="35934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0">
                <a:solidFill>
                  <a:srgbClr val="09A9AB"/>
                </a:solidFill>
                <a:latin typeface="IBM Plex Sans" panose="020B0503050203000203" pitchFamily="34" charset="0"/>
              </a:defRPr>
            </a:lvl1pPr>
          </a:lstStyle>
          <a:p>
            <a:pPr lvl="0"/>
            <a:endParaRPr lang="en-HR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54B9BAF-8941-AB4D-89A7-466A5BA376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5" y="5989388"/>
            <a:ext cx="5856831" cy="2546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bg1"/>
                </a:solidFill>
                <a:latin typeface="IBM Plex Sans" panose="020B0503050203000203" pitchFamily="34" charset="0"/>
              </a:defRPr>
            </a:lvl1pPr>
            <a:lvl2pPr>
              <a:defRPr sz="1400">
                <a:latin typeface="IBM Plex Sans" panose="020B0503050203000203" pitchFamily="34" charset="0"/>
              </a:defRPr>
            </a:lvl2pPr>
            <a:lvl3pPr>
              <a:defRPr sz="1400">
                <a:latin typeface="IBM Plex Sans" panose="020B0503050203000203" pitchFamily="34" charset="0"/>
              </a:defRPr>
            </a:lvl3pPr>
            <a:lvl4pPr>
              <a:defRPr sz="1400">
                <a:latin typeface="IBM Plex Sans" panose="020B0503050203000203" pitchFamily="34" charset="0"/>
              </a:defRPr>
            </a:lvl4pPr>
            <a:lvl5pPr>
              <a:defRPr sz="140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HR"/>
              <a:t>Name Surname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FBA33DA8-0E61-0B43-9081-719F5B2D9F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4965" y="6283301"/>
            <a:ext cx="5856831" cy="254659"/>
          </a:xfrm>
          <a:prstGeom prst="rect">
            <a:avLst/>
          </a:prstGeo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>
                <a:solidFill>
                  <a:schemeClr val="bg1"/>
                </a:solidFill>
                <a:latin typeface="IBM Plex Sans" panose="020B0503050203000203" pitchFamily="34" charset="0"/>
              </a:defRPr>
            </a:lvl1pPr>
            <a:lvl2pPr>
              <a:defRPr sz="1400">
                <a:latin typeface="IBM Plex Sans" panose="020B0503050203000203" pitchFamily="34" charset="0"/>
              </a:defRPr>
            </a:lvl2pPr>
            <a:lvl3pPr>
              <a:defRPr sz="1400">
                <a:latin typeface="IBM Plex Sans" panose="020B0503050203000203" pitchFamily="34" charset="0"/>
              </a:defRPr>
            </a:lvl3pPr>
            <a:lvl4pPr>
              <a:defRPr sz="1400">
                <a:latin typeface="IBM Plex Sans" panose="020B0503050203000203" pitchFamily="34" charset="0"/>
              </a:defRPr>
            </a:lvl4pPr>
            <a:lvl5pPr>
              <a:defRPr sz="1400">
                <a:latin typeface="IBM Plex Sans" panose="020B0503050203000203" pitchFamily="34" charset="0"/>
              </a:defRPr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400">
                <a:solidFill>
                  <a:srgbClr val="FFFFFF"/>
                </a:solidFill>
                <a:latin typeface="IBM Plex Sans Light" panose="020B0403050203000203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Global Director Digital Strategy</a:t>
            </a:r>
          </a:p>
          <a:p>
            <a:pPr lvl="0"/>
            <a:endParaRPr lang="en-H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804F17-E6E2-C546-9FB7-F619A6FF90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40867" y="6155029"/>
            <a:ext cx="1716171" cy="2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4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0440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image" Target="../media/image1.emf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B642C-D847-89BF-1014-698D4947D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15" descr="Woman walking in office">
            <a:extLst>
              <a:ext uri="{FF2B5EF4-FFF2-40B4-BE49-F238E27FC236}">
                <a16:creationId xmlns:a16="http://schemas.microsoft.com/office/drawing/2014/main" id="{92CB83EA-0659-E370-8CB8-52A704AFB40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56109" y="1"/>
            <a:ext cx="6435892" cy="6858000"/>
          </a:xfrm>
          <a:ln>
            <a:noFill/>
          </a:ln>
        </p:spPr>
      </p:pic>
      <p:pic>
        <p:nvPicPr>
          <p:cNvPr id="9" name="Picture 8" descr="Background pattern&#10;&#10;Description automatically generated">
            <a:extLst>
              <a:ext uri="{FF2B5EF4-FFF2-40B4-BE49-F238E27FC236}">
                <a16:creationId xmlns:a16="http://schemas.microsoft.com/office/drawing/2014/main" id="{CAAB5C21-DEC6-1D47-0353-AD276084FCB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073020" y="1"/>
            <a:ext cx="118981" cy="6858000"/>
          </a:xfrm>
          <a:prstGeom prst="rect">
            <a:avLst/>
          </a:prstGeom>
          <a:effectLst/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8D64F3-EA49-4D44-720E-6DEF74D4F3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4965" y="1143000"/>
            <a:ext cx="5856831" cy="692471"/>
          </a:xfrm>
        </p:spPr>
        <p:txBody>
          <a:bodyPr/>
          <a:lstStyle/>
          <a:p>
            <a:r>
              <a:rPr lang="en-GB">
                <a:solidFill>
                  <a:srgbClr val="09A9AB"/>
                </a:solidFill>
              </a:rPr>
              <a:t>Fast Lane Group</a:t>
            </a:r>
          </a:p>
          <a:p>
            <a:endParaRPr lang="en-HR">
              <a:solidFill>
                <a:srgbClr val="09A9AB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056563-3889-E68E-51A3-F6FD61A4B2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1908623"/>
            <a:ext cx="5108907" cy="1188720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GB" sz="3200">
                <a:solidFill>
                  <a:srgbClr val="04282E"/>
                </a:solidFill>
              </a:rPr>
              <a:t>Worldwide Education &amp;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GB" sz="3200">
                <a:solidFill>
                  <a:srgbClr val="04282E"/>
                </a:solidFill>
              </a:rPr>
              <a:t>Professional Services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HR">
              <a:solidFill>
                <a:srgbClr val="04282E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3A0D74-6908-2F97-B10F-2125282EE6C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40867" y="6155029"/>
            <a:ext cx="1716171" cy="255600"/>
          </a:xfrm>
          <a:prstGeom prst="rect">
            <a:avLst/>
          </a:prstGeom>
        </p:spPr>
      </p:pic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F9F0E5C2-05DA-E683-5802-C835061B32C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5" y="6283301"/>
            <a:ext cx="5856831" cy="254659"/>
          </a:xfrm>
        </p:spPr>
        <p:txBody>
          <a:bodyPr lIns="91440" tIns="45720" rIns="91440" bIns="45720" anchor="t"/>
          <a:lstStyle/>
          <a:p>
            <a:r>
              <a:rPr lang="en-GB" b="0" sz="1050">
                <a:solidFill>
                  <a:schemeClr val="tx1"/>
                </a:solidFill>
                <a:latin typeface="IBM Plex Sans"/>
              </a:rPr>
              <a:t>www.flane.de</a:t>
            </a:r>
            <a:r>
              <a:rPr lang="en-GB" b="0" sz="1050">
                <a:solidFill>
                  <a:schemeClr val="tx1"/>
                </a:solidFill>
                <a:latin typeface="IBM Plex Sans"/>
              </a:rPr>
              <a:t> | </a:t>
            </a:r>
            <a:r>
              <a:rPr lang="en-GB" b="0" sz="1050">
                <a:solidFill>
                  <a:schemeClr val="tx1"/>
                </a:solidFill>
                <a:latin typeface="IBM Plex Sans"/>
              </a:rPr>
              <a:t>© 2026 Fast Lane Institute for Knowledge Transfer GmbH</a:t>
            </a:r>
            <a:endParaRPr lang="en-GB" b="0" sz="1050">
              <a:solidFill>
                <a:schemeClr val="tx1"/>
              </a:solidFill>
            </a:endParaRPr>
          </a:p>
          <a:p>
            <a:endParaRPr lang="en-HR" sz="1050" b="0">
              <a:solidFill>
                <a:schemeClr val="tx1"/>
              </a:solidFill>
            </a:endParaRPr>
          </a:p>
        </p:txBody>
      </p:sp>
      <p:pic>
        <p:nvPicPr>
          <p:cNvPr id="2" name="Grafik 1" descr="Ein Bild, das Text, Screenshot, Schrift, Logo enthält.&#10;&#10;KI-generierte Inhalte können fehlerhaft sein.">
            <a:extLst>
              <a:ext uri="{FF2B5EF4-FFF2-40B4-BE49-F238E27FC236}">
                <a16:creationId xmlns:a16="http://schemas.microsoft.com/office/drawing/2014/main" id="{44898A48-153F-AE4B-CCD7-54A6700C10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687" y="3814083"/>
            <a:ext cx="2718708" cy="201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737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999" y="0"/>
            <a:ext cx="4064000" cy="6857999"/>
          </a:xfrm>
          <a:prstGeom prst="rect">
            <a:avLst/>
          </a:prstGeom>
          <a:gradFill rotWithShape="1">
            <a:gsLst>
              <a:gs pos="0">
                <a:srgbClr val="353D40"/>
              </a:gs>
              <a:gs pos="55000">
                <a:srgbClr val="2D3436"/>
              </a:gs>
              <a:gs pos="100000">
                <a:srgbClr val="262C2E"/>
              </a:gs>
            </a:gsLst>
            <a:lin ang="4200000" scaled="0"/>
          </a:gradFill>
          <a:ln/>
        </p:spPr>
        <p:txBody>
          <a:bodyPr/>
          <a:lstStyle/>
          <a:p>
            <a:endParaRPr lang="en-AT"/>
          </a:p>
        </p:txBody>
      </p:sp>
      <p:sp>
        <p:nvSpPr>
          <p:cNvPr id="3" name="Shape 1"/>
          <p:cNvSpPr/>
          <p:nvPr/>
        </p:nvSpPr>
        <p:spPr>
          <a:xfrm>
            <a:off x="8127999" y="0"/>
            <a:ext cx="38089" cy="6857999"/>
          </a:xfrm>
          <a:prstGeom prst="rect">
            <a:avLst/>
          </a:prstGeom>
          <a:solidFill>
            <a:srgbClr val="D4B483"/>
          </a:solidFill>
          <a:ln/>
        </p:spPr>
        <p:txBody>
          <a:bodyPr/>
          <a:lstStyle/>
          <a:p>
            <a:endParaRPr lang="en-AT"/>
          </a:p>
        </p:txBody>
      </p:sp>
      <p:pic>
        <p:nvPicPr>
          <p:cNvPr id="4" name="Image 0" descr="integrations logo"/>
          <p:cNvPicPr>
            <a:picLocks noChangeAspect="1"/>
          </p:cNvPicPr>
          <p:nvPr/>
        </p:nvPicPr>
        <p:blipFill>
          <a:blip r:embed="rId3"/>
          <a:srcRect l="-23" r="-23"/>
          <a:stretch/>
        </p:blipFill>
        <p:spPr>
          <a:xfrm>
            <a:off x="8889999" y="457178"/>
            <a:ext cx="2540000" cy="5270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90279" y="1079500"/>
            <a:ext cx="3139440" cy="391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1200" kern="0" spc="200" dirty="0">
                <a:solidFill>
                  <a:srgbClr val="C9CFD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AGENTIC AI CONSULTING · VIENNA</a:t>
            </a:r>
            <a:endParaRPr lang="en-US" sz="1200" dirty="0"/>
          </a:p>
        </p:txBody>
      </p:sp>
      <p:pic>
        <p:nvPicPr>
          <p:cNvPr id="6" name="Image 1" descr="Portrait of Alexander Kastil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953499" y="1549356"/>
            <a:ext cx="2413000" cy="2413000"/>
          </a:xfrm>
          <a:prstGeom prst="ellipse">
            <a:avLst/>
          </a:prstGeom>
        </p:spPr>
      </p:pic>
      <p:pic>
        <p:nvPicPr>
          <p:cNvPr id="7" name="Image 2" descr="Microsoft Certified: Agentic AI Business Solutions Architect"/>
          <p:cNvPicPr>
            <a:picLocks noChangeAspect="1"/>
          </p:cNvPicPr>
          <p:nvPr/>
        </p:nvPicPr>
        <p:blipFill>
          <a:blip r:embed="rId5"/>
          <a:srcRect l="-86" r="-86"/>
          <a:stretch/>
        </p:blipFill>
        <p:spPr>
          <a:xfrm>
            <a:off x="8718517" y="4267178"/>
            <a:ext cx="762000" cy="812767"/>
          </a:xfrm>
          <a:prstGeom prst="rect">
            <a:avLst/>
          </a:prstGeom>
        </p:spPr>
      </p:pic>
      <p:pic>
        <p:nvPicPr>
          <p:cNvPr id="8" name="Image 3" descr="Microsoft Certified: Azure AI App and Agent Developer Associate"/>
          <p:cNvPicPr>
            <a:picLocks noChangeAspect="1"/>
          </p:cNvPicPr>
          <p:nvPr/>
        </p:nvPicPr>
        <p:blipFill>
          <a:blip r:embed="rId6"/>
          <a:srcRect t="-25" b="-25"/>
          <a:stretch/>
        </p:blipFill>
        <p:spPr>
          <a:xfrm>
            <a:off x="9734517" y="4267178"/>
            <a:ext cx="806428" cy="812767"/>
          </a:xfrm>
          <a:prstGeom prst="rect">
            <a:avLst/>
          </a:prstGeom>
        </p:spPr>
      </p:pic>
      <p:pic>
        <p:nvPicPr>
          <p:cNvPr id="9" name="Image 4" descr="Microsoft Certified: DevOps Engineer Expert"/>
          <p:cNvPicPr>
            <a:picLocks noChangeAspect="1"/>
          </p:cNvPicPr>
          <p:nvPr/>
        </p:nvPicPr>
        <p:blipFill>
          <a:blip r:embed="rId7"/>
          <a:srcRect t="-5" b="-5"/>
          <a:stretch/>
        </p:blipFill>
        <p:spPr>
          <a:xfrm>
            <a:off x="10794999" y="4267178"/>
            <a:ext cx="806428" cy="812767"/>
          </a:xfrm>
          <a:prstGeom prst="rect">
            <a:avLst/>
          </a:prstGeom>
        </p:spPr>
      </p:pic>
      <p:pic>
        <p:nvPicPr>
          <p:cNvPr id="10" name="Image 5" descr="line"/>
          <p:cNvPicPr>
            <a:picLocks noChangeAspect="1"/>
          </p:cNvPicPr>
          <p:nvPr/>
        </p:nvPicPr>
        <p:blipFill>
          <a:blip r:embed="rId8"/>
          <a:srcRect t="-5559" b="-5559"/>
          <a:stretch/>
        </p:blipFill>
        <p:spPr>
          <a:xfrm>
            <a:off x="8889999" y="5334000"/>
            <a:ext cx="2540000" cy="7056"/>
          </a:xfrm>
          <a:prstGeom prst="rect">
            <a:avLst/>
          </a:prstGeom>
        </p:spPr>
      </p:pic>
      <p:sp>
        <p:nvSpPr>
          <p:cNvPr id="11" name="Shape 3"/>
          <p:cNvSpPr/>
          <p:nvPr/>
        </p:nvSpPr>
        <p:spPr>
          <a:xfrm>
            <a:off x="8978855" y="5638767"/>
            <a:ext cx="635000" cy="63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AT"/>
          </a:p>
        </p:txBody>
      </p:sp>
      <p:pic>
        <p:nvPicPr>
          <p:cNvPr id="12" name="Image 6" descr="QR code"/>
          <p:cNvPicPr>
            <a:picLocks noChangeAspect="1"/>
          </p:cNvPicPr>
          <p:nvPr/>
        </p:nvPicPr>
        <p:blipFill>
          <a:blip r:embed="rId9"/>
          <a:srcRect t="-338" b="-338"/>
          <a:stretch/>
        </p:blipFill>
        <p:spPr>
          <a:xfrm>
            <a:off x="9029622" y="5689533"/>
            <a:ext cx="533356" cy="533356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9766267" y="5715000"/>
            <a:ext cx="1701800" cy="20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kern="0" spc="100" dirty="0">
                <a:solidFill>
                  <a:srgbClr val="D4B4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SCAN TO CONNECT</a:t>
            </a:r>
            <a:endParaRPr lang="en-US" sz="1200" dirty="0"/>
          </a:p>
        </p:txBody>
      </p:sp>
      <p:sp>
        <p:nvSpPr>
          <p:cNvPr id="14" name="Text 5"/>
          <p:cNvSpPr/>
          <p:nvPr/>
        </p:nvSpPr>
        <p:spPr>
          <a:xfrm>
            <a:off x="9766267" y="5930855"/>
            <a:ext cx="1701800" cy="269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kern="0" spc="-1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integrations.at</a:t>
            </a:r>
            <a:endParaRPr lang="en-US" sz="1600" dirty="0"/>
          </a:p>
        </p:txBody>
      </p:sp>
      <p:sp>
        <p:nvSpPr>
          <p:cNvPr id="15" name="Shape 6"/>
          <p:cNvSpPr/>
          <p:nvPr/>
        </p:nvSpPr>
        <p:spPr>
          <a:xfrm>
            <a:off x="812767" y="740392"/>
            <a:ext cx="254000" cy="19017"/>
          </a:xfrm>
          <a:prstGeom prst="rect">
            <a:avLst/>
          </a:prstGeom>
          <a:solidFill>
            <a:srgbClr val="4A9EFF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16" name="Text 7"/>
          <p:cNvSpPr/>
          <p:nvPr/>
        </p:nvSpPr>
        <p:spPr>
          <a:xfrm>
            <a:off x="1193767" y="609589"/>
            <a:ext cx="5743944" cy="3060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b="1" kern="0" spc="35" dirty="0">
                <a:solidFill>
                  <a:srgbClr val="2D343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AGENTIC AI: FROM STRATEGY TO </a:t>
            </a:r>
            <a:r>
              <a:rPr lang="en-US" sz="1700" b="1" kern="0" spc="35" dirty="0">
                <a:solidFill>
                  <a:srgbClr val="1462C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PRODUCTION.</a:t>
            </a:r>
            <a:endParaRPr lang="en-US" sz="1700" dirty="0"/>
          </a:p>
        </p:txBody>
      </p:sp>
      <p:sp>
        <p:nvSpPr>
          <p:cNvPr id="17" name="Text 8"/>
          <p:cNvSpPr/>
          <p:nvPr/>
        </p:nvSpPr>
        <p:spPr>
          <a:xfrm>
            <a:off x="812767" y="1017268"/>
            <a:ext cx="6906756" cy="1476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712"/>
              </a:lnSpc>
              <a:buNone/>
            </a:pPr>
            <a:r>
              <a:rPr lang="en-US" sz="5600" b="1" kern="0" spc="-125" dirty="0">
                <a:solidFill>
                  <a:srgbClr val="2D343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Alexander</a:t>
            </a:r>
            <a:endParaRPr lang="en-US" sz="5600" dirty="0"/>
          </a:p>
          <a:p>
            <a:pPr marL="0" indent="0" algn="l">
              <a:lnSpc>
                <a:spcPts val="5712"/>
              </a:lnSpc>
              <a:buNone/>
            </a:pPr>
            <a:r>
              <a:rPr lang="en-US" sz="5600" b="1" kern="0" spc="-125" dirty="0">
                <a:solidFill>
                  <a:srgbClr val="2D343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Kastil</a:t>
            </a:r>
            <a:endParaRPr lang="en-US" sz="5600" dirty="0"/>
          </a:p>
        </p:txBody>
      </p:sp>
      <p:sp>
        <p:nvSpPr>
          <p:cNvPr id="18" name="Text 9"/>
          <p:cNvSpPr/>
          <p:nvPr/>
        </p:nvSpPr>
        <p:spPr>
          <a:xfrm>
            <a:off x="812767" y="2620466"/>
            <a:ext cx="6906756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95F6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stack, from enterprise software to agentic AI. Since 1996</a:t>
            </a:r>
            <a:endParaRPr lang="en-US" sz="1400" dirty="0"/>
          </a:p>
        </p:txBody>
      </p:sp>
      <p:sp>
        <p:nvSpPr>
          <p:cNvPr id="19" name="Shape 10"/>
          <p:cNvSpPr/>
          <p:nvPr/>
        </p:nvSpPr>
        <p:spPr>
          <a:xfrm>
            <a:off x="822292" y="3322781"/>
            <a:ext cx="0" cy="704784"/>
          </a:xfrm>
          <a:prstGeom prst="line">
            <a:avLst/>
          </a:prstGeom>
          <a:noFill/>
          <a:ln w="19050">
            <a:solidFill>
              <a:srgbClr val="D4B483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0" name="Text 11"/>
          <p:cNvSpPr/>
          <p:nvPr/>
        </p:nvSpPr>
        <p:spPr>
          <a:xfrm>
            <a:off x="982762" y="3335458"/>
            <a:ext cx="3068982" cy="239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kern="0" spc="-15" dirty="0">
                <a:solidFill>
                  <a:srgbClr val="2D343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at Work</a:t>
            </a:r>
            <a:endParaRPr lang="en-US" sz="1300" dirty="0"/>
          </a:p>
        </p:txBody>
      </p:sp>
      <p:sp>
        <p:nvSpPr>
          <p:cNvPr id="21" name="Text 12"/>
          <p:cNvSpPr/>
          <p:nvPr/>
        </p:nvSpPr>
        <p:spPr>
          <a:xfrm>
            <a:off x="982762" y="3588136"/>
            <a:ext cx="3068982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5F6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Value discovery, KPI mapping and roadmap</a:t>
            </a:r>
            <a:endParaRPr lang="en-US" sz="1200" dirty="0"/>
          </a:p>
        </p:txBody>
      </p:sp>
      <p:sp>
        <p:nvSpPr>
          <p:cNvPr id="22" name="Shape 13"/>
          <p:cNvSpPr/>
          <p:nvPr/>
        </p:nvSpPr>
        <p:spPr>
          <a:xfrm>
            <a:off x="4378237" y="3322781"/>
            <a:ext cx="0" cy="704784"/>
          </a:xfrm>
          <a:prstGeom prst="line">
            <a:avLst/>
          </a:prstGeom>
          <a:noFill/>
          <a:ln w="19050">
            <a:solidFill>
              <a:srgbClr val="D4B483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3" name="Text 14"/>
          <p:cNvSpPr/>
          <p:nvPr/>
        </p:nvSpPr>
        <p:spPr>
          <a:xfrm>
            <a:off x="4538706" y="3335458"/>
            <a:ext cx="3069039" cy="239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kern="0" spc="-15" dirty="0">
                <a:solidFill>
                  <a:srgbClr val="2D343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Enterprise AI</a:t>
            </a:r>
            <a:endParaRPr lang="en-US" sz="1300" dirty="0"/>
          </a:p>
        </p:txBody>
      </p:sp>
      <p:sp>
        <p:nvSpPr>
          <p:cNvPr id="24" name="Text 15"/>
          <p:cNvSpPr/>
          <p:nvPr/>
        </p:nvSpPr>
        <p:spPr>
          <a:xfrm>
            <a:off x="4538706" y="3588136"/>
            <a:ext cx="3069039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5F6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Governed multi-agent systems on Microsoft Copilot and Foundry</a:t>
            </a:r>
            <a:endParaRPr lang="en-US" sz="1200" dirty="0"/>
          </a:p>
        </p:txBody>
      </p:sp>
      <p:sp>
        <p:nvSpPr>
          <p:cNvPr id="25" name="Shape 16"/>
          <p:cNvSpPr/>
          <p:nvPr/>
        </p:nvSpPr>
        <p:spPr>
          <a:xfrm>
            <a:off x="822292" y="4332331"/>
            <a:ext cx="0" cy="704784"/>
          </a:xfrm>
          <a:prstGeom prst="line">
            <a:avLst/>
          </a:prstGeom>
          <a:noFill/>
          <a:ln w="19050">
            <a:solidFill>
              <a:srgbClr val="D4B483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6" name="Text 17"/>
          <p:cNvSpPr/>
          <p:nvPr/>
        </p:nvSpPr>
        <p:spPr>
          <a:xfrm>
            <a:off x="982762" y="4345009"/>
            <a:ext cx="3068982" cy="239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kern="0" spc="-15" dirty="0">
                <a:solidFill>
                  <a:srgbClr val="2D343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Agentic Software Engineering</a:t>
            </a:r>
            <a:endParaRPr lang="en-US" sz="1300" dirty="0"/>
          </a:p>
        </p:txBody>
      </p:sp>
      <p:sp>
        <p:nvSpPr>
          <p:cNvPr id="27" name="Text 18"/>
          <p:cNvSpPr/>
          <p:nvPr/>
        </p:nvSpPr>
        <p:spPr>
          <a:xfrm>
            <a:off x="982762" y="4597686"/>
            <a:ext cx="3068982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5F6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Harness architecture for Claude Code and GitHub Copilot</a:t>
            </a:r>
            <a:endParaRPr lang="en-US" sz="1200" dirty="0"/>
          </a:p>
        </p:txBody>
      </p:sp>
      <p:sp>
        <p:nvSpPr>
          <p:cNvPr id="28" name="Shape 19"/>
          <p:cNvSpPr/>
          <p:nvPr/>
        </p:nvSpPr>
        <p:spPr>
          <a:xfrm>
            <a:off x="4378237" y="4332331"/>
            <a:ext cx="0" cy="704784"/>
          </a:xfrm>
          <a:prstGeom prst="line">
            <a:avLst/>
          </a:prstGeom>
          <a:noFill/>
          <a:ln w="19050">
            <a:solidFill>
              <a:srgbClr val="D4B483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9" name="Text 20"/>
          <p:cNvSpPr/>
          <p:nvPr/>
        </p:nvSpPr>
        <p:spPr>
          <a:xfrm>
            <a:off x="4538706" y="4345009"/>
            <a:ext cx="3069039" cy="239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kern="0" spc="-15" dirty="0">
                <a:solidFill>
                  <a:srgbClr val="2D343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 Enablement</a:t>
            </a:r>
            <a:endParaRPr lang="en-US" sz="1300" dirty="0"/>
          </a:p>
        </p:txBody>
      </p:sp>
      <p:sp>
        <p:nvSpPr>
          <p:cNvPr id="30" name="Text 21"/>
          <p:cNvSpPr/>
          <p:nvPr/>
        </p:nvSpPr>
        <p:spPr>
          <a:xfrm>
            <a:off x="4538706" y="4597686"/>
            <a:ext cx="3069039" cy="45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5F6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driven content production and delivery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812767" y="5493775"/>
            <a:ext cx="6705588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32" name="Text 23"/>
          <p:cNvSpPr/>
          <p:nvPr/>
        </p:nvSpPr>
        <p:spPr>
          <a:xfrm>
            <a:off x="812767" y="5608394"/>
            <a:ext cx="3244076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595F6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integrations.at</a:t>
            </a:r>
            <a:endParaRPr lang="en-US" sz="1200" dirty="0"/>
          </a:p>
        </p:txBody>
      </p:sp>
      <p:sp>
        <p:nvSpPr>
          <p:cNvPr id="33" name="Text 24"/>
          <p:cNvSpPr/>
          <p:nvPr/>
        </p:nvSpPr>
        <p:spPr>
          <a:xfrm>
            <a:off x="4368712" y="5608394"/>
            <a:ext cx="3244133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595F6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github.com/alexander-kastil</a:t>
            </a:r>
            <a:endParaRPr lang="en-US" sz="1200" dirty="0"/>
          </a:p>
        </p:txBody>
      </p:sp>
      <p:sp>
        <p:nvSpPr>
          <p:cNvPr id="34" name="Text 25"/>
          <p:cNvSpPr/>
          <p:nvPr/>
        </p:nvSpPr>
        <p:spPr>
          <a:xfrm>
            <a:off x="812767" y="5839464"/>
            <a:ext cx="3244076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595F6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alexander.kastil@integrations.at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4368712" y="5839464"/>
            <a:ext cx="3244133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595F6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linkedin.com/in/alexander-kastil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26812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5691</Words>
  <Application>Microsoft Office PowerPoint</Application>
  <PresentationFormat>Widescreen</PresentationFormat>
  <Paragraphs>463</Paragraphs>
  <Slides>33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5" baseType="lpstr">
      <vt:lpstr>Calibri</vt:lpstr>
      <vt:lpstr>Montserrat Bold</vt:lpstr>
      <vt:lpstr>Poppins Bold</vt:lpstr>
      <vt:lpstr>Aptos</vt:lpstr>
      <vt:lpstr>Consolas</vt:lpstr>
      <vt:lpstr>IBM Plex Sans</vt:lpstr>
      <vt:lpstr>IBM Plex Sans Light</vt:lpstr>
      <vt:lpstr>Montserrat</vt:lpstr>
      <vt:lpstr>Poppins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Alexander Kastil</cp:lastModifiedBy>
  <cp:revision>3</cp:revision>
  <dcterms:created xsi:type="dcterms:W3CDTF">2026-10-05T17:01:53Z</dcterms:created>
  <dcterms:modified xsi:type="dcterms:W3CDTF">2026-10-05T20:29:48Z</dcterms:modified>
</cp:coreProperties>
</file>