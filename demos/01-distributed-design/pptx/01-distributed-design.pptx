
<file path=[Content_Types].xml><?xml version="1.0" encoding="utf-8"?>
<Types xmlns="http://schemas.openxmlformats.org/package/2006/content-types">
  <Default Extension="emf" ContentType="image/x-emf"/>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32"/>
  </p:notesMasterIdLst>
  <p:sldIdLst>
    <p:sldId id="502" r:id="rId2"/>
    <p:sldId id="503" r:id="rId3"/>
    <p:sldId id="504" r:id="rId4"/>
    <p:sldId id="505" r:id="rId5"/>
    <p:sldId id="256" r:id="rId6"/>
    <p:sldId id="257" r:id="rId7"/>
    <p:sldId id="506" r:id="rId8"/>
    <p:sldId id="258" r:id="rId9"/>
    <p:sldId id="259" r:id="rId10"/>
    <p:sldId id="507" r:id="rId11"/>
    <p:sldId id="260" r:id="rId12"/>
    <p:sldId id="261" r:id="rId13"/>
    <p:sldId id="262" r:id="rId14"/>
    <p:sldId id="508" r:id="rId15"/>
    <p:sldId id="263" r:id="rId16"/>
    <p:sldId id="264" r:id="rId17"/>
    <p:sldId id="509" r:id="rId18"/>
    <p:sldId id="265" r:id="rId19"/>
    <p:sldId id="266" r:id="rId20"/>
    <p:sldId id="267" r:id="rId21"/>
    <p:sldId id="510" r:id="rId22"/>
    <p:sldId id="268" r:id="rId23"/>
    <p:sldId id="269" r:id="rId24"/>
    <p:sldId id="270" r:id="rId25"/>
    <p:sldId id="511" r:id="rId26"/>
    <p:sldId id="271" r:id="rId27"/>
    <p:sldId id="272" r:id="rId28"/>
    <p:sldId id="273" r:id="rId29"/>
    <p:sldId id="274" r:id="rId30"/>
    <p:sldId id="275" r:id="rId31"/>
  </p:sldIdLst>
  <p:sldSz cx="12192000" cy="6858000"/>
  <p:notesSz cx="6858000" cy="12192000"/>
  <p:embeddedFontLst>
    <p:embeddedFont>
      <p:font typeface="Consolas" panose="020B0609020204030204" pitchFamily="49" charset="0"/>
      <p:regular r:id="rId33"/>
      <p:bold r:id="rId34"/>
      <p:italic r:id="rId35"/>
      <p:boldItalic r:id="rId36"/>
    </p:embeddedFont>
    <p:embeddedFont>
      <p:font typeface="IBM Plex Sans" panose="020B0503050203000203" pitchFamily="34" charset="0"/>
      <p:regular r:id="rId37"/>
    </p:embeddedFont>
    <p:embeddedFont>
      <p:font typeface="IBM Plex Sans Light" panose="020B0403050203000203" pitchFamily="34" charset="0"/>
      <p:regular r:id="rId38"/>
    </p:embeddedFont>
    <p:embeddedFont>
      <p:font typeface="Montserrat" panose="00000500000000000000" pitchFamily="2" charset="0"/>
      <p:regular r:id="rId39"/>
      <p:bold r:id="rId40"/>
      <p:italic r:id="rId41"/>
      <p:boldItalic r:id="rId42"/>
    </p:embeddedFont>
    <p:embeddedFont>
      <p:font typeface="Montserrat Bold" panose="00000800000000000000" pitchFamily="2" charset="0"/>
      <p:bold r:id="rId43"/>
    </p:embeddedFont>
    <p:embeddedFont>
      <p:font typeface="Poppins" panose="00000500000000000000" pitchFamily="2" charset="0"/>
      <p:regular r:id="rId44"/>
    </p:embeddedFont>
    <p:embeddedFont>
      <p:font typeface="Poppins Bold" panose="00000800000000000000" charset="0"/>
      <p:regular r:id="rId45"/>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notesMaster" Target="notesMasters/notesMaster1.xml"/><Relationship Id="rId33" Type="http://schemas.openxmlformats.org/officeDocument/2006/relationships/font" Target="fonts/font1.fntdata"/><Relationship Id="rId34" Type="http://schemas.openxmlformats.org/officeDocument/2006/relationships/font" Target="fonts/font2.fntdata"/><Relationship Id="rId35" Type="http://schemas.openxmlformats.org/officeDocument/2006/relationships/font" Target="fonts/font3.fntdata"/><Relationship Id="rId36" Type="http://schemas.openxmlformats.org/officeDocument/2006/relationships/font" Target="fonts/font4.fntdata"/><Relationship Id="rId37" Type="http://schemas.openxmlformats.org/officeDocument/2006/relationships/font" Target="fonts/font5.fntdata"/><Relationship Id="rId38" Type="http://schemas.openxmlformats.org/officeDocument/2006/relationships/font" Target="fonts/font6.fntdata"/><Relationship Id="rId39" Type="http://schemas.openxmlformats.org/officeDocument/2006/relationships/font" Target="fonts/font7.fntdata"/><Relationship Id="rId40" Type="http://schemas.openxmlformats.org/officeDocument/2006/relationships/font" Target="fonts/font8.fntdata"/><Relationship Id="rId41" Type="http://schemas.openxmlformats.org/officeDocument/2006/relationships/font" Target="fonts/font9.fntdata"/><Relationship Id="rId42" Type="http://schemas.openxmlformats.org/officeDocument/2006/relationships/font" Target="fonts/font10.fntdata"/><Relationship Id="rId43" Type="http://schemas.openxmlformats.org/officeDocument/2006/relationships/font" Target="fonts/font11.fntdata"/><Relationship Id="rId44" Type="http://schemas.openxmlformats.org/officeDocument/2006/relationships/font" Target="fonts/font12.fntdata"/><Relationship Id="rId45" Type="http://schemas.openxmlformats.org/officeDocument/2006/relationships/font" Target="fonts/font13.fntdata"/><Relationship Id="rId46" Type="http://schemas.openxmlformats.org/officeDocument/2006/relationships/presProps" Target="presProps.xml"/><Relationship Id="rId47" Type="http://schemas.openxmlformats.org/officeDocument/2006/relationships/viewProps" Target="viewProps.xml"/><Relationship Id="rId48" Type="http://schemas.openxmlformats.org/officeDocument/2006/relationships/theme" Target="theme/theme1.xml"/><Relationship Id="rId49"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50328536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8461A2-C3FB-8FF7-A183-A6C9154D3ABD}"/>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9E791D27-971C-48FE-7C44-479BE7AE8117}"/>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1017CC76-223D-4E1C-7685-BA68E3EA4724}"/>
              </a:ext>
            </a:extLst>
          </p:cNvPr>
          <p:cNvSpPr>
            <a:spLocks noGrp="1"/>
          </p:cNvSpPr>
          <p:nvPr>
            <p:ph type="body" idx="1"/>
          </p:nvPr>
        </p:nvSpPr>
        <p:spPr/>
        <p: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lang="de-DE" b="1"/>
              <a:t>Die Fast Lane Gruppe. </a:t>
            </a:r>
          </a:p>
          <a:p>
            <a:pPr marL="0" marR="0" lvl="0" indent="0" algn="l" defTabSz="914377" rtl="0" eaLnBrk="1" fontAlgn="auto" latinLnBrk="0" hangingPunct="1">
              <a:lnSpc>
                <a:spcPct val="100000"/>
              </a:lnSpc>
              <a:spcBef>
                <a:spcPts val="0"/>
              </a:spcBef>
              <a:spcAft>
                <a:spcPts val="0"/>
              </a:spcAft>
              <a:buClrTx/>
              <a:buSzTx/>
              <a:buFontTx/>
              <a:buNone/>
              <a:tabLst/>
              <a:defRPr/>
            </a:pPr>
            <a:endParaRPr lang="de-DE"/>
          </a:p>
          <a:p>
            <a:pPr marL="171450" marR="0" lvl="0" indent="-171450" algn="l" defTabSz="914377" rtl="0" eaLnBrk="1" fontAlgn="auto" latinLnBrk="0" hangingPunct="1">
              <a:lnSpc>
                <a:spcPct val="100000"/>
              </a:lnSpc>
              <a:spcBef>
                <a:spcPts val="0"/>
              </a:spcBef>
              <a:spcAft>
                <a:spcPts val="0"/>
              </a:spcAft>
              <a:buClrTx/>
              <a:buSzTx/>
              <a:buFont typeface="Arial" panose="020B0604020202020204" pitchFamily="34" charset="0"/>
              <a:buChar char="•"/>
              <a:tabLst/>
              <a:defRPr/>
            </a:pPr>
            <a:r>
              <a:rPr lang="de-DE"/>
              <a:t>Fast Lane … Dienstleister u. Spezialist für High-End Technologie und Business Trainings</a:t>
            </a:r>
          </a:p>
          <a:p>
            <a:pPr marL="0" marR="0" lvl="0" indent="0" algn="l" defTabSz="914377" rtl="0" eaLnBrk="1" fontAlgn="auto" latinLnBrk="0" hangingPunct="1">
              <a:lnSpc>
                <a:spcPct val="100000"/>
              </a:lnSpc>
              <a:spcBef>
                <a:spcPts val="0"/>
              </a:spcBef>
              <a:spcAft>
                <a:spcPts val="0"/>
              </a:spcAft>
              <a:buClrTx/>
              <a:buSzTx/>
              <a:buFont typeface="Arial" panose="020B0604020202020204" pitchFamily="34" charset="0"/>
              <a:buNone/>
              <a:tabLst/>
              <a:defRPr/>
            </a:pPr>
            <a:r>
              <a:rPr lang="de-DE"/>
              <a:t>	IT Trainings zu den  unterschiedlichsten Herstellern wie Microsoft, Google, Cisco oder AWS. Und vielen weiteren wichtigen IT Herstellern. </a:t>
            </a:r>
          </a:p>
          <a:p>
            <a:pPr marL="0" marR="0" lvl="0" indent="0" algn="l" defTabSz="914377" rtl="0" eaLnBrk="1" fontAlgn="auto" latinLnBrk="0" hangingPunct="1">
              <a:lnSpc>
                <a:spcPct val="100000"/>
              </a:lnSpc>
              <a:spcBef>
                <a:spcPts val="0"/>
              </a:spcBef>
              <a:spcAft>
                <a:spcPts val="0"/>
              </a:spcAft>
              <a:buClrTx/>
              <a:buSzTx/>
              <a:buFont typeface="Arial" panose="020B0604020202020204" pitchFamily="34" charset="0"/>
              <a:buNone/>
              <a:tabLst/>
              <a:defRPr/>
            </a:pPr>
            <a:r>
              <a:rPr lang="de-DE"/>
              <a:t>	Sei es Cloud, Security, Netzwerk oder allgemein digitale Transformationsprojekte	</a:t>
            </a:r>
          </a:p>
          <a:p>
            <a:pPr marL="0" marR="0" lvl="0" indent="0" algn="l" defTabSz="914377" rtl="0" eaLnBrk="1" fontAlgn="auto" latinLnBrk="0" hangingPunct="1">
              <a:lnSpc>
                <a:spcPct val="100000"/>
              </a:lnSpc>
              <a:spcBef>
                <a:spcPts val="0"/>
              </a:spcBef>
              <a:spcAft>
                <a:spcPts val="0"/>
              </a:spcAft>
              <a:buClrTx/>
              <a:buSzTx/>
              <a:buFont typeface="Arial" panose="020B0604020202020204" pitchFamily="34" charset="0"/>
              <a:buNone/>
              <a:tabLst/>
              <a:defRPr/>
            </a:pPr>
            <a:r>
              <a:rPr lang="de-DE"/>
              <a:t>	Und das seit 2003.</a:t>
            </a:r>
          </a:p>
          <a:p>
            <a:pPr marL="0" marR="0" lvl="0" indent="0" algn="l" defTabSz="914377" rtl="0" eaLnBrk="1" fontAlgn="auto" latinLnBrk="0" hangingPunct="1">
              <a:lnSpc>
                <a:spcPct val="100000"/>
              </a:lnSpc>
              <a:spcBef>
                <a:spcPts val="0"/>
              </a:spcBef>
              <a:spcAft>
                <a:spcPts val="0"/>
              </a:spcAft>
              <a:buClrTx/>
              <a:buSzTx/>
              <a:buFont typeface="Arial" panose="020B0604020202020204" pitchFamily="34" charset="0"/>
              <a:buNone/>
              <a:tabLst/>
              <a:defRPr/>
            </a:pPr>
            <a:endParaRPr lang="de-DE"/>
          </a:p>
          <a:p>
            <a:pPr marL="0" marR="0" lvl="0" indent="0" algn="l" defTabSz="914377" rtl="0" eaLnBrk="1" fontAlgn="auto" latinLnBrk="0" hangingPunct="1">
              <a:lnSpc>
                <a:spcPct val="100000"/>
              </a:lnSpc>
              <a:spcBef>
                <a:spcPts val="0"/>
              </a:spcBef>
              <a:spcAft>
                <a:spcPts val="0"/>
              </a:spcAft>
              <a:buClrTx/>
              <a:buSzTx/>
              <a:buFontTx/>
              <a:buNone/>
              <a:tabLst/>
              <a:defRPr/>
            </a:pPr>
            <a:r>
              <a:rPr lang="de-DE"/>
              <a:t>Das spannende ist, dass die Fast Lane Gruppe bereits seit 2009 durchgängig zu den </a:t>
            </a:r>
            <a:r>
              <a:rPr lang="de-DE" sz="1200" b="1" i="0" kern="1200">
                <a:solidFill>
                  <a:schemeClr val="tx1"/>
                </a:solidFill>
                <a:effectLst/>
                <a:latin typeface="+mn-lt"/>
                <a:ea typeface="+mn-ea"/>
                <a:cs typeface="+mn-cs"/>
              </a:rPr>
              <a:t>Top 20 Unternehmen in der IT Trainingsbranche </a:t>
            </a:r>
            <a:r>
              <a:rPr lang="de-DE" sz="1200" b="0" i="0" kern="1200">
                <a:solidFill>
                  <a:schemeClr val="tx1"/>
                </a:solidFill>
                <a:effectLst/>
                <a:latin typeface="+mn-lt"/>
                <a:ea typeface="+mn-ea"/>
                <a:cs typeface="+mn-cs"/>
              </a:rPr>
              <a:t>weltweit zählt.</a:t>
            </a:r>
            <a:endParaRPr lang="de-DE"/>
          </a:p>
          <a:p>
            <a:pPr marL="0" marR="0" lvl="0" indent="0" algn="l" defTabSz="914377" rtl="0" eaLnBrk="1" fontAlgn="auto" latinLnBrk="0" hangingPunct="1">
              <a:lnSpc>
                <a:spcPct val="100000"/>
              </a:lnSpc>
              <a:spcBef>
                <a:spcPts val="0"/>
              </a:spcBef>
              <a:spcAft>
                <a:spcPts val="0"/>
              </a:spcAft>
              <a:buClrTx/>
              <a:buSzTx/>
              <a:buFont typeface="Arial" panose="020B0604020202020204" pitchFamily="34" charset="0"/>
              <a:buNone/>
              <a:tabLst/>
              <a:defRPr/>
            </a:pPr>
            <a:endParaRPr lang="de-DE"/>
          </a:p>
          <a:p>
            <a:pPr marL="171450" marR="0" lvl="0" indent="-171450" algn="l" defTabSz="914377" rtl="0" eaLnBrk="1" fontAlgn="auto" latinLnBrk="0" hangingPunct="1">
              <a:lnSpc>
                <a:spcPct val="100000"/>
              </a:lnSpc>
              <a:spcBef>
                <a:spcPts val="0"/>
              </a:spcBef>
              <a:spcAft>
                <a:spcPts val="0"/>
              </a:spcAft>
              <a:buClrTx/>
              <a:buSzTx/>
              <a:buFont typeface="Arial" panose="020B0604020202020204" pitchFamily="34" charset="0"/>
              <a:buChar char="•"/>
              <a:tabLst/>
              <a:defRPr/>
            </a:pPr>
            <a:r>
              <a:rPr lang="de-DE"/>
              <a:t>Aber auch Footprint ebenso im klassischen Professional Services Bereich für unsere wichtigsten Hersteller</a:t>
            </a:r>
          </a:p>
          <a:p>
            <a:pPr marL="0" marR="0" lvl="0" indent="0" algn="l" defTabSz="914377" rtl="0" eaLnBrk="1" fontAlgn="auto" latinLnBrk="0" hangingPunct="1">
              <a:lnSpc>
                <a:spcPct val="100000"/>
              </a:lnSpc>
              <a:spcBef>
                <a:spcPts val="0"/>
              </a:spcBef>
              <a:spcAft>
                <a:spcPts val="0"/>
              </a:spcAft>
              <a:buClrTx/>
              <a:buSzTx/>
              <a:buFont typeface="Arial" panose="020B0604020202020204" pitchFamily="34" charset="0"/>
              <a:buNone/>
              <a:tabLst/>
              <a:defRPr/>
            </a:pPr>
            <a:r>
              <a:rPr lang="de-DE" sz="1200" b="0" i="0" kern="1200">
                <a:solidFill>
                  <a:schemeClr val="tx1"/>
                </a:solidFill>
                <a:effectLst/>
                <a:latin typeface="+mn-lt"/>
                <a:ea typeface="+mn-ea"/>
                <a:cs typeface="+mn-cs"/>
              </a:rPr>
              <a:t>	</a:t>
            </a:r>
            <a:r>
              <a:rPr lang="de-DE" sz="1200" b="0" i="0" kern="1200" err="1">
                <a:solidFill>
                  <a:schemeClr val="tx1"/>
                </a:solidFill>
                <a:effectLst/>
                <a:latin typeface="+mn-lt"/>
                <a:ea typeface="+mn-ea"/>
                <a:cs typeface="+mn-cs"/>
              </a:rPr>
              <a:t>PreSales</a:t>
            </a:r>
            <a:r>
              <a:rPr lang="de-DE" sz="1200" b="0" i="0" kern="1200">
                <a:solidFill>
                  <a:schemeClr val="tx1"/>
                </a:solidFill>
                <a:effectLst/>
                <a:latin typeface="+mn-lt"/>
                <a:ea typeface="+mn-ea"/>
                <a:cs typeface="+mn-cs"/>
              </a:rPr>
              <a:t> Support, </a:t>
            </a:r>
            <a:r>
              <a:rPr lang="de-DE" sz="1200" b="0" i="0" kern="1200" err="1">
                <a:solidFill>
                  <a:schemeClr val="tx1"/>
                </a:solidFill>
                <a:effectLst/>
                <a:latin typeface="+mn-lt"/>
                <a:ea typeface="+mn-ea"/>
                <a:cs typeface="+mn-cs"/>
              </a:rPr>
              <a:t>Deployment</a:t>
            </a:r>
            <a:r>
              <a:rPr lang="de-DE" sz="1200" b="0" i="0" kern="1200">
                <a:solidFill>
                  <a:schemeClr val="tx1"/>
                </a:solidFill>
                <a:effectLst/>
                <a:latin typeface="+mn-lt"/>
                <a:ea typeface="+mn-ea"/>
                <a:cs typeface="+mn-cs"/>
              </a:rPr>
              <a:t> Services und Adoption Trainings</a:t>
            </a:r>
          </a:p>
          <a:p>
            <a:pPr marL="0" marR="0" lvl="0" indent="0" algn="l" defTabSz="914377" rtl="0" eaLnBrk="1" fontAlgn="auto" latinLnBrk="0" hangingPunct="1">
              <a:lnSpc>
                <a:spcPct val="100000"/>
              </a:lnSpc>
              <a:spcBef>
                <a:spcPts val="0"/>
              </a:spcBef>
              <a:spcAft>
                <a:spcPts val="0"/>
              </a:spcAft>
              <a:buClrTx/>
              <a:buSzTx/>
              <a:buFontTx/>
              <a:buNone/>
              <a:tabLst/>
              <a:defRPr/>
            </a:pPr>
            <a:endParaRPr lang="de-DE" sz="1200" b="0" i="0" kern="1200">
              <a:solidFill>
                <a:schemeClr val="tx1"/>
              </a:solidFill>
              <a:effectLst/>
              <a:latin typeface="+mn-lt"/>
              <a:ea typeface="+mn-ea"/>
              <a:cs typeface="+mn-cs"/>
            </a:endParaRPr>
          </a:p>
          <a:p>
            <a:pPr marL="0" marR="0" lvl="0" indent="0" algn="l" defTabSz="914377" rtl="0" eaLnBrk="1" fontAlgn="auto" latinLnBrk="0" hangingPunct="1">
              <a:lnSpc>
                <a:spcPct val="100000"/>
              </a:lnSpc>
              <a:spcBef>
                <a:spcPts val="0"/>
              </a:spcBef>
              <a:spcAft>
                <a:spcPts val="0"/>
              </a:spcAft>
              <a:buClrTx/>
              <a:buSzTx/>
              <a:buFontTx/>
              <a:buNone/>
              <a:tabLst/>
              <a:defRPr/>
            </a:pPr>
            <a:endParaRPr lang="de-DE" sz="1200" b="0" i="0" kern="1200">
              <a:solidFill>
                <a:schemeClr val="tx1"/>
              </a:solidFill>
              <a:effectLst/>
              <a:latin typeface="+mn-lt"/>
              <a:ea typeface="+mn-ea"/>
              <a:cs typeface="+mn-cs"/>
            </a:endParaRPr>
          </a:p>
          <a:p>
            <a:pPr marL="0" marR="0" lvl="0" indent="0" algn="l" defTabSz="914377" rtl="0" eaLnBrk="1" fontAlgn="auto" latinLnBrk="0" hangingPunct="1">
              <a:lnSpc>
                <a:spcPct val="100000"/>
              </a:lnSpc>
              <a:spcBef>
                <a:spcPts val="0"/>
              </a:spcBef>
              <a:spcAft>
                <a:spcPts val="0"/>
              </a:spcAft>
              <a:buClrTx/>
              <a:buSzTx/>
              <a:buFontTx/>
              <a:buNone/>
              <a:tabLst/>
              <a:defRPr/>
            </a:pPr>
            <a:r>
              <a:rPr lang="de-DE" sz="1200" b="1" i="0" kern="1200">
                <a:solidFill>
                  <a:schemeClr val="tx1"/>
                </a:solidFill>
                <a:effectLst/>
                <a:latin typeface="+mn-lt"/>
                <a:ea typeface="+mn-ea"/>
                <a:cs typeface="+mn-cs"/>
              </a:rPr>
              <a:t>Additional Information:</a:t>
            </a:r>
            <a:br>
              <a:rPr lang="de-DE" sz="1200" b="0" i="0" kern="1200">
                <a:solidFill>
                  <a:schemeClr val="tx1"/>
                </a:solidFill>
                <a:effectLst/>
                <a:latin typeface="+mn-lt"/>
                <a:ea typeface="+mn-ea"/>
                <a:cs typeface="+mn-cs"/>
              </a:rPr>
            </a:br>
            <a:r>
              <a:rPr lang="de-DE" sz="1200" b="0" i="0" kern="1200">
                <a:solidFill>
                  <a:schemeClr val="tx1"/>
                </a:solidFill>
                <a:effectLst/>
                <a:latin typeface="+mn-lt"/>
                <a:ea typeface="+mn-ea"/>
                <a:cs typeface="+mn-cs"/>
              </a:rPr>
              <a:t>Im Jahr 2021 sind wir zur „</a:t>
            </a:r>
            <a:r>
              <a:rPr lang="de-DE" sz="1200" b="0" i="0" kern="1200" err="1">
                <a:solidFill>
                  <a:schemeClr val="tx1"/>
                </a:solidFill>
                <a:effectLst/>
                <a:latin typeface="+mn-lt"/>
                <a:ea typeface="+mn-ea"/>
                <a:cs typeface="+mn-cs"/>
              </a:rPr>
              <a:t>most</a:t>
            </a:r>
            <a:r>
              <a:rPr lang="de-DE" sz="1200" b="0" i="0" kern="1200">
                <a:solidFill>
                  <a:schemeClr val="tx1"/>
                </a:solidFill>
                <a:effectLst/>
                <a:latin typeface="+mn-lt"/>
                <a:ea typeface="+mn-ea"/>
                <a:cs typeface="+mn-cs"/>
              </a:rPr>
              <a:t> </a:t>
            </a:r>
            <a:r>
              <a:rPr lang="de-DE" sz="1200" b="0" i="0" kern="1200" err="1">
                <a:solidFill>
                  <a:schemeClr val="tx1"/>
                </a:solidFill>
                <a:effectLst/>
                <a:latin typeface="+mn-lt"/>
                <a:ea typeface="+mn-ea"/>
                <a:cs typeface="+mn-cs"/>
              </a:rPr>
              <a:t>strategic</a:t>
            </a:r>
            <a:r>
              <a:rPr lang="de-DE" sz="1200" b="0" i="0" kern="1200">
                <a:solidFill>
                  <a:schemeClr val="tx1"/>
                </a:solidFill>
                <a:effectLst/>
                <a:latin typeface="+mn-lt"/>
                <a:ea typeface="+mn-ea"/>
                <a:cs typeface="+mn-cs"/>
              </a:rPr>
              <a:t> IT Education </a:t>
            </a:r>
            <a:r>
              <a:rPr lang="de-DE" sz="1200" b="0" i="0" kern="1200" err="1">
                <a:solidFill>
                  <a:schemeClr val="tx1"/>
                </a:solidFill>
                <a:effectLst/>
                <a:latin typeface="+mn-lt"/>
                <a:ea typeface="+mn-ea"/>
                <a:cs typeface="+mn-cs"/>
              </a:rPr>
              <a:t>company</a:t>
            </a:r>
            <a:r>
              <a:rPr lang="de-DE" sz="1200" b="0" i="0" kern="1200">
                <a:solidFill>
                  <a:schemeClr val="tx1"/>
                </a:solidFill>
                <a:effectLst/>
                <a:latin typeface="+mn-lt"/>
                <a:ea typeface="+mn-ea"/>
                <a:cs typeface="+mn-cs"/>
              </a:rPr>
              <a:t> </a:t>
            </a:r>
            <a:r>
              <a:rPr lang="de-DE" sz="1200" b="0" i="0" kern="1200" err="1">
                <a:solidFill>
                  <a:schemeClr val="tx1"/>
                </a:solidFill>
                <a:effectLst/>
                <a:latin typeface="+mn-lt"/>
                <a:ea typeface="+mn-ea"/>
                <a:cs typeface="+mn-cs"/>
              </a:rPr>
              <a:t>worldwide</a:t>
            </a:r>
            <a:r>
              <a:rPr lang="de-DE" sz="1200" b="0" i="0" kern="1200">
                <a:solidFill>
                  <a:schemeClr val="tx1"/>
                </a:solidFill>
                <a:effectLst/>
                <a:latin typeface="+mn-lt"/>
                <a:ea typeface="+mn-ea"/>
                <a:cs typeface="+mn-cs"/>
              </a:rPr>
              <a:t>“ von der IDC im „</a:t>
            </a:r>
            <a:r>
              <a:rPr lang="de-DE" sz="1200" b="0" i="0" kern="1200" err="1">
                <a:solidFill>
                  <a:schemeClr val="tx1"/>
                </a:solidFill>
                <a:effectLst/>
                <a:latin typeface="+mn-lt"/>
                <a:ea typeface="+mn-ea"/>
                <a:cs typeface="+mn-cs"/>
              </a:rPr>
              <a:t>magic</a:t>
            </a:r>
            <a:r>
              <a:rPr lang="de-DE" sz="1200" b="0" i="0" kern="1200">
                <a:solidFill>
                  <a:schemeClr val="tx1"/>
                </a:solidFill>
                <a:effectLst/>
                <a:latin typeface="+mn-lt"/>
                <a:ea typeface="+mn-ea"/>
                <a:cs typeface="+mn-cs"/>
              </a:rPr>
              <a:t> </a:t>
            </a:r>
            <a:r>
              <a:rPr lang="de-DE" sz="1200" b="0" i="0" kern="1200" err="1">
                <a:solidFill>
                  <a:schemeClr val="tx1"/>
                </a:solidFill>
                <a:effectLst/>
                <a:latin typeface="+mn-lt"/>
                <a:ea typeface="+mn-ea"/>
                <a:cs typeface="+mn-cs"/>
              </a:rPr>
              <a:t>quadrant</a:t>
            </a:r>
            <a:r>
              <a:rPr lang="de-DE" sz="1200" b="0" i="0" kern="1200">
                <a:solidFill>
                  <a:schemeClr val="tx1"/>
                </a:solidFill>
                <a:effectLst/>
                <a:latin typeface="+mn-lt"/>
                <a:ea typeface="+mn-ea"/>
                <a:cs typeface="+mn-cs"/>
              </a:rPr>
              <a:t>“ aufgeführt worden !</a:t>
            </a:r>
          </a:p>
          <a:p>
            <a:endParaRPr lang="de-DE"/>
          </a:p>
          <a:p>
            <a:pPr marL="171450" indent="-171450">
              <a:buFont typeface="Wingdings" panose="05000000000000000000" pitchFamily="2" charset="2"/>
              <a:buChar char="Ø"/>
            </a:pPr>
            <a:r>
              <a:rPr lang="de-DE"/>
              <a:t>1 </a:t>
            </a:r>
            <a:r>
              <a:rPr lang="de-DE" err="1"/>
              <a:t>mio</a:t>
            </a:r>
            <a:r>
              <a:rPr lang="de-DE"/>
              <a:t> Teilnehmer insgesamt seit bestehen, 50.000+ </a:t>
            </a:r>
            <a:r>
              <a:rPr lang="de-DE" err="1"/>
              <a:t>Students</a:t>
            </a:r>
            <a:r>
              <a:rPr lang="de-DE"/>
              <a:t> </a:t>
            </a:r>
            <a:r>
              <a:rPr lang="de-DE" err="1"/>
              <a:t>ww</a:t>
            </a:r>
            <a:r>
              <a:rPr lang="de-DE"/>
              <a:t> </a:t>
            </a:r>
            <a:r>
              <a:rPr lang="de-DE" err="1"/>
              <a:t>p.A</a:t>
            </a:r>
            <a:r>
              <a:rPr lang="de-DE"/>
              <a:t>, 20.000 in DE pro Jahr</a:t>
            </a:r>
          </a:p>
          <a:p>
            <a:endParaRPr lang="de-DE"/>
          </a:p>
        </p:txBody>
      </p:sp>
      <p:sp>
        <p:nvSpPr>
          <p:cNvPr id="4" name="Foliennummernplatzhalter 3">
            <a:extLst>
              <a:ext uri="{FF2B5EF4-FFF2-40B4-BE49-F238E27FC236}">
                <a16:creationId xmlns:a16="http://schemas.microsoft.com/office/drawing/2014/main" id="{E147C99C-1C3E-1038-E7AD-EE3A64ED031D}"/>
              </a:ext>
            </a:extLst>
          </p:cNvPr>
          <p:cNvSpPr>
            <a:spLocks noGrp="1"/>
          </p:cNvSpPr>
          <p:nvPr>
            <p:ph type="sldNum" sz="quarter" idx="5"/>
          </p:nvPr>
        </p:nvSpPr>
        <p:spPr/>
        <p:txBody>
          <a:bodyPr/>
          <a:lstStyle/>
          <a:p>
            <a:pPr marL="0" marR="0" lvl="0" indent="0" algn="l" defTabSz="342900" rtl="0" eaLnBrk="1" fontAlgn="auto" latinLnBrk="0" hangingPunct="1">
              <a:lnSpc>
                <a:spcPct val="100000"/>
              </a:lnSpc>
              <a:spcBef>
                <a:spcPts val="0"/>
              </a:spcBef>
              <a:spcAft>
                <a:spcPts val="0"/>
              </a:spcAft>
              <a:buClrTx/>
              <a:buSzTx/>
              <a:buFontTx/>
              <a:buNone/>
              <a:tabLst/>
              <a:defRPr/>
            </a:pPr>
            <a:fld id="{0B0D7EAB-36F5-E04E-BA34-9D312A17DA3C}" type="slidenum">
              <a:rPr kumimoji="0" lang="en-HR" sz="700" b="0" i="0" u="none" strike="noStrike" kern="1200" cap="none" spc="0" normalizeH="0" baseline="0" noProof="0" smtClean="0">
                <a:ln>
                  <a:noFill/>
                </a:ln>
                <a:solidFill>
                  <a:prstClr val="black"/>
                </a:solidFill>
                <a:effectLst/>
                <a:uLnTx/>
                <a:uFillTx/>
                <a:latin typeface="Calibri"/>
                <a:ea typeface="+mn-ea"/>
                <a:cs typeface="+mn-cs"/>
              </a:rPr>
              <a:pPr marL="0" marR="0" lvl="0" indent="0" algn="l" defTabSz="342900" rtl="0" eaLnBrk="1" fontAlgn="auto" latinLnBrk="0" hangingPunct="1">
                <a:lnSpc>
                  <a:spcPct val="100000"/>
                </a:lnSpc>
                <a:spcBef>
                  <a:spcPts val="0"/>
                </a:spcBef>
                <a:spcAft>
                  <a:spcPts val="0"/>
                </a:spcAft>
                <a:buClrTx/>
                <a:buSzTx/>
                <a:buFontTx/>
                <a:buNone/>
                <a:tabLst/>
                <a:defRPr/>
              </a:pPr>
              <a:t>1</a:t>
            </a:fld>
            <a:endParaRPr kumimoji="0" lang="en-HR" sz="7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54650537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 Alexander Kastil, integrations.at. Four practice areas from AI at Work to team enablement. Certifications: Agentic AI Business Solutions Architect, Azure AI App and Agent Developer Associate, DevOps Engineer Expert.</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220045007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module sets the design vocabulary for the rest of the class, on Contoso Logistics, one application that books shipments, tracks parcels and assigns vans. It has no hands-on demo: the topics use diagrams, tables and small C# records, and the later modules build the patterns named here.</a:t>
            </a:r>
          </a:p>
          <a:p/>
          <a:p>
            <a:r>
              <a:t>Boundaries: you learn when a modular monolith is the right first step and when a service boundary earns its cost. Event storming then finds those boundaries with the domain experts in the room.</a:t>
            </a:r>
          </a:p>
          <a:p/>
          <a:p>
            <a:r>
              <a:t>Messages: you choose between synchronous calls and asynchronous messages, and you name the commands and events the services exchange. CloudEvents 1.0 gives those events a common envelope.</a:t>
            </a:r>
          </a:p>
          <a:p/>
          <a:p>
            <a:r>
              <a:t>Reliability and brokers: outbox, saga and idempotency keep each flow correct under failure. The broker comparison then matches each flow to Service Bus, Event Grid, Event Hubs or Dapr pub/sub.</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slide walks the six topics once, in the order a design decision takes. The top row finds where the seams belong, the bottom row decides which messages cross them.</a:t>
            </a:r>
          </a:p>
          <a:p/>
          <a:p>
            <a:r>
              <a:t>Monolith or microservices: four criteria decide whether a split pays off, and a modular monolith keeps the same seams inside one deployable.</a:t>
            </a:r>
          </a:p>
          <a:p/>
          <a:p>
            <a:r>
              <a:t>Sync or async: commands, events and queries differ in what the sender expects. HTTP stays right when the caller needs the answer to continue.</a:t>
            </a:r>
          </a:p>
          <a:p/>
          <a:p>
            <a:r>
              <a:t>Boundaries and event types: event storming finds the bounded contexts with the domain experts. Event types then decide what crosses them: domain or integration, notification or state transfer, in a CloudEvents envelope.</a:t>
            </a:r>
          </a:p>
          <a:p/>
          <a:p>
            <a:r>
              <a:t>Reliability: dual writes, duplicates, partial failures, poison messages and transient faults each have a pattern that prevents them, such as the transactional outbox or dead-lettering.</a:t>
            </a:r>
          </a:p>
          <a:p/>
          <a:p>
            <a:r>
              <a:t>Brokers and the lab: Service Bus, Event Grid, Event Hubs and Dapr pub/sub are compared by delivery, ordering and retention. The lab then turns the parcel delivery flow into `docs/events.md` and `docs/architecture.md`.</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Contoso could make booking, routing, billing and labels separate services from day one, because each looks like it needs its own team. This slide gives the criteria for that call and the first step the class recommends.</a:t>
            </a:r>
          </a:p>
          <a:p/>
          <a:p>
            <a:r>
              <a:t>Team size, deployment, scaling and data: a service should be small enough for one feature team and ship without its neighbours. Routing grows with the number of vans while the tracking page grows with viewers, and two services that share a data store still behave as one.</a:t>
            </a:r>
          </a:p>
          <a:p/>
          <a:p>
            <a:r>
              <a:t>One deployable unit: a modular monolith ships as one unit, but its code follows the boundaries a service would have. For Contoso, the first version hosts booking, routing, billing and labels in one process, after a check of team and infrastructure maturity.</a:t>
            </a:r>
          </a:p>
          <a:p/>
          <a:p>
            <a:r>
              <a:t>Own tables, small interface: other modules call the interface and never read another module's tables. Each module keeps its own schema, so the seams show up in the code and in the database.</a:t>
            </a:r>
          </a:p>
          <a:p/>
          <a:p>
            <a:r>
              <a:t>Moving a module out: when one module needs its own scaling, release train or team, it becomes a service. The interface already written becomes its contract, so the change stays small, as Routing shows on the right.</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Every split adds costs that a single process never pays. The diagram shows the Contoso boundaries, and each arrow is a place where a boundary costs something.</a:t>
            </a:r>
          </a:p>
          <a:p/>
          <a:p>
            <a:r>
              <a:t>Eventual consistency: a booking that captures a payment and then fails to reserve a van cannot roll back as one ACID transaction across two services. The Azure guidance for that case is to embrace eventual consistency where possible.</a:t>
            </a:r>
          </a:p>
          <a:p/>
          <a:p>
            <a:r>
              <a:t>Network calls: Booking calls routing and billing, and each call can fail on its own. Latency also adds up along every call chain.</a:t>
            </a:r>
          </a:p>
          <a:p/>
          <a:p>
            <a:r>
              <a:t>Operations: every service needs its own pipeline, dashboards and rollback path.</a:t>
            </a:r>
          </a:p>
          <a:p/>
          <a:p>
            <a:r>
              <a:t>Versioning: a new field on ShipmentBooked must not break the consumers that still read the old shape.</a:t>
            </a:r>
          </a:p>
          <a:p/>
          <a:p>
            <a:r>
              <a:t>Business language: Booking changes when booking rules change and Routing when dispatch rules change, so that is where the boundary sits. Every boundary also passes a test: the service does one job, avoids chatty calls and deploys without its neighbours.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Contoso has a booking flow that must answer the customer now and a scan flow that must never lose a parcel. Before choosing a transport, name what each message is.</a:t>
            </a:r>
          </a:p>
          <a:p/>
          <a:p>
            <a:r>
              <a:t>Command: BookShipment, ReserveCapacity, CapturePayment and PrintLabel ask a service to act. The sender names the receiver, so it knows what it asked for.</a:t>
            </a:r>
          </a:p>
          <a:p/>
          <a:p>
            <a:r>
              <a:t>Event: ShipmentBooked and ParcelScanned report facts that already happened, and any number of services can react without the publisher changing. The Microsoft Learn comparison of Azure messaging services makes the same split between an event and a message that carries data under a contract.</a:t>
            </a:r>
          </a:p>
          <a:p/>
          <a:p>
            <a:r>
              <a:t>Query: the tracking page is a query served from a read model. Repeating a query is harmless, which is why queries suit HTTP GET.</a:t>
            </a:r>
          </a:p>
          <a:p/>
          <a:p>
            <a:r>
              <a:t>Naming: a command is an imperative verb such as ReserveCapacity, an event a past-tense fact such as ParcelScanned.</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 customer who books a shipment expects the answer in the same request, while a parcel scanner sends updates that nobody waits on. The time axis puts both styles into one booking.</a:t>
            </a:r>
          </a:p>
          <a:p/>
          <a:p>
            <a:r>
              <a:t>Request/reply: the BookShipment call waits until shipping-api validates the request and returns the shipment ID. The caller holds the connection while that happens.</a:t>
            </a:r>
          </a:p>
          <a:p/>
          <a:p>
            <a:r>
              <a:t>Fire-and-forget: the sender publishes and continues, and a crashed consumer does not lose the message. The producer stays unblocked unless it loses its connection to the broker.</a:t>
            </a:r>
          </a:p>
          <a:p/>
          <a:p>
            <a:r>
              <a:t>One booking, both styles: the reservation is a synchronous call that Booking waits for. ShipmentBooked travels through the broker and reaches tracking-service once it has restarted.</a:t>
            </a:r>
          </a:p>
          <a:p/>
          <a:p>
            <a:r>
              <a:t>Temporal coupling: with HTTP, if routing is down while a customer books, the booking fails unless you add a retry or a queue. A broker removes that dependency for commands and events.</a:t>
            </a:r>
          </a:p>
          <a:p/>
          <a:p>
            <a:r>
              <a:t>Timeouts: set the timeout from how long the customer will wait, so the app shows an error before the customer gives up. Timeouts also release threads and connections that would otherwise pile up during an outage.</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 broker removes temporal coupling, yet HTTP stays the right choice in three cases. The diagram shows the third, long-running work that the caller polls.</a:t>
            </a:r>
          </a:p>
          <a:p/>
          <a:p>
            <a:r>
              <a:t>Answer for the next step: a validation error or a shipment ID decides what the app shows next, so the caller waits for it.</a:t>
            </a:r>
          </a:p>
          <a:p/>
          <a:p>
            <a:r>
              <a:t>Query: a request for current data changes nothing and is safe to repeat.</a:t>
            </a:r>
          </a:p>
          <a:p/>
          <a:p>
            <a:r>
              <a:t>202 Accepted: the service accepts the work at once and returns a Location header and a Retry-After header. While the work is pending, the client calls the Location URL again after each Retry-After interval.</a:t>
            </a:r>
          </a:p>
          <a:p/>
          <a:p>
            <a:r>
              <a:t>303 See Other: once the work is finished, the Location URL redirects the client to the finished result, which it then fetches.</a:t>
            </a:r>
          </a:p>
          <a:p/>
          <a:p>
            <a:r>
              <a:t>The deciding question: if the caller needs the answer to continue, use HTTP; if it only needs the work to happen, publish a command or an event. Messaging brings eventual consistency, duplicates and out-of-order processing, which the reliability topic handles.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Booking calls a parcel a shipment, Tracking calls it a tracking number and Billing a charge, and a service boundary belongs where the words change meaning. Event storming finds those boundaries in a workshop with the domain experts in the room.</a:t>
            </a:r>
          </a:p>
          <a:p/>
          <a:p>
            <a:r>
              <a:t>Events: orange notes written in the past tense, such as ShipmentBooked or ParcelScanned, placed along one long timeline.</a:t>
            </a:r>
          </a:p>
          <a:p/>
          <a:p>
            <a:r>
              <a:t>Commands: blue notes written as imperatives, such as BookShipment or PrintLabel. Published colour conventions differ for the other notes, so the workshop picks those colours.</a:t>
            </a:r>
          </a:p>
          <a:p/>
          <a:p>
            <a:r>
              <a:t>Actors, policies and aggregates: an actor such as a customer, a dispatcher or a parcel scanner issues a command, and a policy reads "whenever ParcelScanned reports AtHub, notify the customer". The aggregate is the consistency unit that decides, such as the Shipment that accepts BookShipment.</a:t>
            </a:r>
          </a:p>
          <a:p/>
          <a:p>
            <a:r>
              <a:t>Hotspots: a hotspot marks an open question, such as who approves a refund when a van is late. Each one gets an owner and a date, so the question does not turn into a hidden dependency.</a:t>
            </a:r>
          </a:p>
          <a:p/>
          <a:p>
            <a:r>
              <a:t>Two levels: the big-picture session maps every event on one timeline and postpones arguments about services. The process level zooms into one flow, such as booking through delivery, and adds commands, actors, policies and aggregates.</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Once the wall is full, clusters of aggregates turn into contexts and then into services. The diagram shows that path for Booking, Routing and Billing.</a:t>
            </a:r>
          </a:p>
          <a:p/>
          <a:p>
            <a:r>
              <a:t>The booking flow: a customer issues BookShipment, the Shipment aggregate emits ShipmentBooked, and the booking request itself invokes ReserveCapacity on routing. The booking saga issues CapturePayment, and each step names one aggregate that decides and becomes the unit of ownership.</a:t>
            </a:r>
          </a:p>
          <a:p/>
          <a:p>
            <a:r>
              <a:t>Bounded contexts: the team draws a context around each cluster of aggregates that share one language. The Azure Architecture Center states that a microservice shouldn't span more than one bounded context.</a:t>
            </a:r>
          </a:p>
          <a:p/>
          <a:p>
            <a:r>
              <a:t>Context map: between contexts, the map names the relationship, such as customer-supplier, open host service or anti-corruption layer.</a:t>
            </a:r>
          </a:p>
          <a:p/>
          <a:p>
            <a:r>
              <a:t>The Contoso list: Booking on shipping-api owns the Shipment aggregate and its event store, Routing runs one Dapr actor per van, and Billing owns payments. Labels, Tracking, Notifications, Telemetry and Exceptions complete the list, and the ops console reads from these contexts.</a:t>
            </a:r>
          </a:p>
          <a:p/>
          <a:p>
            <a:r>
              <a:t>Boundary tests: one responsibility, no chatty calls, a team that can own it, deployment without its neighbours and loose coupling. A candidate that fails a test goes back to the storm for another round.</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When Booking confirms a shipment, the same fact travels in different forms. The grid sorts events by kind, inside one service or across a broker, and by style, which the next slide covers.</a:t>
            </a:r>
          </a:p>
          <a:p/>
          <a:p>
            <a:r>
              <a:t>Domain event: the Shipment aggregate raises ShipmentBooked, and a handler in the booking module updates the customer account in the same process. The eShop reference application sends its domain events to an in-process dispatcher in the same way.</a:t>
            </a:r>
          </a:p>
          <a:p/>
          <a:p>
            <a:r>
              <a:t>Integration event: it travels through a broker to other services, such as Tracking and the exception agent.</a:t>
            </a:r>
          </a:p>
          <a:p/>
          <a:p>
            <a:r>
              <a:t>After the commit: the .NET architecture guidance says integration events occur only after the entity is persisted, because otherwise the operation never happened for the consumers. ShipmentBooked leaves Booking only after the Shipment commits.</a:t>
            </a:r>
          </a:p>
          <a:p/>
          <a:p>
            <a:r>
              <a:t>Contracts: integration event contracts belong to the publishing service. The labs keep every record in one `Contoso.Contracts` project, so a record change reaches every consumer at once.</a:t>
            </a:r>
          </a:p>
          <a:p/>
          <a:p>
            <a:r>
              <a:t>Style: in the grid, ProofOfDeliveryUploaded is a domain notification, ParcelScanned an integration notification and ParcelDelivered an integration state transfer.</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Once an event crosses a boundary, its payload decides how often the consumer must ask back. The two lanes show one Contoso example of each style.</a:t>
            </a:r>
          </a:p>
          <a:p/>
          <a:p>
            <a:r>
              <a:t>Notification: ParcelScanned carries the parcel ID and the scan type, and Tracking appends it to its own read model without calling Booking.</a:t>
            </a:r>
          </a:p>
          <a:p/>
          <a:p>
            <a:r>
              <a:t>Second request: DeliveryDelayed carries the shipment, the delay reason and the new arrival time, but a reroute decision also needs the delivery attempts that Delivery owns. In the design the exception agent calls Delivery for them; the lab's agent only logs the event.</a:t>
            </a:r>
          </a:p>
          <a:p/>
          <a:p>
            <a:r>
              <a:t>State transfer: the Azure Architecture Center describes a message that carries the resulting absolute state, which the consumer applies as an upsert to its own copy.</a:t>
            </a:r>
          </a:p>
          <a:p/>
          <a:p>
            <a:r>
              <a:t>ParcelDelivered: it carries the final status, the recipient name and the delivery time, so Billing and Notifications close their own records without a follow-up request.</a:t>
            </a:r>
          </a:p>
          <a:p/>
          <a:p>
            <a:r>
              <a:t>Business names: publishing database rows leaks internal structure, and a generic name such as RecordChanged makes every consumer inspect the payload. A name such as ParcelDelivered tells the consumer what happened.</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35729070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Brokers and routing services need one envelope, so a consumer can read the type, source and ID without knowing the producer's internal format. CloudEvents is a CNCF graduated project, and the diagram shows a ParcelScanned notification inside its envelope.</a:t>
            </a:r>
          </a:p>
          <a:p/>
          <a:p>
            <a:r>
              <a:t>Required attributes: specification version 1.0.2 defines four, id, source, specversion and type. The source identifies the producer and the type names the business fact.</a:t>
            </a:r>
          </a:p>
          <a:p/>
          <a:p>
            <a:r>
              <a:t>Optional attributes: datacontenttype, subject and time are optional. Data carries the payload, here the parcel and shipment IDs, the tracking number, the scan type, the location and the scan time.</a:t>
            </a:r>
          </a:p>
          <a:p/>
          <a:p>
            <a:r>
              <a:t>Duplicates: the id must be unique per event, and it is the attribute a consumer uses to detect a duplicate.</a:t>
            </a:r>
          </a:p>
          <a:p/>
          <a:p>
            <a:r>
              <a:t>Filtering: brokers that route by attribute can match on type and subject, so a subscriber selects ParcelScanned events for one parcel without reading the payload.</a:t>
            </a:r>
          </a:p>
          <a:p/>
          <a:p>
            <a:r>
              <a:t>Where it applies: Event Grid namespace topics accept CloudEvents 1.0 over HTTP in JSON, and Dapr wraps every pub/sub message in the envelope. The Service Bus messages in the labs carry plain JSON with a subject.</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289995668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 booking saves a shipment, reserves a van, captures a payment and prints a label, and any step can fail after an earlier one has committed. The failure map numbers each failure at the step where it happens; the linked topics later in the class build each pattern.</a:t>
            </a:r>
          </a:p>
          <a:p/>
          <a:p>
            <a:r>
              <a:t>Dual write: a service commits its change and then fails to publish the event, or the reverse. The transactional outbox writes both in one local transaction, and a relay publishes the stored event later.</a:t>
            </a:r>
          </a:p>
          <a:p/>
          <a:p>
            <a:r>
              <a:t>Duplicates: brokers deliver at least once, so a producer retry, a lost acknowledgment or a consumer crash can deliver a message twice. The idempotent consumer keys its records on a producer-assigned message ID or a business-level idempotency key, because one correlation ID covers several related messages.</a:t>
            </a:r>
          </a:p>
          <a:p/>
          <a:p>
            <a:r>
              <a:t>Partial failure: a step that fails after earlier steps committed cannot roll back across services. A saga undoes the earlier steps with compensating transactions.</a:t>
            </a:r>
          </a:p>
          <a:p/>
          <a:p>
            <a:r>
              <a:t>Transient faults: a momentary loss of network connectivity or a busy service usually clears when the operation runs again later, so a bounded retry handles it.</a:t>
            </a:r>
          </a:p>
          <a:p/>
          <a:p>
            <a:r>
              <a:t>Poison messages and large payloads: a message that never succeeds is dead-lettered after the maximum delivery count, so the queue keeps moving. A payload larger than the broker accepts goes to external storage, and only a claim check reference travels through the broker.</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335159260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saga covers the failure the outbox cannot: a step that fails after other services have committed their steps. The diagram shows the Contoso booking saga when PrintLabel fails.</a:t>
            </a:r>
          </a:p>
          <a:p/>
          <a:p>
            <a:r>
              <a:t>Local transactions: each step commits in its own service, and when a later step fails, compensating transactions undo the earlier ones.</a:t>
            </a:r>
          </a:p>
          <a:p/>
          <a:p>
            <a:r>
              <a:t>Forward steps: the booking saga reserves capacity, captures the payment and prints the label.</a:t>
            </a:r>
          </a:p>
          <a:p/>
          <a:p>
            <a:r>
              <a:t>Compensations: ReleaseCapacity, RefundPayment and VoidLabel undo the three forward steps one by one.</a:t>
            </a:r>
          </a:p>
          <a:p/>
          <a:p>
            <a:r>
              <a:t>Reverse order: in the diagram PrintLabel fails after three attempts, so the saga runs RefundPayment first and ReleaseCapacity second.</a:t>
            </a:r>
          </a:p>
          <a:p/>
          <a:p>
            <a:r>
              <a:t>Choreography or orchestration: in choreography each service reacts to the others' events with no coordinator, which suits a short flow with few services. An orchestrator sends commands and tracks each step, which suits a growing flow or one whose state someone must see at any moment.</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20044036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 retry suits a transient fault, because the fault clears on its own. The chart shows four clients that fail against a busy service and then retry on their own schedules.</a:t>
            </a:r>
          </a:p>
          <a:p/>
          <a:p>
            <a:r>
              <a:t>Backoff and jitter: the Azure Architecture Center recommends exponential backoff plus a random delay, so many clients do not retry in the same instant.</a:t>
            </a:r>
          </a:p>
          <a:p/>
          <a:p>
            <a:r>
              <a:t>Bounded retries: use a finite retry count, a retry budget per dependency and at most one immediate retry. Retries without a limit keep a struggling service down.</a:t>
            </a:r>
          </a:p>
          <a:p/>
          <a:p>
            <a:r>
              <a:t>Timeouts: retries multiply latency, so every outbound call also needs a timeout.</a:t>
            </a:r>
          </a:p>
          <a:p/>
          <a:p>
            <a:r>
              <a:t>Service Bus: after ten failed deliveries by default it moves the message to the dead-letter queue and records the reason, such as MaxDeliveryCountExceeded. The queue holds the evidence for an operator to inspect, replay or discard.</a:t>
            </a:r>
          </a:p>
          <a:p/>
          <a:p>
            <a:r>
              <a:t>Event Grid: it sends undelivered events to a storage account after its retry policy finishes, once you configure dead-lettering on the subscription. It does not turn dead-lettering on by default.</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61694205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Contoso carries four kinds of traffic, and a wrong broker choice costs ordering, retention or replay later. This slide uses the terms Microsoft Learn uses and compares the rows that decide most designs.</a:t>
            </a:r>
          </a:p>
          <a:p/>
          <a:p>
            <a:r>
              <a:t>Messages: the publisher expects a consumer to act on the message. Service Bus offers transactions, sessions, duplicate detection and dead-lettering for high-value payloads in enterprise workflows.</a:t>
            </a:r>
          </a:p>
          <a:p/>
          <a:p>
            <a:r>
              <a:t>Events: the publisher expects no particular reaction. Event Grid routes discrete events to subscribers, filters them and retries delivery on a schedule.</a:t>
            </a:r>
          </a:p>
          <a:p/>
          <a:p>
            <a:r>
              <a:t>Streams: Event Hubs keeps events in partitions for a configured retention period, and each consumer group keeps its own position. Telemetry, log aggregation and real-time analytics are its main scenarios.</a:t>
            </a:r>
          </a:p>
          <a:p/>
          <a:p>
            <a:r>
              <a:t>Dapr pub/sub: services publish to the Dapr API, and a component decides which broker carries the message. The Dapr component index lists Service Bus topics, Service Bus queues and Event Hubs as Azure components, and no Event Grid component.</a:t>
            </a:r>
          </a:p>
          <a:p/>
          <a:p>
            <a:r>
              <a:t>The deciding rows: read the grid by column to choose a service and by row to compare two. A missing feature in ordering, retention or dead-lettering is expensive to build around later.</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28020365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Each lane shows one Contoso flow on the service that fits its shape. Together they explain why the system runs three Azure brokers side by side.</a:t>
            </a:r>
          </a:p>
          <a:p/>
          <a:p>
            <a:r>
              <a:t>Service Bus: ReserveCapacity and PrintLabel travel as messages, and each parcel scan is a ParcelScanned message with the tracking number as its session ID, so scans of one parcel run in order. An unreadable label scan that keeps failing ends in the dead-letter queue, where an operator can inspect it.</a:t>
            </a:r>
          </a:p>
          <a:p/>
          <a:p>
            <a:r>
              <a:t>Event Hubs: the van simulator publishes VanPositionReported over the Kafka endpoint with the van ID as the message key, which keeps each van's positions in order. telemetry-ingest reads the stream with EventProcessorClient and pushes each position to the ops console map through SignalR.</a:t>
            </a:r>
          </a:p>
          <a:p/>
          <a:p>
            <a:r>
              <a:t>Event Grid: a driver's photo uploaded to Blob Storage raises a system event, and partners receive ParcelDelivered through a custom topic or by pulling from a namespace. Event Grid suits this shape because the publisher is an Azure resource and the consumers are reactive.</a:t>
            </a:r>
          </a:p>
          <a:p/>
          <a:p>
            <a:r>
              <a:t>Dapr pub/sub: the publishing service calls the Dapr API with DeliveryDelayed, and notification-service subscribes without a dependency on a broker SDK. Swapping Service Bus topics for Event Hubs then becomes a component change.</a:t>
            </a:r>
          </a:p>
          <a:p/>
          <a:p>
            <a:r>
              <a:t>Order of checks: ordering is the hardest property to add later, and replay depends on retention.</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53553554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lab turns the module into a design for Contoso Logistics, which exists only as a business brief. Participants open `labs/01-distributed-design/contoso-logistics/` with GitHub Copilot agent mode or Claude Code.</a:t>
            </a:r>
          </a:p>
          <a:p/>
          <a:p>
            <a:r>
              <a:t>Starting point: the workspace holds only agent instruction files, an MCP server configuration and an empty `docs/` folder, and the agent reads `AGENTS.md` for the class stack.</a:t>
            </a:r>
          </a:p>
          <a:p/>
          <a:p>
            <a:r>
              <a:t>events.md: steps 1 and 2 add the Events table with kind and style, the Emitted by column, and the Commands and Aggregates sections.</a:t>
            </a:r>
          </a:p>
          <a:p/>
          <a:p>
            <a:r>
              <a:t>architecture.md: step 3 adds the Bounded Contexts and Service Map sections, step 4 the Flows section, and step 5 the Reliability pattern column and the Saga Compensations section.</a:t>
            </a:r>
          </a:p>
          <a:p/>
          <a:p>
            <a:r>
              <a:t>Format: the lab practices all six topics of the module and produces documents only, so `src/` and `tests/` get no new files.</a:t>
            </a:r>
          </a:p>
          <a:p/>
          <a:p>
            <a:r>
              <a:t>Design checks: they confirm, for example, that the scan flow keys on the tracking number, the telemetry flow partitions on the van ID and the compensations run in reverse order. The finished design in `contoso-logistics-solution` is there for comparison once every check passes.</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99294334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Events come first, because each one records a fact that already happened and every later decision refers back to them. The diagram shows how each command reaches the one aggregate that accepts it.</a:t>
            </a:r>
          </a:p>
          <a:p/>
          <a:p>
            <a:r>
              <a:t>Kind and style: each of the 13 events gets a journey stage, a kind and a style. The kind decides whether a fact stays inside one service, the style whether a consumer must call back for detail.</a:t>
            </a:r>
          </a:p>
          <a:p/>
          <a:p>
            <a:r>
              <a:t>Scan types: ParcelScanned carries the parcel ID and a scan type with the values PickedUp, AtHub and OutForDelivery.</a:t>
            </a:r>
          </a:p>
          <a:p/>
          <a:p>
            <a:r>
              <a:t>Commands: BookShipment, ReserveCapacity, CapturePayment, PrintLabel, AssignRoute, RerouteParcel and NotifyCustomer, each with Sent by, Accepted by and Emits.</a:t>
            </a:r>
          </a:p>
          <a:p/>
          <a:p>
            <a:r>
              <a:t>Aggregates: every command has one aggregate that decides, such as Shipment for BookShipment and Route for ReserveCapacity and RerouteParcel.</a:t>
            </a:r>
          </a:p>
          <a:p/>
          <a:p>
            <a:r>
              <a:t>The rest of the lab: step 3 groups the aggregates into bounded contexts, step 4 assigns each of seven flows to HTTP or one Azure broker, and step 5 names a reliability pattern per flow and the saga compensations.</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200317423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Close with the decisions this module prepared, each one made before anyone writes a service.</a:t>
            </a:r>
          </a:p>
          <a:p/>
          <a:p>
            <a:r>
              <a:t>Monolith first: a modular monolith keeps the seams in the code and in the database. A module moves out when it needs its own scaling, release train or team.</a:t>
            </a:r>
          </a:p>
          <a:p/>
          <a:p>
            <a:r>
              <a:t>HTTP or messages: start with the question the caller asks. HTTP serves an answer the caller needs to continue, a command or an event serves work that only has to happen.</a:t>
            </a:r>
          </a:p>
          <a:p/>
          <a:p>
            <a:r>
              <a:t>Boundaries: event storming with the domain experts finds the bounded contexts, and a microservice spans at most one of them.</a:t>
            </a:r>
          </a:p>
          <a:p/>
          <a:p>
            <a:r>
              <a:t>Events: integration events leave only after the entity is persisted, carry a business name such as ParcelDelivered, and travel in a CloudEvents envelope on Event Grid and Dapr.</a:t>
            </a:r>
          </a:p>
          <a:p/>
          <a:p>
            <a:r>
              <a:t>Patterns and brokers: outbox, idempotent consumer, saga, retries and dead-letters protect each flow, and ordering and retention decide the broker. Module 2 turns these boundaries into a running system with Aspire.</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261167364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emf"/></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userDrawn="1">
  <p:cSld name="Intro Slide">
    <p:bg>
      <p:bgPr>
        <a:solidFill>
          <a:schemeClr val="bg1"/>
        </a:solidFill>
        <a:effectLst/>
      </p:bgPr>
    </p:bg>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BFF5F0EB-5CD2-194F-BB8C-91CBF8948E37}"/>
              </a:ext>
            </a:extLst>
          </p:cNvPr>
          <p:cNvSpPr>
            <a:spLocks noGrp="1"/>
          </p:cNvSpPr>
          <p:nvPr>
            <p:ph type="pic" sz="quarter" idx="10" hasCustomPrompt="1"/>
          </p:nvPr>
        </p:nvSpPr>
        <p:spPr>
          <a:xfrm>
            <a:off x="0" y="0"/>
            <a:ext cx="12192000" cy="6858000"/>
          </a:xfrm>
          <a:prstGeom prst="rect">
            <a:avLst/>
          </a:prstGeom>
          <a:solidFill>
            <a:schemeClr val="tx1">
              <a:lumMod val="75000"/>
              <a:lumOff val="25000"/>
            </a:schemeClr>
          </a:solidFill>
          <a:ln>
            <a:noFill/>
          </a:ln>
        </p:spPr>
        <p:txBody>
          <a:bodyPr/>
          <a:lstStyle>
            <a:lvl1pPr marL="0" indent="0">
              <a:buNone/>
              <a:defRPr/>
            </a:lvl1pPr>
          </a:lstStyle>
          <a:p>
            <a:r>
              <a:rPr lang="en-HR"/>
              <a:t>Click or drag to add picture</a:t>
            </a:r>
          </a:p>
        </p:txBody>
      </p:sp>
      <p:sp>
        <p:nvSpPr>
          <p:cNvPr id="13" name="Text Placeholder 13">
            <a:extLst>
              <a:ext uri="{FF2B5EF4-FFF2-40B4-BE49-F238E27FC236}">
                <a16:creationId xmlns:a16="http://schemas.microsoft.com/office/drawing/2014/main" id="{128D6CBD-EAC7-0540-9B7E-CC16CC95FE7D}"/>
              </a:ext>
            </a:extLst>
          </p:cNvPr>
          <p:cNvSpPr>
            <a:spLocks noGrp="1"/>
          </p:cNvSpPr>
          <p:nvPr>
            <p:ph type="body" sz="quarter" idx="12"/>
          </p:nvPr>
        </p:nvSpPr>
        <p:spPr>
          <a:xfrm>
            <a:off x="334965" y="390742"/>
            <a:ext cx="5856831" cy="692471"/>
          </a:xfrm>
          <a:prstGeom prst="rect">
            <a:avLst/>
          </a:prstGeom>
        </p:spPr>
        <p:txBody>
          <a:bodyPr/>
          <a:lstStyle>
            <a:lvl1pPr marL="0" indent="0">
              <a:buNone/>
              <a:defRPr sz="4400" b="1">
                <a:solidFill>
                  <a:schemeClr val="bg1"/>
                </a:solidFill>
                <a:latin typeface="IBM Plex Sans" panose="020B0503050203000203" pitchFamily="34" charset="0"/>
              </a:defRPr>
            </a:lvl1pPr>
          </a:lstStyle>
          <a:p>
            <a:pPr lvl="0"/>
            <a:endParaRPr lang="en-HR"/>
          </a:p>
        </p:txBody>
      </p:sp>
      <p:sp>
        <p:nvSpPr>
          <p:cNvPr id="15" name="Text Placeholder 13">
            <a:extLst>
              <a:ext uri="{FF2B5EF4-FFF2-40B4-BE49-F238E27FC236}">
                <a16:creationId xmlns:a16="http://schemas.microsoft.com/office/drawing/2014/main" id="{192EB840-6AE9-194D-B55E-C0698CCD4788}"/>
              </a:ext>
            </a:extLst>
          </p:cNvPr>
          <p:cNvSpPr>
            <a:spLocks noGrp="1"/>
          </p:cNvSpPr>
          <p:nvPr>
            <p:ph type="body" sz="quarter" idx="13"/>
          </p:nvPr>
        </p:nvSpPr>
        <p:spPr>
          <a:xfrm>
            <a:off x="334965" y="1122467"/>
            <a:ext cx="5856831" cy="3593431"/>
          </a:xfrm>
          <a:prstGeom prst="rect">
            <a:avLst/>
          </a:prstGeom>
        </p:spPr>
        <p:txBody>
          <a:bodyPr/>
          <a:lstStyle>
            <a:lvl1pPr marL="0" indent="0">
              <a:buNone/>
              <a:defRPr sz="4400" b="0">
                <a:solidFill>
                  <a:srgbClr val="09A9AB"/>
                </a:solidFill>
                <a:latin typeface="IBM Plex Sans" panose="020B0503050203000203" pitchFamily="34" charset="0"/>
              </a:defRPr>
            </a:lvl1pPr>
          </a:lstStyle>
          <a:p>
            <a:pPr lvl="0"/>
            <a:endParaRPr lang="en-HR"/>
          </a:p>
        </p:txBody>
      </p:sp>
      <p:sp>
        <p:nvSpPr>
          <p:cNvPr id="17" name="Text Placeholder 16">
            <a:extLst>
              <a:ext uri="{FF2B5EF4-FFF2-40B4-BE49-F238E27FC236}">
                <a16:creationId xmlns:a16="http://schemas.microsoft.com/office/drawing/2014/main" id="{A54B9BAF-8941-AB4D-89A7-466A5BA376C2}"/>
              </a:ext>
            </a:extLst>
          </p:cNvPr>
          <p:cNvSpPr>
            <a:spLocks noGrp="1"/>
          </p:cNvSpPr>
          <p:nvPr>
            <p:ph type="body" sz="quarter" idx="14" hasCustomPrompt="1"/>
          </p:nvPr>
        </p:nvSpPr>
        <p:spPr>
          <a:xfrm>
            <a:off x="334965" y="5989388"/>
            <a:ext cx="5856831" cy="254659"/>
          </a:xfrm>
          <a:prstGeom prst="rect">
            <a:avLst/>
          </a:prstGeom>
        </p:spPr>
        <p:txBody>
          <a:bodyPr/>
          <a:lstStyle>
            <a:lvl1pPr marL="0" indent="0">
              <a:buNone/>
              <a:defRPr sz="1400" b="1">
                <a:solidFill>
                  <a:schemeClr val="bg1"/>
                </a:solidFill>
                <a:latin typeface="IBM Plex Sans" panose="020B0503050203000203" pitchFamily="34" charset="0"/>
              </a:defRPr>
            </a:lvl1pPr>
            <a:lvl2pPr>
              <a:defRPr sz="1400">
                <a:latin typeface="IBM Plex Sans" panose="020B0503050203000203" pitchFamily="34" charset="0"/>
              </a:defRPr>
            </a:lvl2pPr>
            <a:lvl3pPr>
              <a:defRPr sz="1400">
                <a:latin typeface="IBM Plex Sans" panose="020B0503050203000203" pitchFamily="34" charset="0"/>
              </a:defRPr>
            </a:lvl3pPr>
            <a:lvl4pPr>
              <a:defRPr sz="1400">
                <a:latin typeface="IBM Plex Sans" panose="020B0503050203000203" pitchFamily="34" charset="0"/>
              </a:defRPr>
            </a:lvl4pPr>
            <a:lvl5pPr>
              <a:defRPr sz="1400">
                <a:latin typeface="IBM Plex Sans" panose="020B0503050203000203" pitchFamily="34" charset="0"/>
              </a:defRPr>
            </a:lvl5pPr>
          </a:lstStyle>
          <a:p>
            <a:pPr lvl="0"/>
            <a:r>
              <a:rPr lang="en-HR"/>
              <a:t>Name Surname</a:t>
            </a:r>
          </a:p>
        </p:txBody>
      </p:sp>
      <p:sp>
        <p:nvSpPr>
          <p:cNvPr id="18" name="Text Placeholder 16">
            <a:extLst>
              <a:ext uri="{FF2B5EF4-FFF2-40B4-BE49-F238E27FC236}">
                <a16:creationId xmlns:a16="http://schemas.microsoft.com/office/drawing/2014/main" id="{FBA33DA8-0E61-0B43-9081-719F5B2D9FA9}"/>
              </a:ext>
            </a:extLst>
          </p:cNvPr>
          <p:cNvSpPr>
            <a:spLocks noGrp="1"/>
          </p:cNvSpPr>
          <p:nvPr>
            <p:ph type="body" sz="quarter" idx="15" hasCustomPrompt="1"/>
          </p:nvPr>
        </p:nvSpPr>
        <p:spPr>
          <a:xfrm>
            <a:off x="334965" y="6283301"/>
            <a:ext cx="5856831" cy="254659"/>
          </a:xfrm>
          <a:prstGeom prst="rect">
            <a:avLst/>
          </a:prstGeom>
        </p:spPr>
        <p:txBody>
          <a:bodyPr/>
          <a:lstStyle>
            <a:lvl1pPr marL="0" marR="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sz="1400" b="0">
                <a:solidFill>
                  <a:schemeClr val="bg1"/>
                </a:solidFill>
                <a:latin typeface="IBM Plex Sans" panose="020B0503050203000203" pitchFamily="34" charset="0"/>
              </a:defRPr>
            </a:lvl1pPr>
            <a:lvl2pPr>
              <a:defRPr sz="1400">
                <a:latin typeface="IBM Plex Sans" panose="020B0503050203000203" pitchFamily="34" charset="0"/>
              </a:defRPr>
            </a:lvl2pPr>
            <a:lvl3pPr>
              <a:defRPr sz="1400">
                <a:latin typeface="IBM Plex Sans" panose="020B0503050203000203" pitchFamily="34" charset="0"/>
              </a:defRPr>
            </a:lvl3pPr>
            <a:lvl4pPr>
              <a:defRPr sz="1400">
                <a:latin typeface="IBM Plex Sans" panose="020B0503050203000203" pitchFamily="34" charset="0"/>
              </a:defRPr>
            </a:lvl4pPr>
            <a:lvl5pPr>
              <a:defRPr sz="1400">
                <a:latin typeface="IBM Plex Sans" panose="020B0503050203000203" pitchFamily="34" charset="0"/>
              </a:defRPr>
            </a:lvl5pPr>
          </a:lstStyle>
          <a:p>
            <a:pPr marL="0" marR="0" lvl="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sz="1400">
                <a:solidFill>
                  <a:srgbClr val="FFFFFF"/>
                </a:solidFill>
                <a:latin typeface="IBM Plex Sans Light" panose="020B0403050203000203" pitchFamily="34" charset="0"/>
                <a:ea typeface="Verdana" panose="020B0604030504040204" pitchFamily="34" charset="0"/>
                <a:cs typeface="Verdana" panose="020B0604030504040204" pitchFamily="34" charset="0"/>
              </a:rPr>
              <a:t>Global Director Digital Strategy</a:t>
            </a:r>
          </a:p>
          <a:p>
            <a:pPr lvl="0"/>
            <a:endParaRPr lang="en-HR"/>
          </a:p>
        </p:txBody>
      </p:sp>
      <p:pic>
        <p:nvPicPr>
          <p:cNvPr id="9" name="Picture 8">
            <a:extLst>
              <a:ext uri="{FF2B5EF4-FFF2-40B4-BE49-F238E27FC236}">
                <a16:creationId xmlns:a16="http://schemas.microsoft.com/office/drawing/2014/main" id="{F7804F17-E6E2-C546-9FB7-F619A6FF9005}"/>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0140867" y="6155029"/>
            <a:ext cx="1716171" cy="255600"/>
          </a:xfrm>
          <a:prstGeom prst="rect">
            <a:avLst/>
          </a:prstGeom>
        </p:spPr>
      </p:pic>
    </p:spTree>
    <p:extLst>
      <p:ext uri="{BB962C8B-B14F-4D97-AF65-F5344CB8AC3E}">
        <p14:creationId xmlns:p14="http://schemas.microsoft.com/office/powerpoint/2010/main" val="207525948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10/19/2026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64188593"/>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 Id="rId3" Type="http://schemas.openxmlformats.org/officeDocument/2006/relationships/image" Target="../media/image2.jpeg"/><Relationship Id="rId4" Type="http://schemas.openxmlformats.org/officeDocument/2006/relationships/image" Target="../media/image3.png"/><Relationship Id="rId5" Type="http://schemas.openxmlformats.org/officeDocument/2006/relationships/image" Target="../media/image1.emf"/><Relationship Id="rId6"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image" Target="../media/image7.png"/><Relationship Id="rId6" Type="http://schemas.openxmlformats.org/officeDocument/2006/relationships/image" Target="../media/image8.png"/><Relationship Id="rId7" Type="http://schemas.openxmlformats.org/officeDocument/2006/relationships/image" Target="../media/image9.png"/><Relationship Id="rId8" Type="http://schemas.openxmlformats.org/officeDocument/2006/relationships/image" Target="../media/image10.png"/><Relationship Id="rId9" Type="http://schemas.openxmlformats.org/officeDocument/2006/relationships/image" Target="../media/image1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2.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3.jpe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4.jpe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5.jpe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6.jpe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7.jpe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8.jpe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9.jpe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20.jpe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21.jpe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22.jpe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23.jpe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24.jpe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25.jpe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26.jpe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27.jpe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28.jpe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29.jpe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30.jpe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31.jpe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32.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3B642C-D847-89BF-1014-698D4947DFA1}"/>
            </a:ext>
          </a:extLst>
        </p:cNvPr>
        <p:cNvGrpSpPr/>
        <p:nvPr/>
      </p:nvGrpSpPr>
      <p:grpSpPr>
        <a:xfrm>
          <a:off x="0" y="0"/>
          <a:ext cx="0" cy="0"/>
          <a:chOff x="0" y="0"/>
          <a:chExt cx="0" cy="0"/>
        </a:xfrm>
      </p:grpSpPr>
      <p:pic>
        <p:nvPicPr>
          <p:cNvPr id="8" name="Picture Placeholder 15" descr="Woman walking in office">
            <a:extLst>
              <a:ext uri="{FF2B5EF4-FFF2-40B4-BE49-F238E27FC236}">
                <a16:creationId xmlns:a16="http://schemas.microsoft.com/office/drawing/2014/main" id="{92CB83EA-0659-E370-8CB8-52A704AFB40A}"/>
              </a:ext>
            </a:extLst>
          </p:cNvPr>
          <p:cNvPicPr>
            <a:picLocks noGrp="1" noChangeAspect="1"/>
          </p:cNvPicPr>
          <p:nvPr>
            <p:ph type="pic" sz="quarter" idx="10"/>
          </p:nvPr>
        </p:nvPicPr>
        <p:blipFill rotWithShape="1">
          <a:blip r:embed="rId3" cstate="screen">
            <a:extLst>
              <a:ext uri="{28A0092B-C50C-407E-A947-70E740481C1C}">
                <a14:useLocalDpi xmlns:a14="http://schemas.microsoft.com/office/drawing/2010/main"/>
              </a:ext>
            </a:extLst>
          </a:blip>
          <a:srcRect/>
          <a:stretch/>
        </p:blipFill>
        <p:spPr>
          <a:xfrm>
            <a:off x="5756109" y="1"/>
            <a:ext cx="6435892" cy="6858000"/>
          </a:xfrm>
          <a:ln>
            <a:noFill/>
          </a:ln>
        </p:spPr>
      </p:pic>
      <p:pic>
        <p:nvPicPr>
          <p:cNvPr id="9" name="Picture 8" descr="Background pattern&#10;&#10;Description automatically generated">
            <a:extLst>
              <a:ext uri="{FF2B5EF4-FFF2-40B4-BE49-F238E27FC236}">
                <a16:creationId xmlns:a16="http://schemas.microsoft.com/office/drawing/2014/main" id="{CAAB5C21-DEC6-1D47-0353-AD276084FCB8}"/>
              </a:ext>
            </a:extLst>
          </p:cNvPr>
          <p:cNvPicPr>
            <a:picLocks noChangeAspect="1"/>
          </p:cNvPicPr>
          <p:nvPr/>
        </p:nvPicPr>
        <p:blipFill rotWithShape="1">
          <a:blip r:embed="rId4" cstate="screen">
            <a:alphaModFix/>
            <a:extLst>
              <a:ext uri="{28A0092B-C50C-407E-A947-70E740481C1C}">
                <a14:useLocalDpi xmlns:a14="http://schemas.microsoft.com/office/drawing/2010/main"/>
              </a:ext>
            </a:extLst>
          </a:blip>
          <a:srcRect/>
          <a:stretch/>
        </p:blipFill>
        <p:spPr>
          <a:xfrm>
            <a:off x="12073020" y="1"/>
            <a:ext cx="118981" cy="6858000"/>
          </a:xfrm>
          <a:prstGeom prst="rect">
            <a:avLst/>
          </a:prstGeom>
          <a:effectLst/>
        </p:spPr>
      </p:pic>
      <p:sp>
        <p:nvSpPr>
          <p:cNvPr id="3" name="Text Placeholder 2">
            <a:extLst>
              <a:ext uri="{FF2B5EF4-FFF2-40B4-BE49-F238E27FC236}">
                <a16:creationId xmlns:a16="http://schemas.microsoft.com/office/drawing/2014/main" id="{168D64F3-EA49-4D44-720E-6DEF74D4F314}"/>
              </a:ext>
            </a:extLst>
          </p:cNvPr>
          <p:cNvSpPr>
            <a:spLocks noGrp="1"/>
          </p:cNvSpPr>
          <p:nvPr>
            <p:ph type="body" sz="quarter" idx="12"/>
          </p:nvPr>
        </p:nvSpPr>
        <p:spPr>
          <a:xfrm>
            <a:off x="334965" y="1143000"/>
            <a:ext cx="5856831" cy="692471"/>
          </a:xfrm>
        </p:spPr>
        <p:txBody>
          <a:bodyPr/>
          <a:lstStyle/>
          <a:p>
            <a:r>
              <a:rPr lang="en-GB">
                <a:solidFill>
                  <a:srgbClr val="09A9AB"/>
                </a:solidFill>
              </a:rPr>
              <a:t>Fast Lane Group</a:t>
            </a:r>
          </a:p>
          <a:p>
            <a:endParaRPr lang="en-HR">
              <a:solidFill>
                <a:srgbClr val="09A9AB"/>
              </a:solidFill>
            </a:endParaRPr>
          </a:p>
        </p:txBody>
      </p:sp>
      <p:sp>
        <p:nvSpPr>
          <p:cNvPr id="4" name="Text Placeholder 3">
            <a:extLst>
              <a:ext uri="{FF2B5EF4-FFF2-40B4-BE49-F238E27FC236}">
                <a16:creationId xmlns:a16="http://schemas.microsoft.com/office/drawing/2014/main" id="{CE056563-3889-E68E-51A3-F6FD61A4B2A9}"/>
              </a:ext>
            </a:extLst>
          </p:cNvPr>
          <p:cNvSpPr>
            <a:spLocks noGrp="1"/>
          </p:cNvSpPr>
          <p:nvPr>
            <p:ph type="body" sz="quarter" idx="13"/>
          </p:nvPr>
        </p:nvSpPr>
        <p:spPr>
          <a:xfrm>
            <a:off x="334964" y="1908623"/>
            <a:ext cx="5108907" cy="1188720"/>
          </a:xfrm>
        </p:spPr>
        <p:txBody>
          <a:bodyPr/>
          <a:lstStyle/>
          <a:p>
            <a:pPr>
              <a:lnSpc>
                <a:spcPct val="110000"/>
              </a:lnSpc>
              <a:spcBef>
                <a:spcPts val="0"/>
              </a:spcBef>
            </a:pPr>
            <a:r>
              <a:rPr lang="en-GB" sz="3200">
                <a:solidFill>
                  <a:srgbClr val="04282E"/>
                </a:solidFill>
              </a:rPr>
              <a:t>Worldwide Education &amp;</a:t>
            </a:r>
          </a:p>
          <a:p>
            <a:pPr>
              <a:lnSpc>
                <a:spcPct val="110000"/>
              </a:lnSpc>
              <a:spcBef>
                <a:spcPts val="0"/>
              </a:spcBef>
            </a:pPr>
            <a:r>
              <a:rPr lang="en-GB" sz="3200">
                <a:solidFill>
                  <a:srgbClr val="04282E"/>
                </a:solidFill>
              </a:rPr>
              <a:t>Professional Services</a:t>
            </a:r>
          </a:p>
          <a:p>
            <a:pPr>
              <a:lnSpc>
                <a:spcPct val="110000"/>
              </a:lnSpc>
              <a:spcBef>
                <a:spcPts val="0"/>
              </a:spcBef>
            </a:pPr>
            <a:endParaRPr lang="en-HR">
              <a:solidFill>
                <a:srgbClr val="04282E"/>
              </a:solidFill>
            </a:endParaRPr>
          </a:p>
        </p:txBody>
      </p:sp>
      <p:pic>
        <p:nvPicPr>
          <p:cNvPr id="10" name="Picture 9">
            <a:extLst>
              <a:ext uri="{FF2B5EF4-FFF2-40B4-BE49-F238E27FC236}">
                <a16:creationId xmlns:a16="http://schemas.microsoft.com/office/drawing/2014/main" id="{B73A0D74-6908-2F97-B10F-2125282EE6CB}"/>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10140867" y="6155029"/>
            <a:ext cx="1716171" cy="255600"/>
          </a:xfrm>
          <a:prstGeom prst="rect">
            <a:avLst/>
          </a:prstGeom>
        </p:spPr>
      </p:pic>
      <p:sp>
        <p:nvSpPr>
          <p:cNvPr id="14" name="Text Placeholder 5">
            <a:extLst>
              <a:ext uri="{FF2B5EF4-FFF2-40B4-BE49-F238E27FC236}">
                <a16:creationId xmlns:a16="http://schemas.microsoft.com/office/drawing/2014/main" id="{F9F0E5C2-05DA-E683-5802-C835061B32C9}"/>
              </a:ext>
            </a:extLst>
          </p:cNvPr>
          <p:cNvSpPr>
            <a:spLocks noGrp="1"/>
          </p:cNvSpPr>
          <p:nvPr>
            <p:ph type="body" sz="quarter" idx="15"/>
          </p:nvPr>
        </p:nvSpPr>
        <p:spPr>
          <a:xfrm>
            <a:off x="334965" y="6283301"/>
            <a:ext cx="5856831" cy="254659"/>
          </a:xfrm>
        </p:spPr>
        <p:txBody>
          <a:bodyPr lIns="91440" tIns="45720" rIns="91440" bIns="45720" anchor="t"/>
          <a:lstStyle/>
          <a:p>
            <a:r>
              <a:rPr lang="en-GB" sz="1050" b="0">
                <a:solidFill>
                  <a:schemeClr val="tx1"/>
                </a:solidFill>
                <a:latin typeface="IBM Plex Sans"/>
              </a:rPr>
              <a:t>www.flane.de | © 2026 Fast Lane Institute for Knowledge Transfer GmbH</a:t>
            </a:r>
            <a:endParaRPr lang="en-GB" sz="1050" b="0">
              <a:solidFill>
                <a:schemeClr val="tx1"/>
              </a:solidFill>
            </a:endParaRPr>
          </a:p>
          <a:p>
            <a:endParaRPr lang="en-HR" sz="1050" b="0">
              <a:solidFill>
                <a:schemeClr val="tx1"/>
              </a:solidFill>
            </a:endParaRPr>
          </a:p>
        </p:txBody>
      </p:sp>
      <p:pic>
        <p:nvPicPr>
          <p:cNvPr id="2" name="Grafik 1" descr="Ein Bild, das Text, Screenshot, Schrift, Logo enthält.&#10;&#10;KI-generierte Inhalte können fehlerhaft sein.">
            <a:extLst>
              <a:ext uri="{FF2B5EF4-FFF2-40B4-BE49-F238E27FC236}">
                <a16:creationId xmlns:a16="http://schemas.microsoft.com/office/drawing/2014/main" id="{44898A48-153F-AE4B-CCD7-54A6700C10AC}"/>
              </a:ext>
            </a:extLst>
          </p:cNvPr>
          <p:cNvPicPr>
            <a:picLocks noChangeAspect="1"/>
          </p:cNvPicPr>
          <p:nvPr/>
        </p:nvPicPr>
        <p:blipFill>
          <a:blip r:embed="rId6"/>
          <a:stretch>
            <a:fillRect/>
          </a:stretch>
        </p:blipFill>
        <p:spPr>
          <a:xfrm>
            <a:off x="405687" y="3814083"/>
            <a:ext cx="2718708" cy="2013469"/>
          </a:xfrm>
          <a:prstGeom prst="rect">
            <a:avLst/>
          </a:prstGeom>
        </p:spPr>
      </p:pic>
    </p:spTree>
    <p:extLst>
      <p:ext uri="{BB962C8B-B14F-4D97-AF65-F5344CB8AC3E}">
        <p14:creationId xmlns:p14="http://schemas.microsoft.com/office/powerpoint/2010/main" val="178441628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8127999" y="0"/>
            <a:ext cx="4064000" cy="6857999"/>
          </a:xfrm>
          <a:prstGeom prst="rect">
            <a:avLst/>
          </a:prstGeom>
          <a:gradFill rotWithShape="1">
            <a:gsLst>
              <a:gs pos="0">
                <a:srgbClr val="353D40"/>
              </a:gs>
              <a:gs pos="55000">
                <a:srgbClr val="2D3436"/>
              </a:gs>
              <a:gs pos="100000">
                <a:srgbClr val="262C2E"/>
              </a:gs>
            </a:gsLst>
            <a:lin ang="4200000" scaled="0"/>
          </a:gradFill>
          <a:ln/>
        </p:spPr>
        <p:txBody>
          <a:bodyPr/>
          <a:lstStyle/>
          <a:p>
            <a:endParaRPr lang="en-AT"/>
          </a:p>
        </p:txBody>
      </p:sp>
      <p:sp>
        <p:nvSpPr>
          <p:cNvPr id="3" name="Shape 1"/>
          <p:cNvSpPr/>
          <p:nvPr/>
        </p:nvSpPr>
        <p:spPr>
          <a:xfrm>
            <a:off x="8127999" y="0"/>
            <a:ext cx="38089" cy="6857999"/>
          </a:xfrm>
          <a:prstGeom prst="rect">
            <a:avLst/>
          </a:prstGeom>
          <a:solidFill>
            <a:srgbClr val="D4B483"/>
          </a:solidFill>
          <a:ln/>
        </p:spPr>
        <p:txBody>
          <a:bodyPr/>
          <a:lstStyle/>
          <a:p>
            <a:endParaRPr lang="en-AT"/>
          </a:p>
        </p:txBody>
      </p:sp>
      <p:pic>
        <p:nvPicPr>
          <p:cNvPr id="4" name="Image 0" descr="integrations logo"/>
          <p:cNvPicPr>
            <a:picLocks noChangeAspect="1"/>
          </p:cNvPicPr>
          <p:nvPr/>
        </p:nvPicPr>
        <p:blipFill>
          <a:blip r:embed="rId3"/>
          <a:srcRect l="-23" r="-23"/>
          <a:stretch/>
        </p:blipFill>
        <p:spPr>
          <a:xfrm>
            <a:off x="8889999" y="457178"/>
            <a:ext cx="2540000" cy="527017"/>
          </a:xfrm>
          <a:prstGeom prst="rect">
            <a:avLst/>
          </a:prstGeom>
        </p:spPr>
      </p:pic>
      <p:sp>
        <p:nvSpPr>
          <p:cNvPr id="5" name="Text 2"/>
          <p:cNvSpPr/>
          <p:nvPr/>
        </p:nvSpPr>
        <p:spPr>
          <a:xfrm>
            <a:off x="8590279" y="1079500"/>
            <a:ext cx="3139440" cy="391186"/>
          </a:xfrm>
          <a:prstGeom prst="rect">
            <a:avLst/>
          </a:prstGeom>
          <a:noFill/>
          <a:ln/>
        </p:spPr>
        <p:txBody>
          <a:bodyPr wrap="square" lIns="0" tIns="0" rIns="0" bIns="0" rtlCol="0" anchor="t">
            <a:normAutofit/>
          </a:bodyPr>
          <a:lstStyle/>
          <a:p>
            <a:pPr marL="0" indent="0" algn="ctr">
              <a:lnSpc>
                <a:spcPts val="1440"/>
              </a:lnSpc>
              <a:buNone/>
            </a:pPr>
            <a:r>
              <a:rPr lang="en-US" sz="1200" kern="0" spc="200" dirty="0">
                <a:solidFill>
                  <a:srgbClr val="C9CFD3"/>
                </a:solidFill>
                <a:latin typeface="Poppins" pitchFamily="34" charset="0"/>
                <a:ea typeface="Poppins" pitchFamily="34" charset="-122"/>
                <a:cs typeface="Poppins" pitchFamily="34" charset="-120"/>
              </a:rPr>
              <a:t>AGENTIC AI CONSULTING · VIENNA</a:t>
            </a:r>
            <a:endParaRPr lang="en-US" sz="1200" dirty="0"/>
          </a:p>
        </p:txBody>
      </p:sp>
      <p:pic>
        <p:nvPicPr>
          <p:cNvPr id="6" name="Image 1" descr="Portrait of Alexander Kastil"/>
          <p:cNvPicPr>
            <a:picLocks noChangeAspect="1"/>
          </p:cNvPicPr>
          <p:nvPr/>
        </p:nvPicPr>
        <p:blipFill>
          <a:blip r:embed="rId4"/>
          <a:srcRect/>
          <a:stretch/>
        </p:blipFill>
        <p:spPr>
          <a:xfrm>
            <a:off x="8953499" y="1549356"/>
            <a:ext cx="2413000" cy="2413000"/>
          </a:xfrm>
          <a:prstGeom prst="ellipse">
            <a:avLst/>
          </a:prstGeom>
        </p:spPr>
      </p:pic>
      <p:pic>
        <p:nvPicPr>
          <p:cNvPr id="7" name="Image 2" descr="Microsoft Certified: Agentic AI Business Solutions Architect"/>
          <p:cNvPicPr>
            <a:picLocks noChangeAspect="1"/>
          </p:cNvPicPr>
          <p:nvPr/>
        </p:nvPicPr>
        <p:blipFill>
          <a:blip r:embed="rId5"/>
          <a:srcRect l="-86" r="-86"/>
          <a:stretch/>
        </p:blipFill>
        <p:spPr>
          <a:xfrm>
            <a:off x="8718517" y="4267178"/>
            <a:ext cx="762000" cy="812767"/>
          </a:xfrm>
          <a:prstGeom prst="rect">
            <a:avLst/>
          </a:prstGeom>
        </p:spPr>
      </p:pic>
      <p:pic>
        <p:nvPicPr>
          <p:cNvPr id="8" name="Image 3" descr="Microsoft Certified: Azure AI App and Agent Developer Associate"/>
          <p:cNvPicPr>
            <a:picLocks noChangeAspect="1"/>
          </p:cNvPicPr>
          <p:nvPr/>
        </p:nvPicPr>
        <p:blipFill>
          <a:blip r:embed="rId6"/>
          <a:srcRect t="-25" b="-25"/>
          <a:stretch/>
        </p:blipFill>
        <p:spPr>
          <a:xfrm>
            <a:off x="9734517" y="4267178"/>
            <a:ext cx="806428" cy="812767"/>
          </a:xfrm>
          <a:prstGeom prst="rect">
            <a:avLst/>
          </a:prstGeom>
        </p:spPr>
      </p:pic>
      <p:pic>
        <p:nvPicPr>
          <p:cNvPr id="9" name="Image 4" descr="Microsoft Certified: DevOps Engineer Expert"/>
          <p:cNvPicPr>
            <a:picLocks noChangeAspect="1"/>
          </p:cNvPicPr>
          <p:nvPr/>
        </p:nvPicPr>
        <p:blipFill>
          <a:blip r:embed="rId7"/>
          <a:srcRect t="-5" b="-5"/>
          <a:stretch/>
        </p:blipFill>
        <p:spPr>
          <a:xfrm>
            <a:off x="10794999" y="4267178"/>
            <a:ext cx="806428" cy="812767"/>
          </a:xfrm>
          <a:prstGeom prst="rect">
            <a:avLst/>
          </a:prstGeom>
        </p:spPr>
      </p:pic>
      <p:pic>
        <p:nvPicPr>
          <p:cNvPr id="10" name="Image 5" descr="line"/>
          <p:cNvPicPr>
            <a:picLocks noChangeAspect="1"/>
          </p:cNvPicPr>
          <p:nvPr/>
        </p:nvPicPr>
        <p:blipFill>
          <a:blip r:embed="rId8"/>
          <a:srcRect t="-5559" b="-5559"/>
          <a:stretch/>
        </p:blipFill>
        <p:spPr>
          <a:xfrm>
            <a:off x="8889999" y="5334000"/>
            <a:ext cx="2540000" cy="7056"/>
          </a:xfrm>
          <a:prstGeom prst="rect">
            <a:avLst/>
          </a:prstGeom>
        </p:spPr>
      </p:pic>
      <p:sp>
        <p:nvSpPr>
          <p:cNvPr id="11" name="Shape 3"/>
          <p:cNvSpPr/>
          <p:nvPr/>
        </p:nvSpPr>
        <p:spPr>
          <a:xfrm>
            <a:off x="8978855" y="5638767"/>
            <a:ext cx="635000" cy="635000"/>
          </a:xfrm>
          <a:prstGeom prst="roundRect">
            <a:avLst>
              <a:gd name="adj" fmla="val 10000"/>
            </a:avLst>
          </a:prstGeom>
          <a:solidFill>
            <a:srgbClr val="FFFFFF"/>
          </a:solidFill>
          <a:ln/>
        </p:spPr>
        <p:txBody>
          <a:bodyPr/>
          <a:lstStyle/>
          <a:p>
            <a:endParaRPr lang="en-AT"/>
          </a:p>
        </p:txBody>
      </p:sp>
      <p:pic>
        <p:nvPicPr>
          <p:cNvPr id="12" name="Image 6" descr="QR code"/>
          <p:cNvPicPr>
            <a:picLocks noChangeAspect="1"/>
          </p:cNvPicPr>
          <p:nvPr/>
        </p:nvPicPr>
        <p:blipFill>
          <a:blip r:embed="rId9"/>
          <a:srcRect t="-338" b="-338"/>
          <a:stretch/>
        </p:blipFill>
        <p:spPr>
          <a:xfrm>
            <a:off x="9029622" y="5689533"/>
            <a:ext cx="533356" cy="533356"/>
          </a:xfrm>
          <a:prstGeom prst="rect">
            <a:avLst/>
          </a:prstGeom>
        </p:spPr>
      </p:pic>
      <p:sp>
        <p:nvSpPr>
          <p:cNvPr id="13" name="Text 4"/>
          <p:cNvSpPr/>
          <p:nvPr/>
        </p:nvSpPr>
        <p:spPr>
          <a:xfrm>
            <a:off x="9766267" y="5715000"/>
            <a:ext cx="1701800" cy="208293"/>
          </a:xfrm>
          <a:prstGeom prst="rect">
            <a:avLst/>
          </a:prstGeom>
          <a:noFill/>
          <a:ln/>
        </p:spPr>
        <p:txBody>
          <a:bodyPr wrap="square" lIns="0" tIns="0" rIns="0" bIns="0" rtlCol="0" anchor="t">
            <a:normAutofit/>
          </a:bodyPr>
          <a:lstStyle/>
          <a:p>
            <a:pPr marL="0" indent="0" algn="l">
              <a:lnSpc>
                <a:spcPts val="1440"/>
              </a:lnSpc>
              <a:buNone/>
            </a:pPr>
            <a:r>
              <a:rPr lang="en-US" sz="1200" kern="0" spc="100" dirty="0">
                <a:solidFill>
                  <a:srgbClr val="D4B483"/>
                </a:solidFill>
                <a:latin typeface="Poppins" pitchFamily="34" charset="0"/>
                <a:ea typeface="Poppins" pitchFamily="34" charset="-122"/>
                <a:cs typeface="Poppins" pitchFamily="34" charset="-120"/>
              </a:rPr>
              <a:t>SCAN TO CONNECT</a:t>
            </a:r>
            <a:endParaRPr lang="en-US" sz="1200" dirty="0"/>
          </a:p>
        </p:txBody>
      </p:sp>
      <p:sp>
        <p:nvSpPr>
          <p:cNvPr id="14" name="Text 5"/>
          <p:cNvSpPr/>
          <p:nvPr/>
        </p:nvSpPr>
        <p:spPr>
          <a:xfrm>
            <a:off x="9766267" y="5930855"/>
            <a:ext cx="1701800" cy="269203"/>
          </a:xfrm>
          <a:prstGeom prst="rect">
            <a:avLst/>
          </a:prstGeom>
          <a:noFill/>
          <a:ln/>
        </p:spPr>
        <p:txBody>
          <a:bodyPr wrap="square" lIns="0" tIns="0" rIns="0" bIns="0" rtlCol="0" anchor="t">
            <a:normAutofit/>
          </a:bodyPr>
          <a:lstStyle/>
          <a:p>
            <a:pPr marL="0" indent="0" algn="l">
              <a:lnSpc>
                <a:spcPts val="1920"/>
              </a:lnSpc>
              <a:buNone/>
            </a:pPr>
            <a:r>
              <a:rPr lang="en-US" sz="1600" b="1" kern="0" spc="-15" dirty="0">
                <a:solidFill>
                  <a:srgbClr val="FFFFFF"/>
                </a:solidFill>
                <a:latin typeface="Montserrat" pitchFamily="34" charset="0"/>
                <a:ea typeface="Montserrat" pitchFamily="34" charset="-122"/>
                <a:cs typeface="Montserrat" pitchFamily="34" charset="-120"/>
              </a:rPr>
              <a:t>integrations.at</a:t>
            </a:r>
            <a:endParaRPr lang="en-US" sz="1600" dirty="0"/>
          </a:p>
        </p:txBody>
      </p:sp>
      <p:sp>
        <p:nvSpPr>
          <p:cNvPr id="15" name="Shape 6"/>
          <p:cNvSpPr/>
          <p:nvPr/>
        </p:nvSpPr>
        <p:spPr>
          <a:xfrm>
            <a:off x="812767" y="740392"/>
            <a:ext cx="254000" cy="19017"/>
          </a:xfrm>
          <a:prstGeom prst="rect">
            <a:avLst/>
          </a:prstGeom>
          <a:solidFill>
            <a:srgbClr val="4A9EFF"/>
          </a:solidFill>
          <a:ln/>
        </p:spPr>
        <p:txBody>
          <a:bodyPr/>
          <a:lstStyle/>
          <a:p>
            <a:endParaRPr lang="en-AT"/>
          </a:p>
        </p:txBody>
      </p:sp>
      <p:sp>
        <p:nvSpPr>
          <p:cNvPr id="16" name="Text 7"/>
          <p:cNvSpPr/>
          <p:nvPr/>
        </p:nvSpPr>
        <p:spPr>
          <a:xfrm>
            <a:off x="1193767" y="609589"/>
            <a:ext cx="5743944" cy="306079"/>
          </a:xfrm>
          <a:prstGeom prst="rect">
            <a:avLst/>
          </a:prstGeom>
          <a:noFill/>
          <a:ln/>
        </p:spPr>
        <p:txBody>
          <a:bodyPr wrap="square" lIns="0" tIns="0" rIns="0" bIns="0" rtlCol="0" anchor="t">
            <a:normAutofit/>
          </a:bodyPr>
          <a:lstStyle/>
          <a:p>
            <a:pPr marL="0" indent="0" algn="l">
              <a:lnSpc>
                <a:spcPts val="2210"/>
              </a:lnSpc>
              <a:buNone/>
            </a:pPr>
            <a:r>
              <a:rPr lang="en-US" sz="1700" b="1" kern="0" spc="35" dirty="0">
                <a:solidFill>
                  <a:srgbClr val="2D3436"/>
                </a:solidFill>
                <a:latin typeface="Montserrat" pitchFamily="34" charset="0"/>
                <a:ea typeface="Montserrat" pitchFamily="34" charset="-122"/>
                <a:cs typeface="Montserrat" pitchFamily="34" charset="-120"/>
              </a:rPr>
              <a:t>AGENTIC AI: FROM STRATEGY TO </a:t>
            </a:r>
            <a:r>
              <a:rPr lang="en-US" sz="1700" b="1" kern="0" spc="35" dirty="0">
                <a:solidFill>
                  <a:srgbClr val="1462C6"/>
                </a:solidFill>
                <a:latin typeface="Montserrat" pitchFamily="34" charset="0"/>
                <a:ea typeface="Montserrat" pitchFamily="34" charset="-122"/>
                <a:cs typeface="Montserrat" pitchFamily="34" charset="-120"/>
              </a:rPr>
              <a:t>PRODUCTION.</a:t>
            </a:r>
            <a:endParaRPr lang="en-US" sz="1700" dirty="0"/>
          </a:p>
        </p:txBody>
      </p:sp>
      <p:sp>
        <p:nvSpPr>
          <p:cNvPr id="17" name="Text 8"/>
          <p:cNvSpPr/>
          <p:nvPr/>
        </p:nvSpPr>
        <p:spPr>
          <a:xfrm>
            <a:off x="812767" y="1017268"/>
            <a:ext cx="6906756" cy="1476199"/>
          </a:xfrm>
          <a:prstGeom prst="rect">
            <a:avLst/>
          </a:prstGeom>
          <a:noFill/>
          <a:ln/>
        </p:spPr>
        <p:txBody>
          <a:bodyPr wrap="square" lIns="0" tIns="0" rIns="0" bIns="0" rtlCol="0" anchor="t">
            <a:normAutofit/>
          </a:bodyPr>
          <a:lstStyle/>
          <a:p>
            <a:pPr marL="0" indent="0" algn="l">
              <a:lnSpc>
                <a:spcPts val="5712"/>
              </a:lnSpc>
              <a:buNone/>
            </a:pPr>
            <a:r>
              <a:rPr lang="en-US" sz="5600" b="1" kern="0" spc="-125" dirty="0">
                <a:solidFill>
                  <a:srgbClr val="2D3436"/>
                </a:solidFill>
                <a:latin typeface="Montserrat" pitchFamily="34" charset="0"/>
                <a:ea typeface="Montserrat" pitchFamily="34" charset="-122"/>
                <a:cs typeface="Montserrat" pitchFamily="34" charset="-120"/>
              </a:rPr>
              <a:t>Alexander</a:t>
            </a:r>
            <a:endParaRPr lang="en-US" sz="5600" dirty="0"/>
          </a:p>
          <a:p>
            <a:pPr marL="0" indent="0" algn="l">
              <a:lnSpc>
                <a:spcPts val="5712"/>
              </a:lnSpc>
              <a:buNone/>
            </a:pPr>
            <a:r>
              <a:rPr lang="en-US" sz="5600" b="1" kern="0" spc="-125" dirty="0">
                <a:solidFill>
                  <a:srgbClr val="2D3436"/>
                </a:solidFill>
                <a:latin typeface="Montserrat" pitchFamily="34" charset="0"/>
                <a:ea typeface="Montserrat" pitchFamily="34" charset="-122"/>
                <a:cs typeface="Montserrat" pitchFamily="34" charset="-120"/>
              </a:rPr>
              <a:t>Kastil</a:t>
            </a:r>
            <a:endParaRPr lang="en-US" sz="5600" dirty="0"/>
          </a:p>
        </p:txBody>
      </p:sp>
      <p:sp>
        <p:nvSpPr>
          <p:cNvPr id="18" name="Text 9"/>
          <p:cNvSpPr/>
          <p:nvPr/>
        </p:nvSpPr>
        <p:spPr>
          <a:xfrm>
            <a:off x="812767" y="2620466"/>
            <a:ext cx="6906756" cy="274285"/>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595F67"/>
                </a:solidFill>
                <a:latin typeface="Poppins" pitchFamily="34" charset="0"/>
                <a:ea typeface="Poppins" pitchFamily="34" charset="-122"/>
                <a:cs typeface="Poppins" pitchFamily="34" charset="-120"/>
              </a:rPr>
              <a:t>Full stack, from enterprise software to agentic AI. Since 1996</a:t>
            </a:r>
            <a:endParaRPr lang="en-US" sz="1400" dirty="0"/>
          </a:p>
        </p:txBody>
      </p:sp>
      <p:sp>
        <p:nvSpPr>
          <p:cNvPr id="19" name="Shape 10"/>
          <p:cNvSpPr/>
          <p:nvPr/>
        </p:nvSpPr>
        <p:spPr>
          <a:xfrm>
            <a:off x="822292" y="3322781"/>
            <a:ext cx="0" cy="704784"/>
          </a:xfrm>
          <a:prstGeom prst="line">
            <a:avLst/>
          </a:prstGeom>
          <a:noFill/>
          <a:ln w="19050">
            <a:solidFill>
              <a:srgbClr val="D4B483"/>
            </a:solidFill>
            <a:prstDash val="solid"/>
          </a:ln>
        </p:spPr>
        <p:txBody>
          <a:bodyPr/>
          <a:lstStyle/>
          <a:p>
            <a:endParaRPr lang="en-AT"/>
          </a:p>
        </p:txBody>
      </p:sp>
      <p:sp>
        <p:nvSpPr>
          <p:cNvPr id="20" name="Text 11"/>
          <p:cNvSpPr/>
          <p:nvPr/>
        </p:nvSpPr>
        <p:spPr>
          <a:xfrm>
            <a:off x="982762" y="3335458"/>
            <a:ext cx="3068982" cy="239988"/>
          </a:xfrm>
          <a:prstGeom prst="rect">
            <a:avLst/>
          </a:prstGeom>
          <a:noFill/>
          <a:ln/>
        </p:spPr>
        <p:txBody>
          <a:bodyPr wrap="square" lIns="0" tIns="0" rIns="0" bIns="0" rtlCol="0" anchor="t">
            <a:normAutofit/>
          </a:bodyPr>
          <a:lstStyle/>
          <a:p>
            <a:pPr marL="0" indent="0" algn="l">
              <a:lnSpc>
                <a:spcPts val="1690"/>
              </a:lnSpc>
              <a:buNone/>
            </a:pPr>
            <a:r>
              <a:rPr lang="en-US" sz="1300" b="1" kern="0" spc="-15" dirty="0">
                <a:solidFill>
                  <a:srgbClr val="2D3436"/>
                </a:solidFill>
                <a:latin typeface="Montserrat" pitchFamily="34" charset="0"/>
                <a:ea typeface="Montserrat" pitchFamily="34" charset="-122"/>
                <a:cs typeface="Montserrat" pitchFamily="34" charset="-120"/>
              </a:rPr>
              <a:t>AI at Work</a:t>
            </a:r>
            <a:endParaRPr lang="en-US" sz="1300" dirty="0"/>
          </a:p>
        </p:txBody>
      </p:sp>
      <p:sp>
        <p:nvSpPr>
          <p:cNvPr id="21" name="Text 12"/>
          <p:cNvSpPr/>
          <p:nvPr/>
        </p:nvSpPr>
        <p:spPr>
          <a:xfrm>
            <a:off x="982762" y="3588136"/>
            <a:ext cx="3068982" cy="45215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95F67"/>
                </a:solidFill>
                <a:latin typeface="Poppins" pitchFamily="34" charset="0"/>
                <a:ea typeface="Poppins" pitchFamily="34" charset="-122"/>
                <a:cs typeface="Poppins" pitchFamily="34" charset="-120"/>
              </a:rPr>
              <a:t>Value discovery, KPI mapping and roadmap</a:t>
            </a:r>
            <a:endParaRPr lang="en-US" sz="1200" dirty="0"/>
          </a:p>
        </p:txBody>
      </p:sp>
      <p:sp>
        <p:nvSpPr>
          <p:cNvPr id="22" name="Shape 13"/>
          <p:cNvSpPr/>
          <p:nvPr/>
        </p:nvSpPr>
        <p:spPr>
          <a:xfrm>
            <a:off x="4378237" y="3322781"/>
            <a:ext cx="0" cy="704784"/>
          </a:xfrm>
          <a:prstGeom prst="line">
            <a:avLst/>
          </a:prstGeom>
          <a:noFill/>
          <a:ln w="19050">
            <a:solidFill>
              <a:srgbClr val="D4B483"/>
            </a:solidFill>
            <a:prstDash val="solid"/>
          </a:ln>
        </p:spPr>
        <p:txBody>
          <a:bodyPr/>
          <a:lstStyle/>
          <a:p>
            <a:endParaRPr lang="en-AT"/>
          </a:p>
        </p:txBody>
      </p:sp>
      <p:sp>
        <p:nvSpPr>
          <p:cNvPr id="23" name="Text 14"/>
          <p:cNvSpPr/>
          <p:nvPr/>
        </p:nvSpPr>
        <p:spPr>
          <a:xfrm>
            <a:off x="4538706" y="3335458"/>
            <a:ext cx="3069039" cy="239988"/>
          </a:xfrm>
          <a:prstGeom prst="rect">
            <a:avLst/>
          </a:prstGeom>
          <a:noFill/>
          <a:ln/>
        </p:spPr>
        <p:txBody>
          <a:bodyPr wrap="square" lIns="0" tIns="0" rIns="0" bIns="0" rtlCol="0" anchor="t">
            <a:normAutofit/>
          </a:bodyPr>
          <a:lstStyle/>
          <a:p>
            <a:pPr marL="0" indent="0" algn="l">
              <a:lnSpc>
                <a:spcPts val="1690"/>
              </a:lnSpc>
              <a:buNone/>
            </a:pPr>
            <a:r>
              <a:rPr lang="en-US" sz="1300" b="1" kern="0" spc="-15" dirty="0">
                <a:solidFill>
                  <a:srgbClr val="2D3436"/>
                </a:solidFill>
                <a:latin typeface="Montserrat" pitchFamily="34" charset="0"/>
                <a:ea typeface="Montserrat" pitchFamily="34" charset="-122"/>
                <a:cs typeface="Montserrat" pitchFamily="34" charset="-120"/>
              </a:rPr>
              <a:t>Enterprise AI</a:t>
            </a:r>
            <a:endParaRPr lang="en-US" sz="1300" dirty="0"/>
          </a:p>
        </p:txBody>
      </p:sp>
      <p:sp>
        <p:nvSpPr>
          <p:cNvPr id="24" name="Text 15"/>
          <p:cNvSpPr/>
          <p:nvPr/>
        </p:nvSpPr>
        <p:spPr>
          <a:xfrm>
            <a:off x="4538706" y="3588136"/>
            <a:ext cx="3069039" cy="45215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95F67"/>
                </a:solidFill>
                <a:latin typeface="Poppins" pitchFamily="34" charset="0"/>
                <a:ea typeface="Poppins" pitchFamily="34" charset="-122"/>
                <a:cs typeface="Poppins" pitchFamily="34" charset="-120"/>
              </a:rPr>
              <a:t>Governed multi-agent systems on Microsoft Copilot and Foundry</a:t>
            </a:r>
            <a:endParaRPr lang="en-US" sz="1200" dirty="0"/>
          </a:p>
        </p:txBody>
      </p:sp>
      <p:sp>
        <p:nvSpPr>
          <p:cNvPr id="25" name="Shape 16"/>
          <p:cNvSpPr/>
          <p:nvPr/>
        </p:nvSpPr>
        <p:spPr>
          <a:xfrm>
            <a:off x="822292" y="4332331"/>
            <a:ext cx="0" cy="704784"/>
          </a:xfrm>
          <a:prstGeom prst="line">
            <a:avLst/>
          </a:prstGeom>
          <a:noFill/>
          <a:ln w="19050">
            <a:solidFill>
              <a:srgbClr val="D4B483"/>
            </a:solidFill>
            <a:prstDash val="solid"/>
          </a:ln>
        </p:spPr>
        <p:txBody>
          <a:bodyPr/>
          <a:lstStyle/>
          <a:p>
            <a:endParaRPr lang="en-AT"/>
          </a:p>
        </p:txBody>
      </p:sp>
      <p:sp>
        <p:nvSpPr>
          <p:cNvPr id="26" name="Text 17"/>
          <p:cNvSpPr/>
          <p:nvPr/>
        </p:nvSpPr>
        <p:spPr>
          <a:xfrm>
            <a:off x="982762" y="4345009"/>
            <a:ext cx="3068982" cy="239988"/>
          </a:xfrm>
          <a:prstGeom prst="rect">
            <a:avLst/>
          </a:prstGeom>
          <a:noFill/>
          <a:ln/>
        </p:spPr>
        <p:txBody>
          <a:bodyPr wrap="square" lIns="0" tIns="0" rIns="0" bIns="0" rtlCol="0" anchor="t">
            <a:normAutofit/>
          </a:bodyPr>
          <a:lstStyle/>
          <a:p>
            <a:pPr marL="0" indent="0" algn="l">
              <a:lnSpc>
                <a:spcPts val="1690"/>
              </a:lnSpc>
              <a:buNone/>
            </a:pPr>
            <a:r>
              <a:rPr lang="en-US" sz="1300" b="1" kern="0" spc="-15" dirty="0">
                <a:solidFill>
                  <a:srgbClr val="2D3436"/>
                </a:solidFill>
                <a:latin typeface="Montserrat" pitchFamily="34" charset="0"/>
                <a:ea typeface="Montserrat" pitchFamily="34" charset="-122"/>
                <a:cs typeface="Montserrat" pitchFamily="34" charset="-120"/>
              </a:rPr>
              <a:t>Agentic Software Engineering</a:t>
            </a:r>
            <a:endParaRPr lang="en-US" sz="1300" dirty="0"/>
          </a:p>
        </p:txBody>
      </p:sp>
      <p:sp>
        <p:nvSpPr>
          <p:cNvPr id="27" name="Text 18"/>
          <p:cNvSpPr/>
          <p:nvPr/>
        </p:nvSpPr>
        <p:spPr>
          <a:xfrm>
            <a:off x="982762" y="4597686"/>
            <a:ext cx="3068982" cy="45215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95F67"/>
                </a:solidFill>
                <a:latin typeface="Poppins" pitchFamily="34" charset="0"/>
                <a:ea typeface="Poppins" pitchFamily="34" charset="-122"/>
                <a:cs typeface="Poppins" pitchFamily="34" charset="-120"/>
              </a:rPr>
              <a:t>Harness architecture for Claude Code and GitHub Copilot</a:t>
            </a:r>
            <a:endParaRPr lang="en-US" sz="1200" dirty="0"/>
          </a:p>
        </p:txBody>
      </p:sp>
      <p:sp>
        <p:nvSpPr>
          <p:cNvPr id="28" name="Shape 19"/>
          <p:cNvSpPr/>
          <p:nvPr/>
        </p:nvSpPr>
        <p:spPr>
          <a:xfrm>
            <a:off x="4378237" y="4332331"/>
            <a:ext cx="0" cy="704784"/>
          </a:xfrm>
          <a:prstGeom prst="line">
            <a:avLst/>
          </a:prstGeom>
          <a:noFill/>
          <a:ln w="19050">
            <a:solidFill>
              <a:srgbClr val="D4B483"/>
            </a:solidFill>
            <a:prstDash val="solid"/>
          </a:ln>
        </p:spPr>
        <p:txBody>
          <a:bodyPr/>
          <a:lstStyle/>
          <a:p>
            <a:endParaRPr lang="en-AT"/>
          </a:p>
        </p:txBody>
      </p:sp>
      <p:sp>
        <p:nvSpPr>
          <p:cNvPr id="29" name="Text 20"/>
          <p:cNvSpPr/>
          <p:nvPr/>
        </p:nvSpPr>
        <p:spPr>
          <a:xfrm>
            <a:off x="4538706" y="4345009"/>
            <a:ext cx="3069039" cy="239988"/>
          </a:xfrm>
          <a:prstGeom prst="rect">
            <a:avLst/>
          </a:prstGeom>
          <a:noFill/>
          <a:ln/>
        </p:spPr>
        <p:txBody>
          <a:bodyPr wrap="square" lIns="0" tIns="0" rIns="0" bIns="0" rtlCol="0" anchor="t">
            <a:normAutofit/>
          </a:bodyPr>
          <a:lstStyle/>
          <a:p>
            <a:pPr marL="0" indent="0" algn="l">
              <a:lnSpc>
                <a:spcPts val="1690"/>
              </a:lnSpc>
              <a:buNone/>
            </a:pPr>
            <a:r>
              <a:rPr lang="en-US" sz="1300" b="1" kern="0" spc="-15" dirty="0">
                <a:solidFill>
                  <a:srgbClr val="2D3436"/>
                </a:solidFill>
                <a:latin typeface="Montserrat" pitchFamily="34" charset="0"/>
                <a:ea typeface="Montserrat" pitchFamily="34" charset="-122"/>
                <a:cs typeface="Montserrat" pitchFamily="34" charset="-120"/>
              </a:rPr>
              <a:t>Team Enablement</a:t>
            </a:r>
            <a:endParaRPr lang="en-US" sz="1300" dirty="0"/>
          </a:p>
        </p:txBody>
      </p:sp>
      <p:sp>
        <p:nvSpPr>
          <p:cNvPr id="30" name="Text 21"/>
          <p:cNvSpPr/>
          <p:nvPr/>
        </p:nvSpPr>
        <p:spPr>
          <a:xfrm>
            <a:off x="4538706" y="4597686"/>
            <a:ext cx="3069039" cy="45215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95F67"/>
                </a:solidFill>
                <a:latin typeface="Poppins" pitchFamily="34" charset="0"/>
                <a:ea typeface="Poppins" pitchFamily="34" charset="-122"/>
                <a:cs typeface="Poppins" pitchFamily="34" charset="-120"/>
              </a:rPr>
              <a:t>AI driven content production and delivery</a:t>
            </a:r>
            <a:endParaRPr lang="en-US" sz="1200" dirty="0"/>
          </a:p>
        </p:txBody>
      </p:sp>
      <p:sp>
        <p:nvSpPr>
          <p:cNvPr id="31" name="Shape 22"/>
          <p:cNvSpPr/>
          <p:nvPr/>
        </p:nvSpPr>
        <p:spPr>
          <a:xfrm>
            <a:off x="812767" y="5493775"/>
            <a:ext cx="6705588" cy="0"/>
          </a:xfrm>
          <a:prstGeom prst="line">
            <a:avLst/>
          </a:prstGeom>
          <a:noFill/>
          <a:ln w="6350">
            <a:solidFill>
              <a:srgbClr val="E0E0E0"/>
            </a:solidFill>
            <a:prstDash val="solid"/>
          </a:ln>
        </p:spPr>
        <p:txBody>
          <a:bodyPr/>
          <a:lstStyle/>
          <a:p>
            <a:endParaRPr lang="en-AT"/>
          </a:p>
        </p:txBody>
      </p:sp>
      <p:sp>
        <p:nvSpPr>
          <p:cNvPr id="32" name="Text 23"/>
          <p:cNvSpPr/>
          <p:nvPr/>
        </p:nvSpPr>
        <p:spPr>
          <a:xfrm>
            <a:off x="812767" y="5608394"/>
            <a:ext cx="3244076" cy="231114"/>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595F67"/>
                </a:solidFill>
                <a:latin typeface="Poppins" pitchFamily="34" charset="0"/>
                <a:ea typeface="Poppins" pitchFamily="34" charset="-122"/>
                <a:cs typeface="Poppins" pitchFamily="34" charset="-120"/>
              </a:rPr>
              <a:t>integrations.at</a:t>
            </a:r>
            <a:endParaRPr lang="en-US" sz="1200" dirty="0"/>
          </a:p>
        </p:txBody>
      </p:sp>
      <p:sp>
        <p:nvSpPr>
          <p:cNvPr id="33" name="Text 24"/>
          <p:cNvSpPr/>
          <p:nvPr/>
        </p:nvSpPr>
        <p:spPr>
          <a:xfrm>
            <a:off x="4368712" y="5608394"/>
            <a:ext cx="3244133" cy="231114"/>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595F67"/>
                </a:solidFill>
                <a:latin typeface="Poppins" pitchFamily="34" charset="0"/>
                <a:ea typeface="Poppins" pitchFamily="34" charset="-122"/>
                <a:cs typeface="Poppins" pitchFamily="34" charset="-120"/>
              </a:rPr>
              <a:t>github.com/alexander-kastil</a:t>
            </a:r>
            <a:endParaRPr lang="en-US" sz="1200" dirty="0"/>
          </a:p>
        </p:txBody>
      </p:sp>
      <p:sp>
        <p:nvSpPr>
          <p:cNvPr id="34" name="Text 25"/>
          <p:cNvSpPr/>
          <p:nvPr/>
        </p:nvSpPr>
        <p:spPr>
          <a:xfrm>
            <a:off x="812767" y="5839464"/>
            <a:ext cx="3244076" cy="231114"/>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595F67"/>
                </a:solidFill>
                <a:latin typeface="Poppins" pitchFamily="34" charset="0"/>
                <a:ea typeface="Poppins" pitchFamily="34" charset="-122"/>
                <a:cs typeface="Poppins" pitchFamily="34" charset="-120"/>
              </a:rPr>
              <a:t>alexander.kastil@integrations.at</a:t>
            </a:r>
            <a:endParaRPr lang="en-US" sz="1200" dirty="0"/>
          </a:p>
        </p:txBody>
      </p:sp>
      <p:sp>
        <p:nvSpPr>
          <p:cNvPr id="35" name="Text 26"/>
          <p:cNvSpPr/>
          <p:nvPr/>
        </p:nvSpPr>
        <p:spPr>
          <a:xfrm>
            <a:off x="4368712" y="5839464"/>
            <a:ext cx="3244133" cy="231114"/>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595F67"/>
                </a:solidFill>
                <a:latin typeface="Poppins" pitchFamily="34" charset="0"/>
                <a:ea typeface="Poppins" pitchFamily="34" charset="-122"/>
                <a:cs typeface="Poppins" pitchFamily="34" charset="-120"/>
              </a:rPr>
              <a:t>linkedin.com/in/alexander-kastil</a:t>
            </a:r>
            <a:endParaRPr lang="en-US" sz="1200" dirty="0"/>
          </a:p>
        </p:txBody>
      </p:sp>
    </p:spTree>
    <p:extLst>
      <p:ext uri="{BB962C8B-B14F-4D97-AF65-F5344CB8AC3E}">
        <p14:creationId xmlns:p14="http://schemas.microsoft.com/office/powerpoint/2010/main" val="352285875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8127999"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module-photo.jpg"/>
          <p:cNvPicPr>
            <a:picLocks noChangeAspect="1"/>
          </p:cNvPicPr>
          <p:nvPr/>
        </p:nvPicPr>
        <p:blipFill>
          <a:blip r:embed="rId2"/>
          <a:stretch>
            <a:fillRect/>
          </a:stretch>
        </p:blipFill>
        <p:spPr>
          <a:xfrm>
            <a:off x="8166088" y="0"/>
            <a:ext cx="4025912" cy="6858000"/>
          </a:xfrm>
          <a:prstGeom prst="rect">
            <a:avLst/>
          </a:prstGeom>
        </p:spPr>
      </p:pic>
      <p:sp>
        <p:nvSpPr>
          <p:cNvPr id="4" name="Rectangle 3"/>
          <p:cNvSpPr/>
          <p:nvPr/>
        </p:nvSpPr>
        <p:spPr>
          <a:xfrm>
            <a:off x="8127999" y="0"/>
            <a:ext cx="38089" cy="6858000"/>
          </a:xfrm>
          <a:prstGeom prst="rect">
            <a:avLst/>
          </a:prstGeom>
          <a:solidFill>
            <a:srgbClr val="D4B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812767" y="1740392"/>
            <a:ext cx="254000" cy="19017"/>
          </a:xfrm>
          <a:prstGeom prst="rect">
            <a:avLst/>
          </a:prstGeom>
          <a:solidFill>
            <a:srgbClr val="4A9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150000" y="1580000"/>
            <a:ext cx="6700000" cy="400000"/>
          </a:xfrm>
          <a:prstGeom prst="rect">
            <a:avLst/>
          </a:prstGeom>
          <a:noFill/>
        </p:spPr>
        <p:txBody>
          <a:bodyPr wrap="square">
            <a:spAutoFit/>
          </a:bodyPr>
          <a:lstStyle/>
          <a:p>
            <a:pPr>
              <a:lnSpc>
                <a:spcPct val="95000"/>
              </a:lnSpc>
            </a:pPr>
            <a:r>
              <a:rPr sz="1700" b="1">
                <a:solidFill>
                  <a:srgbClr val="2D3436"/>
                </a:solidFill>
                <a:latin typeface="Montserrat"/>
              </a:rPr>
              <a:t>MODULE 1</a:t>
            </a:r>
          </a:p>
        </p:txBody>
      </p:sp>
      <p:sp>
        <p:nvSpPr>
          <p:cNvPr id="7" name="TextBox 6"/>
          <p:cNvSpPr txBox="1"/>
          <p:nvPr/>
        </p:nvSpPr>
        <p:spPr>
          <a:xfrm>
            <a:off x="780000" y="2150000"/>
            <a:ext cx="7100000" cy="2200000"/>
          </a:xfrm>
          <a:prstGeom prst="rect">
            <a:avLst/>
          </a:prstGeom>
          <a:noFill/>
        </p:spPr>
        <p:txBody>
          <a:bodyPr wrap="square">
            <a:spAutoFit/>
          </a:bodyPr>
          <a:lstStyle/>
          <a:p>
            <a:pPr>
              <a:lnSpc>
                <a:spcPct val="95000"/>
              </a:lnSpc>
            </a:pPr>
            <a:r>
              <a:rPr sz="5000" b="1">
                <a:solidFill>
                  <a:srgbClr val="2D3436"/>
                </a:solidFill>
                <a:latin typeface="Montserrat"/>
              </a:rPr>
              <a:t>Designing Event-Driven Distributed Systems</a:t>
            </a:r>
          </a:p>
        </p:txBody>
      </p:sp>
      <p:sp>
        <p:nvSpPr>
          <p:cNvPr id="8" name="TextBox 7"/>
          <p:cNvSpPr txBox="1"/>
          <p:nvPr/>
        </p:nvSpPr>
        <p:spPr>
          <a:xfrm>
            <a:off x="812767" y="4500000"/>
            <a:ext cx="7000000" cy="500000"/>
          </a:xfrm>
          <a:prstGeom prst="rect">
            <a:avLst/>
          </a:prstGeom>
          <a:noFill/>
        </p:spPr>
        <p:txBody>
          <a:bodyPr wrap="square">
            <a:spAutoFit/>
          </a:bodyPr>
          <a:lstStyle/>
          <a:p>
            <a:pPr>
              <a:lnSpc>
                <a:spcPct val="95000"/>
              </a:lnSpc>
            </a:pPr>
            <a:r>
              <a:rPr sz="2000" b="0">
                <a:solidFill>
                  <a:srgbClr val="595F67"/>
                </a:solidFill>
                <a:latin typeface="Poppins"/>
              </a:rPr>
              <a:t>Where the seams of Contoso Logistics belong before anyone writes a service</a:t>
            </a:r>
          </a:p>
        </p:txBody>
      </p:sp>
      <p:sp>
        <p:nvSpPr>
          <p:cNvPr id="9" name="Rectangle 8"/>
          <p:cNvSpPr/>
          <p:nvPr/>
        </p:nvSpPr>
        <p:spPr>
          <a:xfrm>
            <a:off x="812767" y="5500000"/>
            <a:ext cx="6900000" cy="12700"/>
          </a:xfrm>
          <a:prstGeom prst="rect">
            <a:avLst/>
          </a:prstGeom>
          <a:solidFill>
            <a:srgbClr val="E3E1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12767" y="5620000"/>
            <a:ext cx="7000000" cy="400000"/>
          </a:xfrm>
          <a:prstGeom prst="rect">
            <a:avLst/>
          </a:prstGeom>
          <a:noFill/>
        </p:spPr>
        <p:txBody>
          <a:bodyPr wrap="square">
            <a:spAutoFit/>
          </a:bodyPr>
          <a:lstStyle/>
          <a:p>
            <a:pPr>
              <a:lnSpc>
                <a:spcPct val="95000"/>
              </a:lnSpc>
            </a:pPr>
            <a:r>
              <a:rPr sz="1200" b="0">
                <a:solidFill>
                  <a:srgbClr val="595F67"/>
                </a:solidFill>
                <a:latin typeface="Poppins"/>
              </a:rPr>
              <a:t>Event-Driven Distributed Apps on Azure: Aspire, Dapr &amp; Durable Execution</a:t>
            </a:r>
          </a:p>
        </p:txBody>
      </p:sp>
    </p:spTree>
    <p:extLst>
      <p:ext uri="{BB962C8B-B14F-4D97-AF65-F5344CB8AC3E}">
        <p14:creationId xmlns:p14="http://schemas.microsoft.com/office/powerpoint/2010/main" val="167570509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7F7F5"/>
        </a:solidFill>
        <a:effectLst/>
      </p:bgPr>
    </p:bg>
    <p:spTree>
      <p:nvGrpSpPr>
        <p:cNvPr id="1" name=""/>
        <p:cNvGrpSpPr/>
        <p:nvPr/>
      </p:nvGrpSpPr>
      <p:grpSpPr>
        <a:xfrm>
          <a:off x="0" y="0"/>
          <a:ext cx="0" cy="0"/>
          <a:chOff x="0" y="0"/>
          <a:chExt cx="0" cy="0"/>
        </a:xfrm>
      </p:grpSpPr>
      <p:sp>
        <p:nvSpPr>
          <p:cNvPr id="2" name="gd-topics-box"/>
          <p:cNvSpPr/>
          <p:nvPr/>
        </p:nvSpPr>
        <p:spPr>
          <a:xfrm>
            <a:off x="812767" y="755700"/>
            <a:ext cx="3369755" cy="2400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gd-topics-box"/>
          <p:cNvSpPr/>
          <p:nvPr/>
        </p:nvSpPr>
        <p:spPr>
          <a:xfrm>
            <a:off x="812767" y="755700"/>
            <a:ext cx="38089" cy="2400000"/>
          </a:xfrm>
          <a:prstGeom prst="rect">
            <a:avLst/>
          </a:prstGeom>
          <a:solidFill>
            <a:srgbClr val="D4B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gd-topics-text"/>
          <p:cNvSpPr txBox="1"/>
          <p:nvPr/>
        </p:nvSpPr>
        <p:spPr>
          <a:xfrm>
            <a:off x="1042767" y="985700"/>
            <a:ext cx="2909755" cy="560000"/>
          </a:xfrm>
          <a:prstGeom prst="rect">
            <a:avLst/>
          </a:prstGeom>
          <a:noFill/>
        </p:spPr>
        <p:txBody>
          <a:bodyPr wrap="square" lIns="0" tIns="0" rIns="0" bIns="0" anchor="t">
            <a:spAutoFit/>
          </a:bodyPr>
          <a:lstStyle/>
          <a:p>
            <a:pPr>
              <a:lnSpc>
                <a:spcPct val="95000"/>
              </a:lnSpc>
              <a:spcBef>
                <a:spcPts val="0"/>
              </a:spcBef>
            </a:pPr>
            <a:r>
              <a:rPr sz="3400" b="1">
                <a:solidFill>
                  <a:srgbClr val="B08D57"/>
                </a:solidFill>
                <a:latin typeface="Montserrat"/>
              </a:rPr>
              <a:t>01</a:t>
            </a:r>
          </a:p>
        </p:txBody>
      </p:sp>
      <p:sp>
        <p:nvSpPr>
          <p:cNvPr id="5" name="gd-topics-text"/>
          <p:cNvSpPr txBox="1"/>
          <p:nvPr/>
        </p:nvSpPr>
        <p:spPr>
          <a:xfrm>
            <a:off x="1042767" y="1625700"/>
            <a:ext cx="2909755" cy="1300000"/>
          </a:xfrm>
          <a:prstGeom prst="rect">
            <a:avLst/>
          </a:prstGeom>
          <a:noFill/>
        </p:spPr>
        <p:txBody>
          <a:bodyPr wrap="square" lIns="0" tIns="0" rIns="0" bIns="0" anchor="t">
            <a:spAutoFit/>
          </a:bodyPr>
          <a:lstStyle/>
          <a:p>
            <a:pPr>
              <a:lnSpc>
                <a:spcPct val="95000"/>
              </a:lnSpc>
              <a:spcBef>
                <a:spcPts val="0"/>
              </a:spcBef>
            </a:pPr>
            <a:r>
              <a:rPr sz="1700" b="1">
                <a:solidFill>
                  <a:srgbClr val="2D3436"/>
                </a:solidFill>
                <a:latin typeface="Montserrat"/>
              </a:rPr>
              <a:t>Modular Monolith vs. Microservices</a:t>
            </a:r>
          </a:p>
          <a:p>
            <a:pPr>
              <a:lnSpc>
                <a:spcPct val="95000"/>
              </a:lnSpc>
              <a:spcBef>
                <a:spcPts val="600"/>
              </a:spcBef>
            </a:pPr>
            <a:r>
              <a:rPr sz="1200" b="0">
                <a:solidFill>
                  <a:srgbClr val="595F67"/>
                </a:solidFill>
                <a:latin typeface="Poppins"/>
              </a:rPr>
              <a:t>When a service boundary earns its cost</a:t>
            </a:r>
          </a:p>
        </p:txBody>
      </p:sp>
      <p:sp>
        <p:nvSpPr>
          <p:cNvPr id="6" name="gd-topics-box"/>
          <p:cNvSpPr/>
          <p:nvPr/>
        </p:nvSpPr>
        <p:spPr>
          <a:xfrm>
            <a:off x="4411122" y="755700"/>
            <a:ext cx="3369755" cy="2400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gd-topics-box"/>
          <p:cNvSpPr/>
          <p:nvPr/>
        </p:nvSpPr>
        <p:spPr>
          <a:xfrm>
            <a:off x="4411122" y="755700"/>
            <a:ext cx="38089" cy="2400000"/>
          </a:xfrm>
          <a:prstGeom prst="rect">
            <a:avLst/>
          </a:prstGeom>
          <a:solidFill>
            <a:srgbClr val="D4B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gd-topics-text"/>
          <p:cNvSpPr txBox="1"/>
          <p:nvPr/>
        </p:nvSpPr>
        <p:spPr>
          <a:xfrm>
            <a:off x="4641122" y="985700"/>
            <a:ext cx="2909755" cy="560000"/>
          </a:xfrm>
          <a:prstGeom prst="rect">
            <a:avLst/>
          </a:prstGeom>
          <a:noFill/>
        </p:spPr>
        <p:txBody>
          <a:bodyPr wrap="square" lIns="0" tIns="0" rIns="0" bIns="0" anchor="t">
            <a:spAutoFit/>
          </a:bodyPr>
          <a:lstStyle/>
          <a:p>
            <a:pPr>
              <a:lnSpc>
                <a:spcPct val="95000"/>
              </a:lnSpc>
              <a:spcBef>
                <a:spcPts val="0"/>
              </a:spcBef>
            </a:pPr>
            <a:r>
              <a:rPr sz="3400" b="1">
                <a:solidFill>
                  <a:srgbClr val="B08D57"/>
                </a:solidFill>
                <a:latin typeface="Montserrat"/>
              </a:rPr>
              <a:t>02</a:t>
            </a:r>
          </a:p>
        </p:txBody>
      </p:sp>
      <p:sp>
        <p:nvSpPr>
          <p:cNvPr id="9" name="gd-topics-text"/>
          <p:cNvSpPr txBox="1"/>
          <p:nvPr/>
        </p:nvSpPr>
        <p:spPr>
          <a:xfrm>
            <a:off x="4641122" y="1625700"/>
            <a:ext cx="2909755" cy="1300000"/>
          </a:xfrm>
          <a:prstGeom prst="rect">
            <a:avLst/>
          </a:prstGeom>
          <a:noFill/>
        </p:spPr>
        <p:txBody>
          <a:bodyPr wrap="square" lIns="0" tIns="0" rIns="0" bIns="0" anchor="t">
            <a:spAutoFit/>
          </a:bodyPr>
          <a:lstStyle/>
          <a:p>
            <a:pPr>
              <a:lnSpc>
                <a:spcPct val="95000"/>
              </a:lnSpc>
              <a:spcBef>
                <a:spcPts val="0"/>
              </a:spcBef>
            </a:pPr>
            <a:r>
              <a:rPr sz="1700" b="1">
                <a:solidFill>
                  <a:srgbClr val="2D3436"/>
                </a:solidFill>
                <a:latin typeface="Montserrat"/>
              </a:rPr>
              <a:t>Sync vs. Async: Commands &amp; Events</a:t>
            </a:r>
          </a:p>
          <a:p>
            <a:pPr>
              <a:lnSpc>
                <a:spcPct val="95000"/>
              </a:lnSpc>
              <a:spcBef>
                <a:spcPts val="600"/>
              </a:spcBef>
            </a:pPr>
            <a:r>
              <a:rPr sz="1200" b="0">
                <a:solidFill>
                  <a:srgbClr val="595F67"/>
                </a:solidFill>
                <a:latin typeface="Poppins"/>
              </a:rPr>
              <a:t>Request/reply, messages and temporal coupling</a:t>
            </a:r>
          </a:p>
        </p:txBody>
      </p:sp>
      <p:sp>
        <p:nvSpPr>
          <p:cNvPr id="10" name="gd-topics-box"/>
          <p:cNvSpPr/>
          <p:nvPr/>
        </p:nvSpPr>
        <p:spPr>
          <a:xfrm>
            <a:off x="8009477" y="755700"/>
            <a:ext cx="3369755" cy="2400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gd-topics-box"/>
          <p:cNvSpPr/>
          <p:nvPr/>
        </p:nvSpPr>
        <p:spPr>
          <a:xfrm>
            <a:off x="8009477" y="755700"/>
            <a:ext cx="38089" cy="2400000"/>
          </a:xfrm>
          <a:prstGeom prst="rect">
            <a:avLst/>
          </a:prstGeom>
          <a:solidFill>
            <a:srgbClr val="D4B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gd-topics-text"/>
          <p:cNvSpPr txBox="1"/>
          <p:nvPr/>
        </p:nvSpPr>
        <p:spPr>
          <a:xfrm>
            <a:off x="8239477" y="985700"/>
            <a:ext cx="2909755" cy="560000"/>
          </a:xfrm>
          <a:prstGeom prst="rect">
            <a:avLst/>
          </a:prstGeom>
          <a:noFill/>
        </p:spPr>
        <p:txBody>
          <a:bodyPr wrap="square" lIns="0" tIns="0" rIns="0" bIns="0" anchor="t">
            <a:spAutoFit/>
          </a:bodyPr>
          <a:lstStyle/>
          <a:p>
            <a:pPr>
              <a:lnSpc>
                <a:spcPct val="95000"/>
              </a:lnSpc>
              <a:spcBef>
                <a:spcPts val="0"/>
              </a:spcBef>
            </a:pPr>
            <a:r>
              <a:rPr sz="3400" b="1">
                <a:solidFill>
                  <a:srgbClr val="B08D57"/>
                </a:solidFill>
                <a:latin typeface="Montserrat"/>
              </a:rPr>
              <a:t>03</a:t>
            </a:r>
          </a:p>
        </p:txBody>
      </p:sp>
      <p:sp>
        <p:nvSpPr>
          <p:cNvPr id="13" name="gd-topics-text"/>
          <p:cNvSpPr txBox="1"/>
          <p:nvPr/>
        </p:nvSpPr>
        <p:spPr>
          <a:xfrm>
            <a:off x="8239477" y="1625700"/>
            <a:ext cx="2909755" cy="1300000"/>
          </a:xfrm>
          <a:prstGeom prst="rect">
            <a:avLst/>
          </a:prstGeom>
          <a:noFill/>
        </p:spPr>
        <p:txBody>
          <a:bodyPr wrap="square" lIns="0" tIns="0" rIns="0" bIns="0" anchor="t">
            <a:spAutoFit/>
          </a:bodyPr>
          <a:lstStyle/>
          <a:p>
            <a:pPr>
              <a:lnSpc>
                <a:spcPct val="95000"/>
              </a:lnSpc>
              <a:spcBef>
                <a:spcPts val="0"/>
              </a:spcBef>
            </a:pPr>
            <a:r>
              <a:rPr sz="1700" b="1">
                <a:solidFill>
                  <a:srgbClr val="2D3436"/>
                </a:solidFill>
                <a:latin typeface="Montserrat"/>
              </a:rPr>
              <a:t>Event Storming: Find Service Boundaries</a:t>
            </a:r>
          </a:p>
          <a:p>
            <a:pPr>
              <a:lnSpc>
                <a:spcPct val="95000"/>
              </a:lnSpc>
              <a:spcBef>
                <a:spcPts val="600"/>
              </a:spcBef>
            </a:pPr>
            <a:r>
              <a:rPr sz="1200" b="0">
                <a:solidFill>
                  <a:srgbClr val="595F67"/>
                </a:solidFill>
                <a:latin typeface="Poppins"/>
              </a:rPr>
              <a:t>Bounded contexts and the Contoso service list</a:t>
            </a:r>
          </a:p>
        </p:txBody>
      </p:sp>
      <p:sp>
        <p:nvSpPr>
          <p:cNvPr id="14" name="gd-topics-box"/>
          <p:cNvSpPr/>
          <p:nvPr/>
        </p:nvSpPr>
        <p:spPr>
          <a:xfrm>
            <a:off x="812767" y="3384300"/>
            <a:ext cx="3369755" cy="2400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gd-topics-box"/>
          <p:cNvSpPr/>
          <p:nvPr/>
        </p:nvSpPr>
        <p:spPr>
          <a:xfrm>
            <a:off x="812767" y="3384300"/>
            <a:ext cx="38089" cy="2400000"/>
          </a:xfrm>
          <a:prstGeom prst="rect">
            <a:avLst/>
          </a:prstGeom>
          <a:solidFill>
            <a:srgbClr val="D4B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gd-topics-text"/>
          <p:cNvSpPr txBox="1"/>
          <p:nvPr/>
        </p:nvSpPr>
        <p:spPr>
          <a:xfrm>
            <a:off x="1042767" y="3614300"/>
            <a:ext cx="2909755" cy="560000"/>
          </a:xfrm>
          <a:prstGeom prst="rect">
            <a:avLst/>
          </a:prstGeom>
          <a:noFill/>
        </p:spPr>
        <p:txBody>
          <a:bodyPr wrap="square" lIns="0" tIns="0" rIns="0" bIns="0" anchor="t">
            <a:spAutoFit/>
          </a:bodyPr>
          <a:lstStyle/>
          <a:p>
            <a:pPr>
              <a:lnSpc>
                <a:spcPct val="95000"/>
              </a:lnSpc>
              <a:spcBef>
                <a:spcPts val="0"/>
              </a:spcBef>
            </a:pPr>
            <a:r>
              <a:rPr sz="3400" b="1">
                <a:solidFill>
                  <a:srgbClr val="B08D57"/>
                </a:solidFill>
                <a:latin typeface="Montserrat"/>
              </a:rPr>
              <a:t>04</a:t>
            </a:r>
          </a:p>
        </p:txBody>
      </p:sp>
      <p:sp>
        <p:nvSpPr>
          <p:cNvPr id="17" name="gd-topics-text"/>
          <p:cNvSpPr txBox="1"/>
          <p:nvPr/>
        </p:nvSpPr>
        <p:spPr>
          <a:xfrm>
            <a:off x="1042767" y="4254300"/>
            <a:ext cx="2909755" cy="1300000"/>
          </a:xfrm>
          <a:prstGeom prst="rect">
            <a:avLst/>
          </a:prstGeom>
          <a:noFill/>
        </p:spPr>
        <p:txBody>
          <a:bodyPr wrap="square" lIns="0" tIns="0" rIns="0" bIns="0" anchor="t">
            <a:spAutoFit/>
          </a:bodyPr>
          <a:lstStyle/>
          <a:p>
            <a:pPr>
              <a:lnSpc>
                <a:spcPct val="95000"/>
              </a:lnSpc>
              <a:spcBef>
                <a:spcPts val="0"/>
              </a:spcBef>
            </a:pPr>
            <a:r>
              <a:rPr sz="1700" b="1">
                <a:solidFill>
                  <a:srgbClr val="2D3436"/>
                </a:solidFill>
                <a:latin typeface="Montserrat"/>
              </a:rPr>
              <a:t>Event Types: Domain, Integration, CloudEvents</a:t>
            </a:r>
          </a:p>
          <a:p>
            <a:pPr>
              <a:lnSpc>
                <a:spcPct val="95000"/>
              </a:lnSpc>
              <a:spcBef>
                <a:spcPts val="600"/>
              </a:spcBef>
            </a:pPr>
            <a:r>
              <a:rPr sz="1200" b="0">
                <a:solidFill>
                  <a:srgbClr val="595F67"/>
                </a:solidFill>
                <a:latin typeface="Poppins"/>
              </a:rPr>
              <a:t>Payload styles and the CloudEvents 1.0 envelope</a:t>
            </a:r>
          </a:p>
        </p:txBody>
      </p:sp>
      <p:sp>
        <p:nvSpPr>
          <p:cNvPr id="18" name="gd-topics-box"/>
          <p:cNvSpPr/>
          <p:nvPr/>
        </p:nvSpPr>
        <p:spPr>
          <a:xfrm>
            <a:off x="4411122" y="3384300"/>
            <a:ext cx="3369755" cy="2400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gd-topics-box"/>
          <p:cNvSpPr/>
          <p:nvPr/>
        </p:nvSpPr>
        <p:spPr>
          <a:xfrm>
            <a:off x="4411122" y="3384300"/>
            <a:ext cx="38089" cy="2400000"/>
          </a:xfrm>
          <a:prstGeom prst="rect">
            <a:avLst/>
          </a:prstGeom>
          <a:solidFill>
            <a:srgbClr val="D4B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gd-topics-text"/>
          <p:cNvSpPr txBox="1"/>
          <p:nvPr/>
        </p:nvSpPr>
        <p:spPr>
          <a:xfrm>
            <a:off x="4641122" y="3614300"/>
            <a:ext cx="2909755" cy="560000"/>
          </a:xfrm>
          <a:prstGeom prst="rect">
            <a:avLst/>
          </a:prstGeom>
          <a:noFill/>
        </p:spPr>
        <p:txBody>
          <a:bodyPr wrap="square" lIns="0" tIns="0" rIns="0" bIns="0" anchor="t">
            <a:spAutoFit/>
          </a:bodyPr>
          <a:lstStyle/>
          <a:p>
            <a:pPr>
              <a:lnSpc>
                <a:spcPct val="95000"/>
              </a:lnSpc>
              <a:spcBef>
                <a:spcPts val="0"/>
              </a:spcBef>
            </a:pPr>
            <a:r>
              <a:rPr sz="3400" b="1">
                <a:solidFill>
                  <a:srgbClr val="B08D57"/>
                </a:solidFill>
                <a:latin typeface="Montserrat"/>
              </a:rPr>
              <a:t>05</a:t>
            </a:r>
          </a:p>
        </p:txBody>
      </p:sp>
      <p:sp>
        <p:nvSpPr>
          <p:cNvPr id="21" name="gd-topics-text"/>
          <p:cNvSpPr txBox="1"/>
          <p:nvPr/>
        </p:nvSpPr>
        <p:spPr>
          <a:xfrm>
            <a:off x="4641122" y="4254300"/>
            <a:ext cx="2909755" cy="1300000"/>
          </a:xfrm>
          <a:prstGeom prst="rect">
            <a:avLst/>
          </a:prstGeom>
          <a:noFill/>
        </p:spPr>
        <p:txBody>
          <a:bodyPr wrap="square" lIns="0" tIns="0" rIns="0" bIns="0" anchor="t">
            <a:spAutoFit/>
          </a:bodyPr>
          <a:lstStyle/>
          <a:p>
            <a:pPr>
              <a:lnSpc>
                <a:spcPct val="95000"/>
              </a:lnSpc>
              <a:spcBef>
                <a:spcPts val="0"/>
              </a:spcBef>
            </a:pPr>
            <a:r>
              <a:rPr sz="1700" b="1">
                <a:solidFill>
                  <a:srgbClr val="2D3436"/>
                </a:solidFill>
                <a:latin typeface="Montserrat"/>
              </a:rPr>
              <a:t>Reliability Patterns: Outbox, Saga, Idempotency</a:t>
            </a:r>
          </a:p>
          <a:p>
            <a:pPr>
              <a:lnSpc>
                <a:spcPct val="95000"/>
              </a:lnSpc>
              <a:spcBef>
                <a:spcPts val="600"/>
              </a:spcBef>
            </a:pPr>
            <a:r>
              <a:rPr sz="1200" b="0">
                <a:solidFill>
                  <a:srgbClr val="595F67"/>
                </a:solidFill>
                <a:latin typeface="Poppins"/>
              </a:rPr>
              <a:t>The failures that break event flows</a:t>
            </a:r>
          </a:p>
        </p:txBody>
      </p:sp>
      <p:sp>
        <p:nvSpPr>
          <p:cNvPr id="22" name="gd-topics-box"/>
          <p:cNvSpPr/>
          <p:nvPr/>
        </p:nvSpPr>
        <p:spPr>
          <a:xfrm>
            <a:off x="8009477" y="3384300"/>
            <a:ext cx="3369755" cy="2400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gd-topics-box"/>
          <p:cNvSpPr/>
          <p:nvPr/>
        </p:nvSpPr>
        <p:spPr>
          <a:xfrm>
            <a:off x="8009477" y="3384300"/>
            <a:ext cx="38089" cy="2400000"/>
          </a:xfrm>
          <a:prstGeom prst="rect">
            <a:avLst/>
          </a:prstGeom>
          <a:solidFill>
            <a:srgbClr val="D4B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gd-topics-text"/>
          <p:cNvSpPr txBox="1"/>
          <p:nvPr/>
        </p:nvSpPr>
        <p:spPr>
          <a:xfrm>
            <a:off x="8239477" y="3614300"/>
            <a:ext cx="2909755" cy="560000"/>
          </a:xfrm>
          <a:prstGeom prst="rect">
            <a:avLst/>
          </a:prstGeom>
          <a:noFill/>
        </p:spPr>
        <p:txBody>
          <a:bodyPr wrap="square" lIns="0" tIns="0" rIns="0" bIns="0" anchor="t">
            <a:spAutoFit/>
          </a:bodyPr>
          <a:lstStyle/>
          <a:p>
            <a:pPr>
              <a:lnSpc>
                <a:spcPct val="95000"/>
              </a:lnSpc>
              <a:spcBef>
                <a:spcPts val="0"/>
              </a:spcBef>
            </a:pPr>
            <a:r>
              <a:rPr sz="3400" b="1">
                <a:solidFill>
                  <a:srgbClr val="B08D57"/>
                </a:solidFill>
                <a:latin typeface="Montserrat"/>
              </a:rPr>
              <a:t>06</a:t>
            </a:r>
          </a:p>
        </p:txBody>
      </p:sp>
      <p:sp>
        <p:nvSpPr>
          <p:cNvPr id="25" name="gd-topics-text"/>
          <p:cNvSpPr txBox="1"/>
          <p:nvPr/>
        </p:nvSpPr>
        <p:spPr>
          <a:xfrm>
            <a:off x="8239477" y="4254300"/>
            <a:ext cx="2909755" cy="1300000"/>
          </a:xfrm>
          <a:prstGeom prst="rect">
            <a:avLst/>
          </a:prstGeom>
          <a:noFill/>
        </p:spPr>
        <p:txBody>
          <a:bodyPr wrap="square" lIns="0" tIns="0" rIns="0" bIns="0" anchor="t">
            <a:spAutoFit/>
          </a:bodyPr>
          <a:lstStyle/>
          <a:p>
            <a:pPr>
              <a:lnSpc>
                <a:spcPct val="95000"/>
              </a:lnSpc>
              <a:spcBef>
                <a:spcPts val="0"/>
              </a:spcBef>
            </a:pPr>
            <a:r>
              <a:rPr sz="1700" b="1">
                <a:solidFill>
                  <a:srgbClr val="2D3436"/>
                </a:solidFill>
                <a:latin typeface="Montserrat"/>
              </a:rPr>
              <a:t>Azure Messaging: Pick the Broker</a:t>
            </a:r>
          </a:p>
          <a:p>
            <a:pPr>
              <a:lnSpc>
                <a:spcPct val="95000"/>
              </a:lnSpc>
              <a:spcBef>
                <a:spcPts val="600"/>
              </a:spcBef>
            </a:pPr>
            <a:r>
              <a:rPr sz="1200" b="0">
                <a:solidFill>
                  <a:srgbClr val="595F67"/>
                </a:solidFill>
                <a:latin typeface="Poppins"/>
              </a:rPr>
              <a:t>Service Bus, Event Grid, Event Hubs, Dapr pub/sub</a:t>
            </a:r>
          </a:p>
        </p:txBody>
      </p:sp>
      <p:sp>
        <p:nvSpPr>
          <p:cNvPr id="26" name="gd-topics-box"/>
          <p:cNvSpPr/>
          <p:nvPr/>
        </p:nvSpPr>
        <p:spPr>
          <a:xfrm>
            <a:off x="812767" y="6190000"/>
            <a:ext cx="10566466" cy="12700"/>
          </a:xfrm>
          <a:prstGeom prst="rect">
            <a:avLst/>
          </a:prstGeom>
          <a:solidFill>
            <a:srgbClr val="E3E1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gd-topics-text"/>
          <p:cNvSpPr txBox="1"/>
          <p:nvPr/>
        </p:nvSpPr>
        <p:spPr>
          <a:xfrm>
            <a:off x="812767" y="6290000"/>
            <a:ext cx="10566466" cy="300000"/>
          </a:xfrm>
          <a:prstGeom prst="rect">
            <a:avLst/>
          </a:prstGeom>
          <a:noFill/>
        </p:spPr>
        <p:txBody>
          <a:bodyPr wrap="square" lIns="0" tIns="0" rIns="0" bIns="0" anchor="t">
            <a:spAutoFit/>
          </a:bodyPr>
          <a:lstStyle/>
          <a:p>
            <a:pPr>
              <a:lnSpc>
                <a:spcPct val="95000"/>
              </a:lnSpc>
              <a:spcBef>
                <a:spcPts val="0"/>
              </a:spcBef>
            </a:pPr>
            <a:r>
              <a:rPr sz="1100" b="0">
                <a:solidFill>
                  <a:srgbClr val="595F67"/>
                </a:solidFill>
                <a:latin typeface="Poppins"/>
              </a:rPr>
              <a:t>Event-Driven Distributed Apps on Azure: Aspire, Dapr &amp; Durable Execution</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09600" y="1618445"/>
            <a:ext cx="5079858" cy="906145"/>
          </a:xfrm>
          <a:prstGeom prst="rect">
            <a:avLst/>
          </a:prstGeom>
          <a:noFill/>
          <a:ln/>
        </p:spPr>
        <p:txBody>
          <a:bodyPr wrap="square" lIns="0" tIns="0" rIns="0" bIns="0" rtlCol="0" anchor="t">
            <a:spAutoFit/>
          </a:bodyPr>
          <a:lstStyle/>
          <a:p>
            <a:pPr marL="0" indent="0" algn="l">
              <a:lnSpc>
                <a:spcPct val="92000"/>
              </a:lnSpc>
              <a:buNone/>
            </a:pPr>
            <a:r>
              <a:rPr lang="en-US" sz="3200" b="1" dirty="0">
                <a:solidFill>
                  <a:srgbClr val="0D0D0D"/>
                </a:solidFill>
                <a:latin typeface="Montserrat Bold" pitchFamily="34" charset="0"/>
                <a:ea typeface="Montserrat Bold" pitchFamily="34" charset="-122"/>
                <a:cs typeface="Montserrat Bold" pitchFamily="34" charset="-120"/>
              </a:rPr>
              <a:t>Designing event-driven distributed systems</a:t>
            </a:r>
            <a:endParaRPr lang="en-US" sz="3200" dirty="0"/>
          </a:p>
        </p:txBody>
      </p:sp>
      <p:sp>
        <p:nvSpPr>
          <p:cNvPr id="3" name="Text 1"/>
          <p:cNvSpPr/>
          <p:nvPr/>
        </p:nvSpPr>
        <p:spPr>
          <a:xfrm>
            <a:off x="609600" y="2676990"/>
            <a:ext cx="5079858" cy="849463"/>
          </a:xfrm>
          <a:prstGeom prst="rect">
            <a:avLst/>
          </a:prstGeom>
          <a:noFill/>
          <a:ln/>
        </p:spPr>
        <p:txBody>
          <a:bodyPr wrap="square" lIns="0" tIns="0" rIns="0" bIns="0" rtlCol="0" anchor="t">
            <a:spAutoFit/>
          </a:bodyPr>
          <a:lstStyle/>
          <a:p>
            <a:pPr marL="0" indent="0" algn="l">
              <a:lnSpc>
                <a:spcPct val="92000"/>
              </a:lnSpc>
              <a:buNone/>
            </a:pPr>
            <a:r>
              <a:rPr lang="en-US" sz="2000" b="1" dirty="0">
                <a:solidFill>
                  <a:srgbClr val="0D0D0D"/>
                </a:solidFill>
                <a:latin typeface="Montserrat Bold" pitchFamily="34" charset="0"/>
                <a:ea typeface="Montserrat Bold" pitchFamily="34" charset="-122"/>
                <a:cs typeface="Montserrat Bold" pitchFamily="34" charset="-120"/>
              </a:rPr>
              <a:t>Where the seams of Contoso Logistics belong before anyone writes a service</a:t>
            </a:r>
            <a:endParaRPr lang="en-US" sz="2000" dirty="0"/>
          </a:p>
        </p:txBody>
      </p:sp>
      <p:sp>
        <p:nvSpPr>
          <p:cNvPr id="4" name="Text 2"/>
          <p:cNvSpPr/>
          <p:nvPr/>
        </p:nvSpPr>
        <p:spPr>
          <a:xfrm>
            <a:off x="609600" y="3755053"/>
            <a:ext cx="5079858" cy="1581944"/>
          </a:xfrm>
          <a:prstGeom prst="rect">
            <a:avLst/>
          </a:prstGeom>
          <a:noFill/>
          <a:ln/>
        </p:spPr>
        <p:txBody>
          <a:bodyPr wrap="square" lIns="0" tIns="0" rIns="0" bIns="0" rtlCol="0" anchor="t">
            <a:normAutofit/>
          </a:bodyPr>
          <a:lstStyle/>
          <a:p>
            <a:pPr marL="284480" indent="-284480" algn="l">
              <a:lnSpc>
                <a:spcPct val="117000"/>
              </a:lnSpc>
              <a:buSzPct val="100000"/>
              <a:buChar char="•"/>
            </a:pPr>
            <a:r>
              <a:rPr lang="en-US" sz="1400" b="1" dirty="0">
                <a:solidFill>
                  <a:srgbClr val="1B365D"/>
                </a:solidFill>
                <a:latin typeface="Poppins Bold" pitchFamily="34" charset="0"/>
                <a:ea typeface="Poppins Bold" pitchFamily="34" charset="-122"/>
                <a:cs typeface="Poppins Bold" pitchFamily="34" charset="-120"/>
              </a:rPr>
              <a:t>Boundaries</a:t>
            </a:r>
            <a:r>
              <a:rPr lang="en-US" sz="1400" dirty="0">
                <a:solidFill>
                  <a:srgbClr val="1B365D"/>
                </a:solidFill>
                <a:latin typeface="Poppins" pitchFamily="34" charset="0"/>
                <a:ea typeface="Poppins" pitchFamily="34" charset="-122"/>
                <a:cs typeface="Poppins" pitchFamily="34" charset="-120"/>
              </a:rPr>
              <a:t>: a modular monolith or microservices, and event storming to find the seams</a:t>
            </a:r>
            <a:endParaRPr lang="en-US" sz="1400" dirty="0"/>
          </a:p>
          <a:p>
            <a:pPr marL="284480" indent="-284480" algn="l">
              <a:lnSpc>
                <a:spcPct val="117000"/>
              </a:lnSpc>
              <a:buSzPct val="100000"/>
              <a:buChar char="•"/>
            </a:pPr>
            <a:r>
              <a:rPr lang="en-US" sz="1400" b="1" dirty="0">
                <a:solidFill>
                  <a:srgbClr val="1B365D"/>
                </a:solidFill>
                <a:latin typeface="Poppins Bold" pitchFamily="34" charset="0"/>
                <a:ea typeface="Poppins Bold" pitchFamily="34" charset="-122"/>
                <a:cs typeface="Poppins Bold" pitchFamily="34" charset="-120"/>
              </a:rPr>
              <a:t>Messages</a:t>
            </a:r>
            <a:r>
              <a:rPr lang="en-US" sz="1400" dirty="0">
                <a:solidFill>
                  <a:srgbClr val="1B365D"/>
                </a:solidFill>
                <a:latin typeface="Poppins" pitchFamily="34" charset="0"/>
                <a:ea typeface="Poppins" pitchFamily="34" charset="-122"/>
                <a:cs typeface="Poppins" pitchFamily="34" charset="-120"/>
              </a:rPr>
              <a:t>: HTTP or asynchronous commands and events, named and wrapped in CloudEvents</a:t>
            </a:r>
            <a:endParaRPr lang="en-US" sz="1400" dirty="0"/>
          </a:p>
          <a:p>
            <a:pPr marL="284480" indent="-284480" algn="l">
              <a:lnSpc>
                <a:spcPct val="117000"/>
              </a:lnSpc>
              <a:buSzPct val="100000"/>
              <a:buChar char="•"/>
            </a:pPr>
            <a:r>
              <a:rPr lang="en-US" sz="1400" b="1" dirty="0">
                <a:solidFill>
                  <a:srgbClr val="1B365D"/>
                </a:solidFill>
                <a:latin typeface="Poppins Bold" pitchFamily="34" charset="0"/>
                <a:ea typeface="Poppins Bold" pitchFamily="34" charset="-122"/>
                <a:cs typeface="Poppins Bold" pitchFamily="34" charset="-120"/>
              </a:rPr>
              <a:t>Reliability and brokers</a:t>
            </a:r>
            <a:r>
              <a:rPr lang="en-US" sz="1400" dirty="0">
                <a:solidFill>
                  <a:srgbClr val="1B365D"/>
                </a:solidFill>
                <a:latin typeface="Poppins" pitchFamily="34" charset="0"/>
                <a:ea typeface="Poppins" pitchFamily="34" charset="-122"/>
                <a:cs typeface="Poppins" pitchFamily="34" charset="-120"/>
              </a:rPr>
              <a:t>: outbox, saga and idempotency, then one Azure broker per flow</a:t>
            </a:r>
            <a:endParaRPr lang="en-US" sz="1400" dirty="0"/>
          </a:p>
        </p:txBody>
      </p:sp>
      <p:pic>
        <p:nvPicPr>
          <p:cNvPr id="5" name="Image 0" descr="preencoded.png"/>
          <p:cNvPicPr>
            <a:picLocks noChangeAspect="1"/>
          </p:cNvPicPr>
          <p:nvPr/>
        </p:nvPicPr>
        <p:blipFill>
          <a:blip r:embed="rId3"/>
          <a:stretch>
            <a:fillRect/>
          </a:stretch>
        </p:blipFill>
        <p:spPr>
          <a:xfrm>
            <a:off x="6095848" y="0"/>
            <a:ext cx="6095848" cy="68580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09600" y="457200"/>
            <a:ext cx="10972512" cy="453073"/>
          </a:xfrm>
          <a:prstGeom prst="rect">
            <a:avLst/>
          </a:prstGeom>
          <a:noFill/>
          <a:ln/>
        </p:spPr>
        <p:txBody>
          <a:bodyPr wrap="square" lIns="0" tIns="0" rIns="0" bIns="0" rtlCol="0" anchor="t">
            <a:spAutoFit/>
          </a:bodyPr>
          <a:lstStyle/>
          <a:p>
            <a:pPr marL="0" indent="0" algn="l">
              <a:lnSpc>
                <a:spcPct val="92000"/>
              </a:lnSpc>
              <a:buNone/>
            </a:pPr>
            <a:r>
              <a:rPr lang="en-US" sz="3200" b="1" dirty="0">
                <a:solidFill>
                  <a:srgbClr val="0D0D0D"/>
                </a:solidFill>
                <a:latin typeface="Montserrat Bold" pitchFamily="34" charset="0"/>
                <a:ea typeface="Montserrat Bold" pitchFamily="34" charset="-122"/>
                <a:cs typeface="Montserrat Bold" pitchFamily="34" charset="-120"/>
              </a:rPr>
              <a:t>Overview</a:t>
            </a:r>
            <a:endParaRPr lang="en-US" sz="3200" dirty="0"/>
          </a:p>
        </p:txBody>
      </p:sp>
      <p:sp>
        <p:nvSpPr>
          <p:cNvPr id="3" name="Text 1"/>
          <p:cNvSpPr/>
          <p:nvPr/>
        </p:nvSpPr>
        <p:spPr>
          <a:xfrm>
            <a:off x="609600" y="1062673"/>
            <a:ext cx="10972512" cy="283154"/>
          </a:xfrm>
          <a:prstGeom prst="rect">
            <a:avLst/>
          </a:prstGeom>
          <a:noFill/>
          <a:ln/>
        </p:spPr>
        <p:txBody>
          <a:bodyPr wrap="square" lIns="0" tIns="0" rIns="0" bIns="0" rtlCol="0" anchor="t">
            <a:spAutoFit/>
          </a:bodyPr>
          <a:lstStyle/>
          <a:p>
            <a:pPr marL="0" indent="0" algn="l">
              <a:lnSpc>
                <a:spcPct val="92000"/>
              </a:lnSpc>
              <a:buNone/>
            </a:pPr>
            <a:r>
              <a:rPr lang="en-US" sz="2000" b="1" dirty="0">
                <a:solidFill>
                  <a:srgbClr val="0D0D0D"/>
                </a:solidFill>
                <a:latin typeface="Montserrat Bold" pitchFamily="34" charset="0"/>
                <a:ea typeface="Montserrat Bold" pitchFamily="34" charset="-122"/>
                <a:cs typeface="Montserrat Bold" pitchFamily="34" charset="-120"/>
              </a:rPr>
              <a:t>The topics follow the order of a design decision</a:t>
            </a:r>
            <a:endParaRPr lang="en-US" sz="2000" dirty="0"/>
          </a:p>
        </p:txBody>
      </p:sp>
      <p:sp>
        <p:nvSpPr>
          <p:cNvPr id="4" name="Text 2"/>
          <p:cNvSpPr/>
          <p:nvPr/>
        </p:nvSpPr>
        <p:spPr>
          <a:xfrm>
            <a:off x="609600" y="2568817"/>
            <a:ext cx="4267078" cy="2915047"/>
          </a:xfrm>
          <a:prstGeom prst="rect">
            <a:avLst/>
          </a:prstGeom>
          <a:noFill/>
          <a:ln/>
        </p:spPr>
        <p:txBody>
          <a:bodyPr wrap="square" lIns="0" tIns="0" rIns="0" bIns="0" rtlCol="0" anchor="t">
            <a:normAutofit/>
          </a:bodyPr>
          <a:lstStyle/>
          <a:p>
            <a:pPr marL="284480" indent="-28448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120"/>
              </a:rPr>
              <a:t>Decide when a </a:t>
            </a:r>
            <a:r>
              <a:rPr lang="en-US" sz="1400" b="1" dirty="0">
                <a:solidFill>
                  <a:srgbClr val="1B365D"/>
                </a:solidFill>
                <a:latin typeface="Poppins Bold" pitchFamily="34" charset="0"/>
                <a:ea typeface="Poppins Bold" pitchFamily="34" charset="-122"/>
                <a:cs typeface="Poppins Bold" pitchFamily="34" charset="-120"/>
              </a:rPr>
              <a:t>modular monolith</a:t>
            </a:r>
            <a:r>
              <a:rPr lang="en-US" sz="1400" dirty="0">
                <a:solidFill>
                  <a:srgbClr val="1B365D"/>
                </a:solidFill>
                <a:latin typeface="Poppins" pitchFamily="34" charset="0"/>
                <a:ea typeface="Poppins" pitchFamily="34" charset="-122"/>
                <a:cs typeface="Poppins" pitchFamily="34" charset="-120"/>
              </a:rPr>
              <a:t> is enough and when a split earns its cost</a:t>
            </a:r>
            <a:endParaRPr lang="en-US" sz="1400" dirty="0"/>
          </a:p>
          <a:p>
            <a:pPr marL="284480" indent="-28448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120"/>
              </a:rPr>
              <a:t>Choose </a:t>
            </a:r>
            <a:r>
              <a:rPr lang="en-US" sz="1400" b="1" dirty="0">
                <a:solidFill>
                  <a:srgbClr val="1B365D"/>
                </a:solidFill>
                <a:latin typeface="Poppins Bold" pitchFamily="34" charset="0"/>
                <a:ea typeface="Poppins Bold" pitchFamily="34" charset="-122"/>
                <a:cs typeface="Poppins Bold" pitchFamily="34" charset="-120"/>
              </a:rPr>
              <a:t>HTTP</a:t>
            </a:r>
            <a:r>
              <a:rPr lang="en-US" sz="1400" dirty="0">
                <a:solidFill>
                  <a:srgbClr val="1B365D"/>
                </a:solidFill>
                <a:latin typeface="Poppins" pitchFamily="34" charset="0"/>
                <a:ea typeface="Poppins" pitchFamily="34" charset="-122"/>
                <a:cs typeface="Poppins" pitchFamily="34" charset="-120"/>
              </a:rPr>
              <a:t> when the caller needs the answer, messages when the work only has to happen</a:t>
            </a:r>
            <a:endParaRPr lang="en-US" sz="1400" dirty="0"/>
          </a:p>
          <a:p>
            <a:pPr marL="284480" indent="-28448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120"/>
              </a:rPr>
              <a:t>Find the boundaries with </a:t>
            </a:r>
            <a:r>
              <a:rPr lang="en-US" sz="1400" b="1" dirty="0">
                <a:solidFill>
                  <a:srgbClr val="1B365D"/>
                </a:solidFill>
                <a:latin typeface="Poppins Bold" pitchFamily="34" charset="0"/>
                <a:ea typeface="Poppins Bold" pitchFamily="34" charset="-122"/>
                <a:cs typeface="Poppins Bold" pitchFamily="34" charset="-120"/>
              </a:rPr>
              <a:t>event storming</a:t>
            </a:r>
            <a:r>
              <a:rPr lang="en-US" sz="1400" dirty="0">
                <a:solidFill>
                  <a:srgbClr val="1B365D"/>
                </a:solidFill>
                <a:latin typeface="Poppins" pitchFamily="34" charset="0"/>
                <a:ea typeface="Poppins" pitchFamily="34" charset="-122"/>
                <a:cs typeface="Poppins" pitchFamily="34" charset="-120"/>
              </a:rPr>
              <a:t>, then name the events that cross them</a:t>
            </a:r>
            <a:endParaRPr lang="en-US" sz="1400" dirty="0"/>
          </a:p>
          <a:p>
            <a:pPr marL="284480" indent="-28448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120"/>
              </a:rPr>
              <a:t>Keep each flow correct under failure with </a:t>
            </a:r>
            <a:r>
              <a:rPr lang="en-US" sz="1400" b="1" dirty="0">
                <a:solidFill>
                  <a:srgbClr val="1B365D"/>
                </a:solidFill>
                <a:latin typeface="Poppins Bold" pitchFamily="34" charset="0"/>
                <a:ea typeface="Poppins Bold" pitchFamily="34" charset="-122"/>
                <a:cs typeface="Poppins Bold" pitchFamily="34" charset="-120"/>
              </a:rPr>
              <a:t>reliability patterns</a:t>
            </a:r>
            <a:endParaRPr lang="en-US" sz="1400" dirty="0"/>
          </a:p>
          <a:p>
            <a:pPr marL="284480" indent="-28448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120"/>
              </a:rPr>
              <a:t>Match each flow to an </a:t>
            </a:r>
            <a:r>
              <a:rPr lang="en-US" sz="1400" b="1" dirty="0">
                <a:solidFill>
                  <a:srgbClr val="1B365D"/>
                </a:solidFill>
                <a:latin typeface="Poppins Bold" pitchFamily="34" charset="0"/>
                <a:ea typeface="Poppins Bold" pitchFamily="34" charset="-122"/>
                <a:cs typeface="Poppins Bold" pitchFamily="34" charset="-120"/>
              </a:rPr>
              <a:t>Azure broker</a:t>
            </a:r>
            <a:r>
              <a:rPr lang="en-US" sz="1400" dirty="0">
                <a:solidFill>
                  <a:srgbClr val="1B365D"/>
                </a:solidFill>
                <a:latin typeface="Poppins" pitchFamily="34" charset="0"/>
                <a:ea typeface="Poppins" pitchFamily="34" charset="-122"/>
                <a:cs typeface="Poppins" pitchFamily="34" charset="-120"/>
              </a:rPr>
              <a:t>, then design the parcel flow in the lab</a:t>
            </a:r>
            <a:endParaRPr lang="en-US" sz="1400" dirty="0"/>
          </a:p>
        </p:txBody>
      </p:sp>
      <p:pic>
        <p:nvPicPr>
          <p:cNvPr id="5" name="Image 0" descr="preencoded.png"/>
          <p:cNvPicPr>
            <a:picLocks noChangeAspect="1"/>
          </p:cNvPicPr>
          <p:nvPr/>
        </p:nvPicPr>
        <p:blipFill>
          <a:blip r:embed="rId3"/>
          <a:stretch>
            <a:fillRect/>
          </a:stretch>
        </p:blipFill>
        <p:spPr>
          <a:xfrm>
            <a:off x="5181371" y="2134890"/>
            <a:ext cx="6400739" cy="360045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7F7F5"/>
        </a:solidFill>
        <a:effectLst/>
      </p:bgPr>
    </p:bg>
    <p:spTree>
      <p:nvGrpSpPr>
        <p:cNvPr id="1" name=""/>
        <p:cNvGrpSpPr/>
        <p:nvPr/>
      </p:nvGrpSpPr>
      <p:grpSpPr>
        <a:xfrm>
          <a:off x="0" y="0"/>
          <a:ext cx="0" cy="0"/>
          <a:chOff x="0" y="0"/>
          <a:chExt cx="0" cy="0"/>
        </a:xfrm>
      </p:grpSpPr>
      <p:sp>
        <p:nvSpPr>
          <p:cNvPr id="2" name="gd-topics-text"/>
          <p:cNvSpPr txBox="1"/>
          <p:nvPr/>
        </p:nvSpPr>
        <p:spPr>
          <a:xfrm>
            <a:off x="692767" y="1150000"/>
            <a:ext cx="4900000" cy="3600000"/>
          </a:xfrm>
          <a:prstGeom prst="rect">
            <a:avLst/>
          </a:prstGeom>
          <a:noFill/>
        </p:spPr>
        <p:txBody>
          <a:bodyPr wrap="square" lIns="0" tIns="0" rIns="0" bIns="0" anchor="ctr">
            <a:spAutoFit/>
          </a:bodyPr>
          <a:lstStyle/>
          <a:p>
            <a:pPr>
              <a:lnSpc>
                <a:spcPct val="95000"/>
              </a:lnSpc>
              <a:spcBef>
                <a:spcPts val="0"/>
              </a:spcBef>
            </a:pPr>
            <a:r>
              <a:rPr sz="24000" b="1">
                <a:solidFill>
                  <a:srgbClr val="D4B483"/>
                </a:solidFill>
                <a:latin typeface="Montserrat"/>
              </a:rPr>
              <a:t>01</a:t>
            </a:r>
          </a:p>
        </p:txBody>
      </p:sp>
      <p:sp>
        <p:nvSpPr>
          <p:cNvPr id="3" name="gd-topics-box"/>
          <p:cNvSpPr/>
          <p:nvPr/>
        </p:nvSpPr>
        <p:spPr>
          <a:xfrm>
            <a:off x="5600000" y="1500000"/>
            <a:ext cx="38089" cy="2900000"/>
          </a:xfrm>
          <a:prstGeom prst="rect">
            <a:avLst/>
          </a:prstGeom>
          <a:solidFill>
            <a:srgbClr val="D4B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gd-topics-text"/>
          <p:cNvSpPr txBox="1"/>
          <p:nvPr/>
        </p:nvSpPr>
        <p:spPr>
          <a:xfrm>
            <a:off x="6100000" y="1500000"/>
            <a:ext cx="5279233" cy="2900000"/>
          </a:xfrm>
          <a:prstGeom prst="rect">
            <a:avLst/>
          </a:prstGeom>
          <a:noFill/>
        </p:spPr>
        <p:txBody>
          <a:bodyPr wrap="square" lIns="0" tIns="0" rIns="0" bIns="0" anchor="ctr">
            <a:spAutoFit/>
          </a:bodyPr>
          <a:lstStyle/>
          <a:p>
            <a:pPr>
              <a:lnSpc>
                <a:spcPct val="95000"/>
              </a:lnSpc>
              <a:spcBef>
                <a:spcPts val="0"/>
              </a:spcBef>
            </a:pPr>
            <a:r>
              <a:rPr sz="4000" b="1">
                <a:solidFill>
                  <a:srgbClr val="2D3436"/>
                </a:solidFill>
                <a:latin typeface="Montserrat"/>
              </a:rPr>
              <a:t>Modular Monolith vs. Microservices</a:t>
            </a:r>
          </a:p>
          <a:p>
            <a:pPr>
              <a:lnSpc>
                <a:spcPct val="95000"/>
              </a:lnSpc>
              <a:spcBef>
                <a:spcPts val="1400"/>
              </a:spcBef>
            </a:pPr>
            <a:r>
              <a:rPr sz="2000" b="0">
                <a:solidFill>
                  <a:srgbClr val="595F67"/>
                </a:solidFill>
                <a:latin typeface="Poppins"/>
              </a:rPr>
              <a:t>When a service boundary earns its cost</a:t>
            </a:r>
          </a:p>
        </p:txBody>
      </p:sp>
      <p:sp>
        <p:nvSpPr>
          <p:cNvPr id="5" name="gd-topics-box"/>
          <p:cNvSpPr/>
          <p:nvPr/>
        </p:nvSpPr>
        <p:spPr>
          <a:xfrm>
            <a:off x="6100000" y="4750000"/>
            <a:ext cx="816372" cy="45720"/>
          </a:xfrm>
          <a:prstGeom prst="rect">
            <a:avLst/>
          </a:prstGeom>
          <a:solidFill>
            <a:srgbClr val="D4B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gd-topics-box"/>
          <p:cNvSpPr/>
          <p:nvPr/>
        </p:nvSpPr>
        <p:spPr>
          <a:xfrm>
            <a:off x="6992572" y="4750000"/>
            <a:ext cx="816372"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gd-topics-box"/>
          <p:cNvSpPr/>
          <p:nvPr/>
        </p:nvSpPr>
        <p:spPr>
          <a:xfrm>
            <a:off x="7885144" y="4750000"/>
            <a:ext cx="816372"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gd-topics-box"/>
          <p:cNvSpPr/>
          <p:nvPr/>
        </p:nvSpPr>
        <p:spPr>
          <a:xfrm>
            <a:off x="8777716" y="4750000"/>
            <a:ext cx="816372"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gd-topics-box"/>
          <p:cNvSpPr/>
          <p:nvPr/>
        </p:nvSpPr>
        <p:spPr>
          <a:xfrm>
            <a:off x="9670288" y="4750000"/>
            <a:ext cx="816372"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gd-topics-box"/>
          <p:cNvSpPr/>
          <p:nvPr/>
        </p:nvSpPr>
        <p:spPr>
          <a:xfrm>
            <a:off x="10562860" y="4750000"/>
            <a:ext cx="816372"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gd-topics-box"/>
          <p:cNvSpPr/>
          <p:nvPr/>
        </p:nvSpPr>
        <p:spPr>
          <a:xfrm>
            <a:off x="812767" y="6190000"/>
            <a:ext cx="10566466" cy="12700"/>
          </a:xfrm>
          <a:prstGeom prst="rect">
            <a:avLst/>
          </a:prstGeom>
          <a:solidFill>
            <a:srgbClr val="E3E1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gd-topics-text"/>
          <p:cNvSpPr txBox="1"/>
          <p:nvPr/>
        </p:nvSpPr>
        <p:spPr>
          <a:xfrm>
            <a:off x="812767" y="6290000"/>
            <a:ext cx="10566466" cy="300000"/>
          </a:xfrm>
          <a:prstGeom prst="rect">
            <a:avLst/>
          </a:prstGeom>
          <a:noFill/>
        </p:spPr>
        <p:txBody>
          <a:bodyPr wrap="square" lIns="0" tIns="0" rIns="0" bIns="0" anchor="t">
            <a:spAutoFit/>
          </a:bodyPr>
          <a:lstStyle/>
          <a:p>
            <a:pPr>
              <a:lnSpc>
                <a:spcPct val="95000"/>
              </a:lnSpc>
              <a:spcBef>
                <a:spcPts val="0"/>
              </a:spcBef>
            </a:pPr>
            <a:r>
              <a:rPr sz="1100" b="0">
                <a:solidFill>
                  <a:srgbClr val="595F67"/>
                </a:solidFill>
                <a:latin typeface="Poppins"/>
              </a:rPr>
              <a:t>Event-Driven Distributed Apps on Azure: Aspire, Dapr &amp; Durable Execution</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09600" y="457200"/>
            <a:ext cx="10972512" cy="453073"/>
          </a:xfrm>
          <a:prstGeom prst="rect">
            <a:avLst/>
          </a:prstGeom>
          <a:noFill/>
          <a:ln/>
        </p:spPr>
        <p:txBody>
          <a:bodyPr wrap="square" lIns="0" tIns="0" rIns="0" bIns="0" rtlCol="0" anchor="t">
            <a:spAutoFit/>
          </a:bodyPr>
          <a:lstStyle/>
          <a:p>
            <a:pPr marL="0" indent="0" algn="l">
              <a:lnSpc>
                <a:spcPct val="92000"/>
              </a:lnSpc>
              <a:buNone/>
            </a:pPr>
            <a:r>
              <a:rPr lang="en-US" sz="3200" b="1" dirty="0">
                <a:solidFill>
                  <a:srgbClr val="0D0D0D"/>
                </a:solidFill>
                <a:latin typeface="Montserrat Bold" pitchFamily="34" charset="0"/>
                <a:ea typeface="Montserrat Bold" pitchFamily="34" charset="-122"/>
                <a:cs typeface="Montserrat Bold" pitchFamily="34" charset="-120"/>
              </a:rPr>
              <a:t>A modular monolith as the starting point</a:t>
            </a:r>
            <a:endParaRPr lang="en-US" sz="3200" dirty="0"/>
          </a:p>
        </p:txBody>
      </p:sp>
      <p:sp>
        <p:nvSpPr>
          <p:cNvPr id="3" name="Text 1"/>
          <p:cNvSpPr/>
          <p:nvPr/>
        </p:nvSpPr>
        <p:spPr>
          <a:xfrm>
            <a:off x="609600" y="1062673"/>
            <a:ext cx="10972512" cy="283154"/>
          </a:xfrm>
          <a:prstGeom prst="rect">
            <a:avLst/>
          </a:prstGeom>
          <a:noFill/>
          <a:ln/>
        </p:spPr>
        <p:txBody>
          <a:bodyPr wrap="square" lIns="0" tIns="0" rIns="0" bIns="0" rtlCol="0" anchor="t">
            <a:spAutoFit/>
          </a:bodyPr>
          <a:lstStyle/>
          <a:p>
            <a:pPr marL="0" indent="0" algn="l">
              <a:lnSpc>
                <a:spcPct val="92000"/>
              </a:lnSpc>
              <a:buNone/>
            </a:pPr>
            <a:r>
              <a:rPr lang="en-US" sz="2000" b="1" dirty="0">
                <a:solidFill>
                  <a:srgbClr val="0D0D0D"/>
                </a:solidFill>
                <a:latin typeface="Montserrat Bold" pitchFamily="34" charset="0"/>
                <a:ea typeface="Montserrat Bold" pitchFamily="34" charset="-122"/>
                <a:cs typeface="Montserrat Bold" pitchFamily="34" charset="-120"/>
              </a:rPr>
              <a:t>Service boundaries inside one deployable unit</a:t>
            </a:r>
            <a:endParaRPr lang="en-US" sz="2000" dirty="0"/>
          </a:p>
        </p:txBody>
      </p:sp>
      <p:sp>
        <p:nvSpPr>
          <p:cNvPr id="4" name="Text 2"/>
          <p:cNvSpPr/>
          <p:nvPr/>
        </p:nvSpPr>
        <p:spPr>
          <a:xfrm>
            <a:off x="609600" y="2943245"/>
            <a:ext cx="4267078" cy="2124075"/>
          </a:xfrm>
          <a:prstGeom prst="rect">
            <a:avLst/>
          </a:prstGeom>
          <a:noFill/>
          <a:ln/>
        </p:spPr>
        <p:txBody>
          <a:bodyPr wrap="square" lIns="0" tIns="0" rIns="0" bIns="0" rtlCol="0" anchor="t">
            <a:normAutofit/>
          </a:bodyPr>
          <a:lstStyle/>
          <a:p>
            <a:pPr marL="284480" indent="-28448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120"/>
              </a:rPr>
              <a:t>Split for </a:t>
            </a:r>
            <a:r>
              <a:rPr lang="en-US" sz="1400" b="1" dirty="0">
                <a:solidFill>
                  <a:srgbClr val="1B365D"/>
                </a:solidFill>
                <a:latin typeface="Poppins Bold" pitchFamily="34" charset="0"/>
                <a:ea typeface="Poppins Bold" pitchFamily="34" charset="-122"/>
                <a:cs typeface="Poppins Bold" pitchFamily="34" charset="-120"/>
              </a:rPr>
              <a:t>team size</a:t>
            </a:r>
            <a:r>
              <a:rPr lang="en-US" sz="1400" dirty="0">
                <a:solidFill>
                  <a:srgbClr val="1B365D"/>
                </a:solidFill>
                <a:latin typeface="Poppins" pitchFamily="34" charset="0"/>
                <a:ea typeface="Poppins" pitchFamily="34" charset="-122"/>
                <a:cs typeface="Poppins" pitchFamily="34" charset="-120"/>
              </a:rPr>
              <a:t>, independent deployment, scaling or data ownership</a:t>
            </a:r>
            <a:endParaRPr lang="en-US" sz="1400" dirty="0"/>
          </a:p>
          <a:p>
            <a:pPr marL="284480" indent="-28448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120"/>
              </a:rPr>
              <a:t>A </a:t>
            </a:r>
            <a:r>
              <a:rPr lang="en-US" sz="1400" b="1" dirty="0">
                <a:solidFill>
                  <a:srgbClr val="1B365D"/>
                </a:solidFill>
                <a:latin typeface="Poppins Bold" pitchFamily="34" charset="0"/>
                <a:ea typeface="Poppins Bold" pitchFamily="34" charset="-122"/>
                <a:cs typeface="Poppins Bold" pitchFamily="34" charset="-120"/>
              </a:rPr>
              <a:t>modular monolith</a:t>
            </a:r>
            <a:r>
              <a:rPr lang="en-US" sz="1400" dirty="0">
                <a:solidFill>
                  <a:srgbClr val="1B365D"/>
                </a:solidFill>
                <a:latin typeface="Poppins" pitchFamily="34" charset="0"/>
                <a:ea typeface="Poppins" pitchFamily="34" charset="-122"/>
                <a:cs typeface="Poppins" pitchFamily="34" charset="-120"/>
              </a:rPr>
              <a:t> deploys as one unit, organized into modules</a:t>
            </a:r>
            <a:endParaRPr lang="en-US" sz="1400" dirty="0"/>
          </a:p>
          <a:p>
            <a:pPr marL="284480" indent="-28448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120"/>
              </a:rPr>
              <a:t>Each module owns its tables and exposes a small public interface</a:t>
            </a:r>
            <a:endParaRPr lang="en-US" sz="1400" dirty="0"/>
          </a:p>
          <a:p>
            <a:pPr marL="284480" indent="-28448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120"/>
              </a:rPr>
              <a:t>Moving a module out turns its interface into the </a:t>
            </a:r>
            <a:r>
              <a:rPr lang="en-US" sz="1400" b="1" dirty="0">
                <a:solidFill>
                  <a:srgbClr val="1B365D"/>
                </a:solidFill>
                <a:latin typeface="Poppins Bold" pitchFamily="34" charset="0"/>
                <a:ea typeface="Poppins Bold" pitchFamily="34" charset="-122"/>
                <a:cs typeface="Poppins Bold" pitchFamily="34" charset="-120"/>
              </a:rPr>
              <a:t>service contract</a:t>
            </a:r>
            <a:endParaRPr lang="en-US" sz="1400" dirty="0"/>
          </a:p>
        </p:txBody>
      </p:sp>
      <p:pic>
        <p:nvPicPr>
          <p:cNvPr id="5" name="Image 0" descr="preencoded.png"/>
          <p:cNvPicPr>
            <a:picLocks noChangeAspect="1"/>
          </p:cNvPicPr>
          <p:nvPr/>
        </p:nvPicPr>
        <p:blipFill>
          <a:blip r:embed="rId3"/>
          <a:stretch>
            <a:fillRect/>
          </a:stretch>
        </p:blipFill>
        <p:spPr>
          <a:xfrm>
            <a:off x="5181371" y="2668290"/>
            <a:ext cx="6400739" cy="253365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09600" y="457200"/>
            <a:ext cx="10972512" cy="453073"/>
          </a:xfrm>
          <a:prstGeom prst="rect">
            <a:avLst/>
          </a:prstGeom>
          <a:noFill/>
          <a:ln/>
        </p:spPr>
        <p:txBody>
          <a:bodyPr wrap="square" lIns="0" tIns="0" rIns="0" bIns="0" rtlCol="0" anchor="t">
            <a:spAutoFit/>
          </a:bodyPr>
          <a:lstStyle/>
          <a:p>
            <a:pPr marL="0" indent="0" algn="l">
              <a:lnSpc>
                <a:spcPct val="92000"/>
              </a:lnSpc>
              <a:buNone/>
            </a:pPr>
            <a:r>
              <a:rPr lang="en-US" sz="3200" b="1" dirty="0">
                <a:solidFill>
                  <a:srgbClr val="0D0D0D"/>
                </a:solidFill>
                <a:latin typeface="Montserrat Bold" pitchFamily="34" charset="0"/>
                <a:ea typeface="Montserrat Bold" pitchFamily="34" charset="-122"/>
                <a:cs typeface="Montserrat Bold" pitchFamily="34" charset="-120"/>
              </a:rPr>
              <a:t>The cost of distribution</a:t>
            </a:r>
            <a:endParaRPr lang="en-US" sz="3200" dirty="0"/>
          </a:p>
        </p:txBody>
      </p:sp>
      <p:sp>
        <p:nvSpPr>
          <p:cNvPr id="3" name="Text 1"/>
          <p:cNvSpPr/>
          <p:nvPr/>
        </p:nvSpPr>
        <p:spPr>
          <a:xfrm>
            <a:off x="609600" y="1062673"/>
            <a:ext cx="10972512" cy="283154"/>
          </a:xfrm>
          <a:prstGeom prst="rect">
            <a:avLst/>
          </a:prstGeom>
          <a:noFill/>
          <a:ln/>
        </p:spPr>
        <p:txBody>
          <a:bodyPr wrap="square" lIns="0" tIns="0" rIns="0" bIns="0" rtlCol="0" anchor="t">
            <a:spAutoFit/>
          </a:bodyPr>
          <a:lstStyle/>
          <a:p>
            <a:pPr marL="0" indent="0" algn="l">
              <a:lnSpc>
                <a:spcPct val="92000"/>
              </a:lnSpc>
              <a:buNone/>
            </a:pPr>
            <a:r>
              <a:rPr lang="en-US" sz="2000" b="1" dirty="0">
                <a:solidFill>
                  <a:srgbClr val="0D0D0D"/>
                </a:solidFill>
                <a:latin typeface="Montserrat Bold" pitchFamily="34" charset="0"/>
                <a:ea typeface="Montserrat Bold" pitchFamily="34" charset="-122"/>
                <a:cs typeface="Montserrat Bold" pitchFamily="34" charset="-120"/>
              </a:rPr>
              <a:t>Each arrow between Contoso services is a call that can fail</a:t>
            </a:r>
            <a:endParaRPr lang="en-US" sz="2000" dirty="0"/>
          </a:p>
        </p:txBody>
      </p:sp>
      <p:sp>
        <p:nvSpPr>
          <p:cNvPr id="4" name="Text 2"/>
          <p:cNvSpPr/>
          <p:nvPr/>
        </p:nvSpPr>
        <p:spPr>
          <a:xfrm>
            <a:off x="609600" y="2693627"/>
            <a:ext cx="4267078" cy="2666206"/>
          </a:xfrm>
          <a:prstGeom prst="rect">
            <a:avLst/>
          </a:prstGeom>
          <a:noFill/>
          <a:ln/>
        </p:spPr>
        <p:txBody>
          <a:bodyPr wrap="square" lIns="0" tIns="0" rIns="0" bIns="0" rtlCol="0" anchor="t">
            <a:normAutofit/>
          </a:bodyPr>
          <a:lstStyle/>
          <a:p>
            <a:pPr marL="284480" indent="-28448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120"/>
              </a:rPr>
              <a:t>With </a:t>
            </a:r>
            <a:r>
              <a:rPr lang="en-US" sz="1400" b="1" dirty="0">
                <a:solidFill>
                  <a:srgbClr val="1B365D"/>
                </a:solidFill>
                <a:latin typeface="Poppins Bold" pitchFamily="34" charset="0"/>
                <a:ea typeface="Poppins Bold" pitchFamily="34" charset="-122"/>
                <a:cs typeface="Poppins Bold" pitchFamily="34" charset="-120"/>
              </a:rPr>
              <a:t>eventual consistency</a:t>
            </a:r>
            <a:r>
              <a:rPr lang="en-US" sz="1400" dirty="0">
                <a:solidFill>
                  <a:srgbClr val="1B365D"/>
                </a:solidFill>
                <a:latin typeface="Poppins" pitchFamily="34" charset="0"/>
                <a:ea typeface="Poppins" pitchFamily="34" charset="-122"/>
                <a:cs typeface="Poppins" pitchFamily="34" charset="-120"/>
              </a:rPr>
              <a:t>, a booking can be confirmed before its van is assigned</a:t>
            </a:r>
            <a:endParaRPr lang="en-US" sz="1400" dirty="0"/>
          </a:p>
          <a:p>
            <a:pPr marL="284480" indent="-28448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120"/>
              </a:rPr>
              <a:t>Booking calls routing and billing, and each </a:t>
            </a:r>
            <a:r>
              <a:rPr lang="en-US" sz="1400" b="1" dirty="0">
                <a:solidFill>
                  <a:srgbClr val="1B365D"/>
                </a:solidFill>
                <a:latin typeface="Poppins Bold" pitchFamily="34" charset="0"/>
                <a:ea typeface="Poppins Bold" pitchFamily="34" charset="-122"/>
                <a:cs typeface="Poppins Bold" pitchFamily="34" charset="-120"/>
              </a:rPr>
              <a:t>network call</a:t>
            </a:r>
            <a:r>
              <a:rPr lang="en-US" sz="1400" dirty="0">
                <a:solidFill>
                  <a:srgbClr val="1B365D"/>
                </a:solidFill>
                <a:latin typeface="Poppins" pitchFamily="34" charset="0"/>
                <a:ea typeface="Poppins" pitchFamily="34" charset="-122"/>
                <a:cs typeface="Poppins" pitchFamily="34" charset="-120"/>
              </a:rPr>
              <a:t> can fail on its own</a:t>
            </a:r>
            <a:endParaRPr lang="en-US" sz="1400" dirty="0"/>
          </a:p>
          <a:p>
            <a:pPr marL="284480" indent="-28448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120"/>
              </a:rPr>
              <a:t>Every service needs its own pipeline, dashboards and rollback path</a:t>
            </a:r>
            <a:endParaRPr lang="en-US" sz="1400" dirty="0"/>
          </a:p>
          <a:p>
            <a:pPr marL="284480" indent="-28448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120"/>
              </a:rPr>
              <a:t>A new field on </a:t>
            </a:r>
            <a:r>
              <a:rPr lang="en-US" sz="1400" b="1" dirty="0">
                <a:solidFill>
                  <a:srgbClr val="1B365D"/>
                </a:solidFill>
                <a:latin typeface="Poppins Bold" pitchFamily="34" charset="0"/>
                <a:ea typeface="Poppins Bold" pitchFamily="34" charset="-122"/>
                <a:cs typeface="Poppins Bold" pitchFamily="34" charset="-120"/>
              </a:rPr>
              <a:t>ShipmentBooked</a:t>
            </a:r>
            <a:r>
              <a:rPr lang="en-US" sz="1400" dirty="0">
                <a:solidFill>
                  <a:srgbClr val="1B365D"/>
                </a:solidFill>
                <a:latin typeface="Poppins" pitchFamily="34" charset="0"/>
                <a:ea typeface="Poppins" pitchFamily="34" charset="-122"/>
                <a:cs typeface="Poppins" pitchFamily="34" charset="-120"/>
              </a:rPr>
              <a:t> must not break consumers of the old shape</a:t>
            </a:r>
            <a:endParaRPr lang="en-US" sz="1400" dirty="0"/>
          </a:p>
          <a:p>
            <a:pPr marL="284480" indent="-28448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120"/>
              </a:rPr>
              <a:t>Draw each boundary where the business language changes</a:t>
            </a:r>
            <a:endParaRPr lang="en-US" sz="1400" dirty="0"/>
          </a:p>
        </p:txBody>
      </p:sp>
      <p:pic>
        <p:nvPicPr>
          <p:cNvPr id="5" name="Image 0" descr="preencoded.png"/>
          <p:cNvPicPr>
            <a:picLocks noChangeAspect="1"/>
          </p:cNvPicPr>
          <p:nvPr/>
        </p:nvPicPr>
        <p:blipFill>
          <a:blip r:embed="rId3"/>
          <a:stretch>
            <a:fillRect/>
          </a:stretch>
        </p:blipFill>
        <p:spPr>
          <a:xfrm>
            <a:off x="5181371" y="2134890"/>
            <a:ext cx="6400739" cy="360045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7F7F5"/>
        </a:solidFill>
        <a:effectLst/>
      </p:bgPr>
    </p:bg>
    <p:spTree>
      <p:nvGrpSpPr>
        <p:cNvPr id="1" name=""/>
        <p:cNvGrpSpPr/>
        <p:nvPr/>
      </p:nvGrpSpPr>
      <p:grpSpPr>
        <a:xfrm>
          <a:off x="0" y="0"/>
          <a:ext cx="0" cy="0"/>
          <a:chOff x="0" y="0"/>
          <a:chExt cx="0" cy="0"/>
        </a:xfrm>
      </p:grpSpPr>
      <p:sp>
        <p:nvSpPr>
          <p:cNvPr id="2" name="gd-topics-text"/>
          <p:cNvSpPr txBox="1"/>
          <p:nvPr/>
        </p:nvSpPr>
        <p:spPr>
          <a:xfrm>
            <a:off x="692767" y="1150000"/>
            <a:ext cx="4900000" cy="3600000"/>
          </a:xfrm>
          <a:prstGeom prst="rect">
            <a:avLst/>
          </a:prstGeom>
          <a:noFill/>
        </p:spPr>
        <p:txBody>
          <a:bodyPr wrap="square" lIns="0" tIns="0" rIns="0" bIns="0" anchor="ctr">
            <a:spAutoFit/>
          </a:bodyPr>
          <a:lstStyle/>
          <a:p>
            <a:pPr>
              <a:lnSpc>
                <a:spcPct val="95000"/>
              </a:lnSpc>
              <a:spcBef>
                <a:spcPts val="0"/>
              </a:spcBef>
            </a:pPr>
            <a:r>
              <a:rPr sz="24000" b="1">
                <a:solidFill>
                  <a:srgbClr val="D4B483"/>
                </a:solidFill>
                <a:latin typeface="Montserrat"/>
              </a:rPr>
              <a:t>02</a:t>
            </a:r>
          </a:p>
        </p:txBody>
      </p:sp>
      <p:sp>
        <p:nvSpPr>
          <p:cNvPr id="3" name="gd-topics-box"/>
          <p:cNvSpPr/>
          <p:nvPr/>
        </p:nvSpPr>
        <p:spPr>
          <a:xfrm>
            <a:off x="5600000" y="1500000"/>
            <a:ext cx="38089" cy="2900000"/>
          </a:xfrm>
          <a:prstGeom prst="rect">
            <a:avLst/>
          </a:prstGeom>
          <a:solidFill>
            <a:srgbClr val="D4B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gd-topics-text"/>
          <p:cNvSpPr txBox="1"/>
          <p:nvPr/>
        </p:nvSpPr>
        <p:spPr>
          <a:xfrm>
            <a:off x="6100000" y="1500000"/>
            <a:ext cx="5279233" cy="2900000"/>
          </a:xfrm>
          <a:prstGeom prst="rect">
            <a:avLst/>
          </a:prstGeom>
          <a:noFill/>
        </p:spPr>
        <p:txBody>
          <a:bodyPr wrap="square" lIns="0" tIns="0" rIns="0" bIns="0" anchor="ctr">
            <a:spAutoFit/>
          </a:bodyPr>
          <a:lstStyle/>
          <a:p>
            <a:pPr>
              <a:lnSpc>
                <a:spcPct val="95000"/>
              </a:lnSpc>
              <a:spcBef>
                <a:spcPts val="0"/>
              </a:spcBef>
            </a:pPr>
            <a:r>
              <a:rPr sz="4000" b="1">
                <a:solidFill>
                  <a:srgbClr val="2D3436"/>
                </a:solidFill>
                <a:latin typeface="Montserrat"/>
              </a:rPr>
              <a:t>Sync vs. Async: Commands &amp; Events</a:t>
            </a:r>
          </a:p>
          <a:p>
            <a:pPr>
              <a:lnSpc>
                <a:spcPct val="95000"/>
              </a:lnSpc>
              <a:spcBef>
                <a:spcPts val="1400"/>
              </a:spcBef>
            </a:pPr>
            <a:r>
              <a:rPr sz="2000" b="0">
                <a:solidFill>
                  <a:srgbClr val="595F67"/>
                </a:solidFill>
                <a:latin typeface="Poppins"/>
              </a:rPr>
              <a:t>Request/reply, messages and temporal coupling</a:t>
            </a:r>
          </a:p>
        </p:txBody>
      </p:sp>
      <p:sp>
        <p:nvSpPr>
          <p:cNvPr id="5" name="gd-topics-box"/>
          <p:cNvSpPr/>
          <p:nvPr/>
        </p:nvSpPr>
        <p:spPr>
          <a:xfrm>
            <a:off x="6100000" y="4750000"/>
            <a:ext cx="816372"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gd-topics-box"/>
          <p:cNvSpPr/>
          <p:nvPr/>
        </p:nvSpPr>
        <p:spPr>
          <a:xfrm>
            <a:off x="6992572" y="4750000"/>
            <a:ext cx="816372" cy="45720"/>
          </a:xfrm>
          <a:prstGeom prst="rect">
            <a:avLst/>
          </a:prstGeom>
          <a:solidFill>
            <a:srgbClr val="D4B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gd-topics-box"/>
          <p:cNvSpPr/>
          <p:nvPr/>
        </p:nvSpPr>
        <p:spPr>
          <a:xfrm>
            <a:off x="7885144" y="4750000"/>
            <a:ext cx="816372"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gd-topics-box"/>
          <p:cNvSpPr/>
          <p:nvPr/>
        </p:nvSpPr>
        <p:spPr>
          <a:xfrm>
            <a:off x="8777716" y="4750000"/>
            <a:ext cx="816372"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gd-topics-box"/>
          <p:cNvSpPr/>
          <p:nvPr/>
        </p:nvSpPr>
        <p:spPr>
          <a:xfrm>
            <a:off x="9670288" y="4750000"/>
            <a:ext cx="816372"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gd-topics-box"/>
          <p:cNvSpPr/>
          <p:nvPr/>
        </p:nvSpPr>
        <p:spPr>
          <a:xfrm>
            <a:off x="10562860" y="4750000"/>
            <a:ext cx="816372"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gd-topics-box"/>
          <p:cNvSpPr/>
          <p:nvPr/>
        </p:nvSpPr>
        <p:spPr>
          <a:xfrm>
            <a:off x="812767" y="6190000"/>
            <a:ext cx="10566466" cy="12700"/>
          </a:xfrm>
          <a:prstGeom prst="rect">
            <a:avLst/>
          </a:prstGeom>
          <a:solidFill>
            <a:srgbClr val="E3E1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gd-topics-text"/>
          <p:cNvSpPr txBox="1"/>
          <p:nvPr/>
        </p:nvSpPr>
        <p:spPr>
          <a:xfrm>
            <a:off x="812767" y="6290000"/>
            <a:ext cx="10566466" cy="300000"/>
          </a:xfrm>
          <a:prstGeom prst="rect">
            <a:avLst/>
          </a:prstGeom>
          <a:noFill/>
        </p:spPr>
        <p:txBody>
          <a:bodyPr wrap="square" lIns="0" tIns="0" rIns="0" bIns="0" anchor="t">
            <a:spAutoFit/>
          </a:bodyPr>
          <a:lstStyle/>
          <a:p>
            <a:pPr>
              <a:lnSpc>
                <a:spcPct val="95000"/>
              </a:lnSpc>
              <a:spcBef>
                <a:spcPts val="0"/>
              </a:spcBef>
            </a:pPr>
            <a:r>
              <a:rPr sz="1100" b="0">
                <a:solidFill>
                  <a:srgbClr val="595F67"/>
                </a:solidFill>
                <a:latin typeface="Poppins"/>
              </a:rPr>
              <a:t>Event-Driven Distributed Apps on Azure: Aspire, Dapr &amp; Durable Execution</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09600" y="457200"/>
            <a:ext cx="10972512" cy="453073"/>
          </a:xfrm>
          <a:prstGeom prst="rect">
            <a:avLst/>
          </a:prstGeom>
          <a:noFill/>
          <a:ln/>
        </p:spPr>
        <p:txBody>
          <a:bodyPr wrap="square" lIns="0" tIns="0" rIns="0" bIns="0" rtlCol="0" anchor="t">
            <a:spAutoFit/>
          </a:bodyPr>
          <a:lstStyle/>
          <a:p>
            <a:pPr marL="0" indent="0" algn="l">
              <a:lnSpc>
                <a:spcPct val="92000"/>
              </a:lnSpc>
              <a:buNone/>
            </a:pPr>
            <a:r>
              <a:rPr lang="en-US" sz="3200" b="1" dirty="0">
                <a:solidFill>
                  <a:srgbClr val="0D0D0D"/>
                </a:solidFill>
                <a:latin typeface="Montserrat Bold" pitchFamily="34" charset="0"/>
                <a:ea typeface="Montserrat Bold" pitchFamily="34" charset="-122"/>
                <a:cs typeface="Montserrat Bold" pitchFamily="34" charset="-120"/>
              </a:rPr>
              <a:t>Commands, events and queries</a:t>
            </a:r>
            <a:endParaRPr lang="en-US" sz="3200" dirty="0"/>
          </a:p>
        </p:txBody>
      </p:sp>
      <p:sp>
        <p:nvSpPr>
          <p:cNvPr id="3" name="Text 1"/>
          <p:cNvSpPr/>
          <p:nvPr/>
        </p:nvSpPr>
        <p:spPr>
          <a:xfrm>
            <a:off x="609600" y="1062673"/>
            <a:ext cx="10972512" cy="283154"/>
          </a:xfrm>
          <a:prstGeom prst="rect">
            <a:avLst/>
          </a:prstGeom>
          <a:noFill/>
          <a:ln/>
        </p:spPr>
        <p:txBody>
          <a:bodyPr wrap="square" lIns="0" tIns="0" rIns="0" bIns="0" rtlCol="0" anchor="t">
            <a:spAutoFit/>
          </a:bodyPr>
          <a:lstStyle/>
          <a:p>
            <a:pPr marL="0" indent="0" algn="l">
              <a:lnSpc>
                <a:spcPct val="92000"/>
              </a:lnSpc>
              <a:buNone/>
            </a:pPr>
            <a:r>
              <a:rPr lang="en-US" sz="2000" b="1" dirty="0">
                <a:solidFill>
                  <a:srgbClr val="0D0D0D"/>
                </a:solidFill>
                <a:latin typeface="Montserrat Bold" pitchFamily="34" charset="0"/>
                <a:ea typeface="Montserrat Bold" pitchFamily="34" charset="-122"/>
                <a:cs typeface="Montserrat Bold" pitchFamily="34" charset="-120"/>
              </a:rPr>
              <a:t>What the sender expects decides the kind of message</a:t>
            </a:r>
            <a:endParaRPr lang="en-US" sz="2000" dirty="0"/>
          </a:p>
        </p:txBody>
      </p:sp>
      <p:sp>
        <p:nvSpPr>
          <p:cNvPr id="4" name="Text 2"/>
          <p:cNvSpPr/>
          <p:nvPr/>
        </p:nvSpPr>
        <p:spPr>
          <a:xfrm>
            <a:off x="609600" y="2943245"/>
            <a:ext cx="4267078" cy="2124075"/>
          </a:xfrm>
          <a:prstGeom prst="rect">
            <a:avLst/>
          </a:prstGeom>
          <a:noFill/>
          <a:ln/>
        </p:spPr>
        <p:txBody>
          <a:bodyPr wrap="square" lIns="0" tIns="0" rIns="0" bIns="0" rtlCol="0" anchor="t">
            <a:normAutofit/>
          </a:bodyPr>
          <a:lstStyle/>
          <a:p>
            <a:pPr marL="284480" indent="-28448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120"/>
              </a:rPr>
              <a:t>A </a:t>
            </a:r>
            <a:r>
              <a:rPr lang="en-US" sz="1400" b="1" dirty="0">
                <a:solidFill>
                  <a:srgbClr val="1B365D"/>
                </a:solidFill>
                <a:latin typeface="Poppins Bold" pitchFamily="34" charset="0"/>
                <a:ea typeface="Poppins Bold" pitchFamily="34" charset="-122"/>
                <a:cs typeface="Poppins Bold" pitchFamily="34" charset="-120"/>
              </a:rPr>
              <a:t>command</a:t>
            </a:r>
            <a:r>
              <a:rPr lang="en-US" sz="1400" dirty="0">
                <a:solidFill>
                  <a:srgbClr val="1B365D"/>
                </a:solidFill>
                <a:latin typeface="Poppins" pitchFamily="34" charset="0"/>
                <a:ea typeface="Poppins" pitchFamily="34" charset="-122"/>
                <a:cs typeface="Poppins" pitchFamily="34" charset="-120"/>
              </a:rPr>
              <a:t> asks a named service to act and expects an action or a failure</a:t>
            </a:r>
            <a:endParaRPr lang="en-US" sz="1400" dirty="0"/>
          </a:p>
          <a:p>
            <a:pPr marL="284480" indent="-28448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120"/>
              </a:rPr>
              <a:t>An </a:t>
            </a:r>
            <a:r>
              <a:rPr lang="en-US" sz="1400" b="1" dirty="0">
                <a:solidFill>
                  <a:srgbClr val="1B365D"/>
                </a:solidFill>
                <a:latin typeface="Poppins Bold" pitchFamily="34" charset="0"/>
                <a:ea typeface="Poppins Bold" pitchFamily="34" charset="-122"/>
                <a:cs typeface="Poppins Bold" pitchFamily="34" charset="-120"/>
              </a:rPr>
              <a:t>event</a:t>
            </a:r>
            <a:r>
              <a:rPr lang="en-US" sz="1400" dirty="0">
                <a:solidFill>
                  <a:srgbClr val="1B365D"/>
                </a:solidFill>
                <a:latin typeface="Poppins" pitchFamily="34" charset="0"/>
                <a:ea typeface="Poppins" pitchFamily="34" charset="-122"/>
                <a:cs typeface="Poppins" pitchFamily="34" charset="-120"/>
              </a:rPr>
              <a:t> reports a fact, and the publisher does not know who listens</a:t>
            </a:r>
            <a:endParaRPr lang="en-US" sz="1400" dirty="0"/>
          </a:p>
          <a:p>
            <a:pPr marL="284480" indent="-28448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120"/>
              </a:rPr>
              <a:t>A </a:t>
            </a:r>
            <a:r>
              <a:rPr lang="en-US" sz="1400" b="1" dirty="0">
                <a:solidFill>
                  <a:srgbClr val="1B365D"/>
                </a:solidFill>
                <a:latin typeface="Poppins Bold" pitchFamily="34" charset="0"/>
                <a:ea typeface="Poppins Bold" pitchFamily="34" charset="-122"/>
                <a:cs typeface="Poppins Bold" pitchFamily="34" charset="-120"/>
              </a:rPr>
              <a:t>query</a:t>
            </a:r>
            <a:r>
              <a:rPr lang="en-US" sz="1400" dirty="0">
                <a:solidFill>
                  <a:srgbClr val="1B365D"/>
                </a:solidFill>
                <a:latin typeface="Poppins" pitchFamily="34" charset="0"/>
                <a:ea typeface="Poppins" pitchFamily="34" charset="-122"/>
                <a:cs typeface="Poppins" pitchFamily="34" charset="-120"/>
              </a:rPr>
              <a:t> reads current data and changes nothing, so HTTP GET fits</a:t>
            </a:r>
            <a:endParaRPr lang="en-US" sz="1400" dirty="0"/>
          </a:p>
          <a:p>
            <a:pPr marL="284480" indent="-28448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120"/>
              </a:rPr>
              <a:t>Commands use imperative verbs, events use the past tense</a:t>
            </a:r>
            <a:endParaRPr lang="en-US" sz="1400" dirty="0"/>
          </a:p>
        </p:txBody>
      </p:sp>
      <p:pic>
        <p:nvPicPr>
          <p:cNvPr id="5" name="Image 0" descr="preencoded.png"/>
          <p:cNvPicPr>
            <a:picLocks noChangeAspect="1"/>
          </p:cNvPicPr>
          <p:nvPr/>
        </p:nvPicPr>
        <p:blipFill>
          <a:blip r:embed="rId3"/>
          <a:stretch>
            <a:fillRect/>
          </a:stretch>
        </p:blipFill>
        <p:spPr>
          <a:xfrm>
            <a:off x="5181371" y="2134890"/>
            <a:ext cx="6400739" cy="360045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09600" y="457200"/>
            <a:ext cx="10972512" cy="453073"/>
          </a:xfrm>
          <a:prstGeom prst="rect">
            <a:avLst/>
          </a:prstGeom>
          <a:noFill/>
          <a:ln/>
        </p:spPr>
        <p:txBody>
          <a:bodyPr wrap="square" lIns="0" tIns="0" rIns="0" bIns="0" rtlCol="0" anchor="t">
            <a:spAutoFit/>
          </a:bodyPr>
          <a:lstStyle/>
          <a:p>
            <a:pPr marL="0" indent="0" algn="l">
              <a:lnSpc>
                <a:spcPct val="92000"/>
              </a:lnSpc>
              <a:buNone/>
            </a:pPr>
            <a:r>
              <a:rPr lang="en-US" sz="3200" b="1" dirty="0">
                <a:solidFill>
                  <a:srgbClr val="0D0D0D"/>
                </a:solidFill>
                <a:latin typeface="Montserrat Bold" pitchFamily="34" charset="0"/>
                <a:ea typeface="Montserrat Bold" pitchFamily="34" charset="-122"/>
                <a:cs typeface="Montserrat Bold" pitchFamily="34" charset="-120"/>
              </a:rPr>
              <a:t>Request/reply and fire-and-forget</a:t>
            </a:r>
            <a:endParaRPr lang="en-US" sz="3200" dirty="0"/>
          </a:p>
        </p:txBody>
      </p:sp>
      <p:sp>
        <p:nvSpPr>
          <p:cNvPr id="3" name="Text 1"/>
          <p:cNvSpPr/>
          <p:nvPr/>
        </p:nvSpPr>
        <p:spPr>
          <a:xfrm>
            <a:off x="609600" y="1062673"/>
            <a:ext cx="10972512" cy="283154"/>
          </a:xfrm>
          <a:prstGeom prst="rect">
            <a:avLst/>
          </a:prstGeom>
          <a:noFill/>
          <a:ln/>
        </p:spPr>
        <p:txBody>
          <a:bodyPr wrap="square" lIns="0" tIns="0" rIns="0" bIns="0" rtlCol="0" anchor="t">
            <a:spAutoFit/>
          </a:bodyPr>
          <a:lstStyle/>
          <a:p>
            <a:pPr marL="0" indent="0" algn="l">
              <a:lnSpc>
                <a:spcPct val="92000"/>
              </a:lnSpc>
              <a:buNone/>
            </a:pPr>
            <a:r>
              <a:rPr lang="en-US" sz="2000" b="1" dirty="0">
                <a:solidFill>
                  <a:srgbClr val="0D0D0D"/>
                </a:solidFill>
                <a:latin typeface="Montserrat Bold" pitchFamily="34" charset="0"/>
                <a:ea typeface="Montserrat Bold" pitchFamily="34" charset="-122"/>
                <a:cs typeface="Montserrat Bold" pitchFamily="34" charset="-120"/>
              </a:rPr>
              <a:t>Both styles appear in one booking</a:t>
            </a:r>
            <a:endParaRPr lang="en-US" sz="2000" dirty="0"/>
          </a:p>
        </p:txBody>
      </p:sp>
      <p:sp>
        <p:nvSpPr>
          <p:cNvPr id="4" name="Text 2"/>
          <p:cNvSpPr/>
          <p:nvPr/>
        </p:nvSpPr>
        <p:spPr>
          <a:xfrm>
            <a:off x="609600" y="2693626"/>
            <a:ext cx="4267078" cy="2666206"/>
          </a:xfrm>
          <a:prstGeom prst="rect">
            <a:avLst/>
          </a:prstGeom>
          <a:noFill/>
          <a:ln/>
        </p:spPr>
        <p:txBody>
          <a:bodyPr wrap="square" lIns="0" tIns="0" rIns="0" bIns="0" rtlCol="0" anchor="t">
            <a:normAutofit/>
          </a:bodyPr>
          <a:lstStyle/>
          <a:p>
            <a:pPr marL="284480" indent="-28448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120"/>
              </a:rPr>
              <a:t>With </a:t>
            </a:r>
            <a:r>
              <a:rPr lang="en-US" sz="1400" b="1" dirty="0">
                <a:solidFill>
                  <a:srgbClr val="1B365D"/>
                </a:solidFill>
                <a:latin typeface="Poppins Bold" pitchFamily="34" charset="0"/>
                <a:ea typeface="Poppins Bold" pitchFamily="34" charset="-122"/>
                <a:cs typeface="Poppins Bold" pitchFamily="34" charset="-120"/>
              </a:rPr>
              <a:t>request/reply</a:t>
            </a:r>
            <a:r>
              <a:rPr lang="en-US" sz="1400" dirty="0">
                <a:solidFill>
                  <a:srgbClr val="1B365D"/>
                </a:solidFill>
                <a:latin typeface="Poppins" pitchFamily="34" charset="0"/>
                <a:ea typeface="Poppins" pitchFamily="34" charset="-122"/>
                <a:cs typeface="Poppins" pitchFamily="34" charset="-120"/>
              </a:rPr>
              <a:t> the caller waits, and HTTP is the default transport</a:t>
            </a:r>
            <a:endParaRPr lang="en-US" sz="1400" dirty="0"/>
          </a:p>
          <a:p>
            <a:pPr marL="284480" indent="-28448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120"/>
              </a:rPr>
              <a:t>With </a:t>
            </a:r>
            <a:r>
              <a:rPr lang="en-US" sz="1400" b="1" dirty="0">
                <a:solidFill>
                  <a:srgbClr val="1B365D"/>
                </a:solidFill>
                <a:latin typeface="Poppins Bold" pitchFamily="34" charset="0"/>
                <a:ea typeface="Poppins Bold" pitchFamily="34" charset="-122"/>
                <a:cs typeface="Poppins Bold" pitchFamily="34" charset="-120"/>
              </a:rPr>
              <a:t>fire-and-forget</a:t>
            </a:r>
            <a:r>
              <a:rPr lang="en-US" sz="1400" dirty="0">
                <a:solidFill>
                  <a:srgbClr val="1B365D"/>
                </a:solidFill>
                <a:latin typeface="Poppins" pitchFamily="34" charset="0"/>
                <a:ea typeface="Poppins" pitchFamily="34" charset="-122"/>
                <a:cs typeface="Poppins" pitchFamily="34" charset="-120"/>
              </a:rPr>
              <a:t> the broker stores the message until a consumer is ready</a:t>
            </a:r>
            <a:endParaRPr lang="en-US" sz="1400" dirty="0"/>
          </a:p>
          <a:p>
            <a:pPr marL="284480" indent="-28448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120"/>
              </a:rPr>
              <a:t>Booking waits for ReserveCapacity, while ShipmentBooked waits in the broker</a:t>
            </a:r>
            <a:endParaRPr lang="en-US" sz="1400" dirty="0"/>
          </a:p>
          <a:p>
            <a:pPr marL="284480" indent="-284480" algn="l">
              <a:lnSpc>
                <a:spcPct val="117000"/>
              </a:lnSpc>
              <a:buSzPct val="100000"/>
              <a:buChar char="•"/>
            </a:pPr>
            <a:r>
              <a:rPr lang="en-US" sz="1400" b="1" dirty="0">
                <a:solidFill>
                  <a:srgbClr val="1B365D"/>
                </a:solidFill>
                <a:latin typeface="Poppins Bold" pitchFamily="34" charset="0"/>
                <a:ea typeface="Poppins Bold" pitchFamily="34" charset="-122"/>
                <a:cs typeface="Poppins Bold" pitchFamily="34" charset="-120"/>
              </a:rPr>
              <a:t>Temporal coupling</a:t>
            </a:r>
            <a:r>
              <a:rPr lang="en-US" sz="1400" dirty="0">
                <a:solidFill>
                  <a:srgbClr val="1B365D"/>
                </a:solidFill>
                <a:latin typeface="Poppins" pitchFamily="34" charset="0"/>
                <a:ea typeface="Poppins" pitchFamily="34" charset="-122"/>
                <a:cs typeface="Poppins" pitchFamily="34" charset="-120"/>
              </a:rPr>
              <a:t> means both services must be up at the same moment</a:t>
            </a:r>
            <a:endParaRPr lang="en-US" sz="1400" dirty="0"/>
          </a:p>
          <a:p>
            <a:pPr marL="284480" indent="-28448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120"/>
              </a:rPr>
              <a:t>Set each request/reply </a:t>
            </a:r>
            <a:r>
              <a:rPr lang="en-US" sz="1400" b="1" dirty="0">
                <a:solidFill>
                  <a:srgbClr val="1B365D"/>
                </a:solidFill>
                <a:latin typeface="Poppins Bold" pitchFamily="34" charset="0"/>
                <a:ea typeface="Poppins Bold" pitchFamily="34" charset="-122"/>
                <a:cs typeface="Poppins Bold" pitchFamily="34" charset="-120"/>
              </a:rPr>
              <a:t>timeout</a:t>
            </a:r>
            <a:r>
              <a:rPr lang="en-US" sz="1400" dirty="0">
                <a:solidFill>
                  <a:srgbClr val="1B365D"/>
                </a:solidFill>
                <a:latin typeface="Poppins" pitchFamily="34" charset="0"/>
                <a:ea typeface="Poppins" pitchFamily="34" charset="-122"/>
                <a:cs typeface="Poppins" pitchFamily="34" charset="-120"/>
              </a:rPr>
              <a:t> from how long the customer will wait</a:t>
            </a:r>
            <a:endParaRPr lang="en-US" sz="1400" dirty="0"/>
          </a:p>
        </p:txBody>
      </p:sp>
      <p:pic>
        <p:nvPicPr>
          <p:cNvPr id="5" name="Image 0" descr="preencoded.png"/>
          <p:cNvPicPr>
            <a:picLocks noChangeAspect="1"/>
          </p:cNvPicPr>
          <p:nvPr/>
        </p:nvPicPr>
        <p:blipFill>
          <a:blip r:embed="rId3"/>
          <a:stretch>
            <a:fillRect/>
          </a:stretch>
        </p:blipFill>
        <p:spPr>
          <a:xfrm>
            <a:off x="5181371" y="2434927"/>
            <a:ext cx="6400739" cy="3000375"/>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09600" y="457200"/>
            <a:ext cx="10972512" cy="453073"/>
          </a:xfrm>
          <a:prstGeom prst="rect">
            <a:avLst/>
          </a:prstGeom>
          <a:noFill/>
          <a:ln/>
        </p:spPr>
        <p:txBody>
          <a:bodyPr wrap="square" lIns="0" tIns="0" rIns="0" bIns="0" rtlCol="0" anchor="t">
            <a:spAutoFit/>
          </a:bodyPr>
          <a:lstStyle/>
          <a:p>
            <a:pPr marL="0" indent="0" algn="l">
              <a:lnSpc>
                <a:spcPct val="92000"/>
              </a:lnSpc>
              <a:buNone/>
            </a:pPr>
            <a:r>
              <a:rPr lang="en-US" sz="3200" b="1" dirty="0">
                <a:solidFill>
                  <a:srgbClr val="0D0D0D"/>
                </a:solidFill>
                <a:latin typeface="Montserrat Bold" pitchFamily="34" charset="0"/>
                <a:ea typeface="Montserrat Bold" pitchFamily="34" charset="-122"/>
                <a:cs typeface="Montserrat Bold" pitchFamily="34" charset="-120"/>
              </a:rPr>
              <a:t>When HTTP is the right choice</a:t>
            </a:r>
            <a:endParaRPr lang="en-US" sz="3200" dirty="0"/>
          </a:p>
        </p:txBody>
      </p:sp>
      <p:sp>
        <p:nvSpPr>
          <p:cNvPr id="3" name="Text 1"/>
          <p:cNvSpPr/>
          <p:nvPr/>
        </p:nvSpPr>
        <p:spPr>
          <a:xfrm>
            <a:off x="609600" y="1062673"/>
            <a:ext cx="10972512" cy="283154"/>
          </a:xfrm>
          <a:prstGeom prst="rect">
            <a:avLst/>
          </a:prstGeom>
          <a:noFill/>
          <a:ln/>
        </p:spPr>
        <p:txBody>
          <a:bodyPr wrap="square" lIns="0" tIns="0" rIns="0" bIns="0" rtlCol="0" anchor="t">
            <a:spAutoFit/>
          </a:bodyPr>
          <a:lstStyle/>
          <a:p>
            <a:pPr marL="0" indent="0" algn="l">
              <a:lnSpc>
                <a:spcPct val="92000"/>
              </a:lnSpc>
              <a:buNone/>
            </a:pPr>
            <a:r>
              <a:rPr lang="en-US" sz="2000" b="1" dirty="0">
                <a:solidFill>
                  <a:srgbClr val="0D0D0D"/>
                </a:solidFill>
                <a:latin typeface="Montserrat Bold" pitchFamily="34" charset="0"/>
                <a:ea typeface="Montserrat Bold" pitchFamily="34" charset="-122"/>
                <a:cs typeface="Montserrat Bold" pitchFamily="34" charset="-120"/>
              </a:rPr>
              <a:t>The Asynchronous Request-Reply pattern for long-running work</a:t>
            </a:r>
            <a:endParaRPr lang="en-US" sz="2000" dirty="0"/>
          </a:p>
        </p:txBody>
      </p:sp>
      <p:sp>
        <p:nvSpPr>
          <p:cNvPr id="4" name="Text 2"/>
          <p:cNvSpPr/>
          <p:nvPr/>
        </p:nvSpPr>
        <p:spPr>
          <a:xfrm>
            <a:off x="609600" y="2818436"/>
            <a:ext cx="4267078" cy="2417366"/>
          </a:xfrm>
          <a:prstGeom prst="rect">
            <a:avLst/>
          </a:prstGeom>
          <a:noFill/>
          <a:ln/>
        </p:spPr>
        <p:txBody>
          <a:bodyPr wrap="square" lIns="0" tIns="0" rIns="0" bIns="0" rtlCol="0" anchor="t">
            <a:normAutofit/>
          </a:bodyPr>
          <a:lstStyle/>
          <a:p>
            <a:pPr marL="284480" indent="-28448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120"/>
              </a:rPr>
              <a:t>The caller needs the answer for its next step, such as a </a:t>
            </a:r>
            <a:r>
              <a:rPr lang="en-US" sz="1400" b="1" dirty="0">
                <a:solidFill>
                  <a:srgbClr val="1B365D"/>
                </a:solidFill>
                <a:latin typeface="Poppins Bold" pitchFamily="34" charset="0"/>
                <a:ea typeface="Poppins Bold" pitchFamily="34" charset="-122"/>
                <a:cs typeface="Poppins Bold" pitchFamily="34" charset="-120"/>
              </a:rPr>
              <a:t>shipment ID</a:t>
            </a:r>
            <a:endParaRPr lang="en-US" sz="1400" dirty="0"/>
          </a:p>
          <a:p>
            <a:pPr marL="284480" indent="-28448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120"/>
              </a:rPr>
              <a:t>A </a:t>
            </a:r>
            <a:r>
              <a:rPr lang="en-US" sz="1400" b="1" dirty="0">
                <a:solidFill>
                  <a:srgbClr val="1B365D"/>
                </a:solidFill>
                <a:latin typeface="Poppins Bold" pitchFamily="34" charset="0"/>
                <a:ea typeface="Poppins Bold" pitchFamily="34" charset="-122"/>
                <a:cs typeface="Poppins Bold" pitchFamily="34" charset="-120"/>
              </a:rPr>
              <a:t>query</a:t>
            </a:r>
            <a:r>
              <a:rPr lang="en-US" sz="1400" dirty="0">
                <a:solidFill>
                  <a:srgbClr val="1B365D"/>
                </a:solidFill>
                <a:latin typeface="Poppins" pitchFamily="34" charset="0"/>
                <a:ea typeface="Poppins" pitchFamily="34" charset="-122"/>
                <a:cs typeface="Poppins" pitchFamily="34" charset="-120"/>
              </a:rPr>
              <a:t> asks for current data</a:t>
            </a:r>
            <a:endParaRPr lang="en-US" sz="1400" dirty="0"/>
          </a:p>
          <a:p>
            <a:pPr marL="284480" indent="-28448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120"/>
              </a:rPr>
              <a:t>Long-running work returns </a:t>
            </a:r>
            <a:r>
              <a:rPr lang="en-US" sz="1400" b="1" dirty="0">
                <a:solidFill>
                  <a:srgbClr val="1B365D"/>
                </a:solidFill>
                <a:latin typeface="Poppins Bold" pitchFamily="34" charset="0"/>
                <a:ea typeface="Poppins Bold" pitchFamily="34" charset="-122"/>
                <a:cs typeface="Poppins Bold" pitchFamily="34" charset="-120"/>
              </a:rPr>
              <a:t>202 Accepted</a:t>
            </a:r>
            <a:r>
              <a:rPr lang="en-US" sz="1400" dirty="0">
                <a:solidFill>
                  <a:srgbClr val="1B365D"/>
                </a:solidFill>
                <a:latin typeface="Poppins" pitchFamily="34" charset="0"/>
                <a:ea typeface="Poppins" pitchFamily="34" charset="-122"/>
                <a:cs typeface="Poppins" pitchFamily="34" charset="-120"/>
              </a:rPr>
              <a:t> with Location and Retry-After</a:t>
            </a:r>
            <a:endParaRPr lang="en-US" sz="1400" dirty="0"/>
          </a:p>
          <a:p>
            <a:pPr marL="284480" indent="-28448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120"/>
              </a:rPr>
              <a:t>The client polls until </a:t>
            </a:r>
            <a:r>
              <a:rPr lang="en-US" sz="1400" b="1" dirty="0">
                <a:solidFill>
                  <a:srgbClr val="1B365D"/>
                </a:solidFill>
                <a:latin typeface="Poppins Bold" pitchFamily="34" charset="0"/>
                <a:ea typeface="Poppins Bold" pitchFamily="34" charset="-122"/>
                <a:cs typeface="Poppins Bold" pitchFamily="34" charset="-120"/>
              </a:rPr>
              <a:t>303 See Other</a:t>
            </a:r>
            <a:r>
              <a:rPr lang="en-US" sz="1400" dirty="0">
                <a:solidFill>
                  <a:srgbClr val="1B365D"/>
                </a:solidFill>
                <a:latin typeface="Poppins" pitchFamily="34" charset="0"/>
                <a:ea typeface="Poppins" pitchFamily="34" charset="-122"/>
                <a:cs typeface="Poppins" pitchFamily="34" charset="-120"/>
              </a:rPr>
              <a:t> points to the finished result</a:t>
            </a:r>
            <a:endParaRPr lang="en-US" sz="1400" dirty="0"/>
          </a:p>
          <a:p>
            <a:pPr marL="284480" indent="-28448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120"/>
              </a:rPr>
              <a:t>If the caller only needs the work to happen, publish a command or an event</a:t>
            </a:r>
            <a:endParaRPr lang="en-US" sz="1400" dirty="0"/>
          </a:p>
        </p:txBody>
      </p:sp>
      <p:pic>
        <p:nvPicPr>
          <p:cNvPr id="5" name="Image 0" descr="preencoded.png"/>
          <p:cNvPicPr>
            <a:picLocks noChangeAspect="1"/>
          </p:cNvPicPr>
          <p:nvPr/>
        </p:nvPicPr>
        <p:blipFill>
          <a:blip r:embed="rId3"/>
          <a:stretch>
            <a:fillRect/>
          </a:stretch>
        </p:blipFill>
        <p:spPr>
          <a:xfrm>
            <a:off x="5181371" y="2134890"/>
            <a:ext cx="6400739" cy="360045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7F7F5"/>
        </a:solidFill>
        <a:effectLst/>
      </p:bgPr>
    </p:bg>
    <p:spTree>
      <p:nvGrpSpPr>
        <p:cNvPr id="1" name=""/>
        <p:cNvGrpSpPr/>
        <p:nvPr/>
      </p:nvGrpSpPr>
      <p:grpSpPr>
        <a:xfrm>
          <a:off x="0" y="0"/>
          <a:ext cx="0" cy="0"/>
          <a:chOff x="0" y="0"/>
          <a:chExt cx="0" cy="0"/>
        </a:xfrm>
      </p:grpSpPr>
      <p:sp>
        <p:nvSpPr>
          <p:cNvPr id="2" name="gd-topics-text"/>
          <p:cNvSpPr txBox="1"/>
          <p:nvPr/>
        </p:nvSpPr>
        <p:spPr>
          <a:xfrm>
            <a:off x="692767" y="1150000"/>
            <a:ext cx="4900000" cy="3600000"/>
          </a:xfrm>
          <a:prstGeom prst="rect">
            <a:avLst/>
          </a:prstGeom>
          <a:noFill/>
        </p:spPr>
        <p:txBody>
          <a:bodyPr wrap="square" lIns="0" tIns="0" rIns="0" bIns="0" anchor="ctr">
            <a:spAutoFit/>
          </a:bodyPr>
          <a:lstStyle/>
          <a:p>
            <a:pPr>
              <a:lnSpc>
                <a:spcPct val="95000"/>
              </a:lnSpc>
              <a:spcBef>
                <a:spcPts val="0"/>
              </a:spcBef>
            </a:pPr>
            <a:r>
              <a:rPr sz="24000" b="1">
                <a:solidFill>
                  <a:srgbClr val="D4B483"/>
                </a:solidFill>
                <a:latin typeface="Montserrat"/>
              </a:rPr>
              <a:t>03</a:t>
            </a:r>
          </a:p>
        </p:txBody>
      </p:sp>
      <p:sp>
        <p:nvSpPr>
          <p:cNvPr id="3" name="gd-topics-box"/>
          <p:cNvSpPr/>
          <p:nvPr/>
        </p:nvSpPr>
        <p:spPr>
          <a:xfrm>
            <a:off x="5600000" y="1500000"/>
            <a:ext cx="38089" cy="2900000"/>
          </a:xfrm>
          <a:prstGeom prst="rect">
            <a:avLst/>
          </a:prstGeom>
          <a:solidFill>
            <a:srgbClr val="D4B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gd-topics-text"/>
          <p:cNvSpPr txBox="1"/>
          <p:nvPr/>
        </p:nvSpPr>
        <p:spPr>
          <a:xfrm>
            <a:off x="6100000" y="1500000"/>
            <a:ext cx="5279233" cy="2900000"/>
          </a:xfrm>
          <a:prstGeom prst="rect">
            <a:avLst/>
          </a:prstGeom>
          <a:noFill/>
        </p:spPr>
        <p:txBody>
          <a:bodyPr wrap="square" lIns="0" tIns="0" rIns="0" bIns="0" anchor="ctr">
            <a:spAutoFit/>
          </a:bodyPr>
          <a:lstStyle/>
          <a:p>
            <a:pPr>
              <a:lnSpc>
                <a:spcPct val="95000"/>
              </a:lnSpc>
              <a:spcBef>
                <a:spcPts val="0"/>
              </a:spcBef>
            </a:pPr>
            <a:r>
              <a:rPr sz="3200" b="1">
                <a:solidFill>
                  <a:srgbClr val="2D3436"/>
                </a:solidFill>
                <a:latin typeface="Montserrat"/>
              </a:rPr>
              <a:t>Event Storming: Find Service Boundaries</a:t>
            </a:r>
          </a:p>
          <a:p>
            <a:pPr>
              <a:lnSpc>
                <a:spcPct val="95000"/>
              </a:lnSpc>
              <a:spcBef>
                <a:spcPts val="1400"/>
              </a:spcBef>
            </a:pPr>
            <a:r>
              <a:rPr sz="2000" b="0">
                <a:solidFill>
                  <a:srgbClr val="595F67"/>
                </a:solidFill>
                <a:latin typeface="Poppins"/>
              </a:rPr>
              <a:t>Bounded contexts and the Contoso service list</a:t>
            </a:r>
          </a:p>
        </p:txBody>
      </p:sp>
      <p:sp>
        <p:nvSpPr>
          <p:cNvPr id="5" name="gd-topics-box"/>
          <p:cNvSpPr/>
          <p:nvPr/>
        </p:nvSpPr>
        <p:spPr>
          <a:xfrm>
            <a:off x="6100000" y="4750000"/>
            <a:ext cx="816372"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gd-topics-box"/>
          <p:cNvSpPr/>
          <p:nvPr/>
        </p:nvSpPr>
        <p:spPr>
          <a:xfrm>
            <a:off x="6992572" y="4750000"/>
            <a:ext cx="816372"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gd-topics-box"/>
          <p:cNvSpPr/>
          <p:nvPr/>
        </p:nvSpPr>
        <p:spPr>
          <a:xfrm>
            <a:off x="7885144" y="4750000"/>
            <a:ext cx="816372" cy="45720"/>
          </a:xfrm>
          <a:prstGeom prst="rect">
            <a:avLst/>
          </a:prstGeom>
          <a:solidFill>
            <a:srgbClr val="D4B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gd-topics-box"/>
          <p:cNvSpPr/>
          <p:nvPr/>
        </p:nvSpPr>
        <p:spPr>
          <a:xfrm>
            <a:off x="8777716" y="4750000"/>
            <a:ext cx="816372"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gd-topics-box"/>
          <p:cNvSpPr/>
          <p:nvPr/>
        </p:nvSpPr>
        <p:spPr>
          <a:xfrm>
            <a:off x="9670288" y="4750000"/>
            <a:ext cx="816372"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gd-topics-box"/>
          <p:cNvSpPr/>
          <p:nvPr/>
        </p:nvSpPr>
        <p:spPr>
          <a:xfrm>
            <a:off x="10562860" y="4750000"/>
            <a:ext cx="816372"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gd-topics-box"/>
          <p:cNvSpPr/>
          <p:nvPr/>
        </p:nvSpPr>
        <p:spPr>
          <a:xfrm>
            <a:off x="812767" y="6190000"/>
            <a:ext cx="10566466" cy="12700"/>
          </a:xfrm>
          <a:prstGeom prst="rect">
            <a:avLst/>
          </a:prstGeom>
          <a:solidFill>
            <a:srgbClr val="E3E1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gd-topics-text"/>
          <p:cNvSpPr txBox="1"/>
          <p:nvPr/>
        </p:nvSpPr>
        <p:spPr>
          <a:xfrm>
            <a:off x="812767" y="6290000"/>
            <a:ext cx="10566466" cy="300000"/>
          </a:xfrm>
          <a:prstGeom prst="rect">
            <a:avLst/>
          </a:prstGeom>
          <a:noFill/>
        </p:spPr>
        <p:txBody>
          <a:bodyPr wrap="square" lIns="0" tIns="0" rIns="0" bIns="0" anchor="t">
            <a:spAutoFit/>
          </a:bodyPr>
          <a:lstStyle/>
          <a:p>
            <a:pPr>
              <a:lnSpc>
                <a:spcPct val="95000"/>
              </a:lnSpc>
              <a:spcBef>
                <a:spcPts val="0"/>
              </a:spcBef>
            </a:pPr>
            <a:r>
              <a:rPr sz="1100" b="0">
                <a:solidFill>
                  <a:srgbClr val="595F67"/>
                </a:solidFill>
                <a:latin typeface="Poppins"/>
              </a:rPr>
              <a:t>Event-Driven Distributed Apps on Azure: Aspire, Dapr &amp; Durable Execution</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09600" y="1260785"/>
            <a:ext cx="5079858" cy="906145"/>
          </a:xfrm>
          <a:prstGeom prst="rect">
            <a:avLst/>
          </a:prstGeom>
          <a:noFill/>
          <a:ln/>
        </p:spPr>
        <p:txBody>
          <a:bodyPr wrap="square" lIns="0" tIns="0" rIns="0" bIns="0" rtlCol="0" anchor="t">
            <a:spAutoFit/>
          </a:bodyPr>
          <a:lstStyle/>
          <a:p>
            <a:pPr marL="0" indent="0" algn="l">
              <a:lnSpc>
                <a:spcPct val="92000"/>
              </a:lnSpc>
              <a:buNone/>
            </a:pPr>
            <a:r>
              <a:rPr lang="en-US" sz="3200" b="1" dirty="0">
                <a:solidFill>
                  <a:srgbClr val="0D0D0D"/>
                </a:solidFill>
                <a:latin typeface="Montserrat Bold" pitchFamily="34" charset="0"/>
                <a:ea typeface="Montserrat Bold" pitchFamily="34" charset="-122"/>
                <a:cs typeface="Montserrat Bold" pitchFamily="34" charset="-120"/>
              </a:rPr>
              <a:t>The sticky-note grammar</a:t>
            </a:r>
            <a:endParaRPr lang="en-US" sz="3200" dirty="0"/>
          </a:p>
        </p:txBody>
      </p:sp>
      <p:sp>
        <p:nvSpPr>
          <p:cNvPr id="3" name="Text 1"/>
          <p:cNvSpPr/>
          <p:nvPr/>
        </p:nvSpPr>
        <p:spPr>
          <a:xfrm>
            <a:off x="609600" y="2319330"/>
            <a:ext cx="5079858" cy="566309"/>
          </a:xfrm>
          <a:prstGeom prst="rect">
            <a:avLst/>
          </a:prstGeom>
          <a:noFill/>
          <a:ln/>
        </p:spPr>
        <p:txBody>
          <a:bodyPr wrap="square" lIns="0" tIns="0" rIns="0" bIns="0" rtlCol="0" anchor="t">
            <a:spAutoFit/>
          </a:bodyPr>
          <a:lstStyle/>
          <a:p>
            <a:pPr marL="0" indent="0" algn="l">
              <a:lnSpc>
                <a:spcPct val="92000"/>
              </a:lnSpc>
              <a:buNone/>
            </a:pPr>
            <a:r>
              <a:rPr lang="en-US" sz="2000" b="1" dirty="0">
                <a:solidFill>
                  <a:srgbClr val="0D0D0D"/>
                </a:solidFill>
                <a:latin typeface="Montserrat Bold" pitchFamily="34" charset="0"/>
                <a:ea typeface="Montserrat Bold" pitchFamily="34" charset="-122"/>
                <a:cs typeface="Montserrat Bold" pitchFamily="34" charset="-120"/>
              </a:rPr>
              <a:t>Business events on a wall, with the domain experts in the room</a:t>
            </a:r>
            <a:endParaRPr lang="en-US" sz="2000" dirty="0"/>
          </a:p>
        </p:txBody>
      </p:sp>
      <p:sp>
        <p:nvSpPr>
          <p:cNvPr id="4" name="Text 2"/>
          <p:cNvSpPr/>
          <p:nvPr/>
        </p:nvSpPr>
        <p:spPr>
          <a:xfrm>
            <a:off x="609600" y="3114239"/>
            <a:ext cx="5079858" cy="2666206"/>
          </a:xfrm>
          <a:prstGeom prst="rect">
            <a:avLst/>
          </a:prstGeom>
          <a:noFill/>
          <a:ln/>
        </p:spPr>
        <p:txBody>
          <a:bodyPr wrap="square" lIns="0" tIns="0" rIns="0" bIns="0" rtlCol="0" anchor="t">
            <a:normAutofit/>
          </a:bodyPr>
          <a:lstStyle/>
          <a:p>
            <a:pPr marL="284480" indent="-284480" algn="l">
              <a:lnSpc>
                <a:spcPct val="117000"/>
              </a:lnSpc>
              <a:buSzPct val="100000"/>
              <a:buChar char="•"/>
            </a:pPr>
            <a:r>
              <a:rPr lang="en-US" sz="1400" b="1" dirty="0">
                <a:solidFill>
                  <a:srgbClr val="1B365D"/>
                </a:solidFill>
                <a:latin typeface="Poppins Bold" pitchFamily="34" charset="0"/>
                <a:ea typeface="Poppins Bold" pitchFamily="34" charset="-122"/>
                <a:cs typeface="Poppins Bold" pitchFamily="34" charset="-120"/>
              </a:rPr>
              <a:t>Events</a:t>
            </a:r>
            <a:r>
              <a:rPr lang="en-US" sz="1400" dirty="0">
                <a:solidFill>
                  <a:srgbClr val="1B365D"/>
                </a:solidFill>
                <a:latin typeface="Poppins" pitchFamily="34" charset="0"/>
                <a:ea typeface="Poppins" pitchFamily="34" charset="-122"/>
                <a:cs typeface="Poppins" pitchFamily="34" charset="-120"/>
              </a:rPr>
              <a:t> are orange notes in the past tense, such as ShipmentBooked</a:t>
            </a:r>
            <a:endParaRPr lang="en-US" sz="1400" dirty="0"/>
          </a:p>
          <a:p>
            <a:pPr marL="284480" indent="-284480" algn="l">
              <a:lnSpc>
                <a:spcPct val="117000"/>
              </a:lnSpc>
              <a:buSzPct val="100000"/>
              <a:buChar char="•"/>
            </a:pPr>
            <a:r>
              <a:rPr lang="en-US" sz="1400" b="1" dirty="0">
                <a:solidFill>
                  <a:srgbClr val="1B365D"/>
                </a:solidFill>
                <a:latin typeface="Poppins Bold" pitchFamily="34" charset="0"/>
                <a:ea typeface="Poppins Bold" pitchFamily="34" charset="-122"/>
                <a:cs typeface="Poppins Bold" pitchFamily="34" charset="-120"/>
              </a:rPr>
              <a:t>Commands</a:t>
            </a:r>
            <a:r>
              <a:rPr lang="en-US" sz="1400" dirty="0">
                <a:solidFill>
                  <a:srgbClr val="1B365D"/>
                </a:solidFill>
                <a:latin typeface="Poppins" pitchFamily="34" charset="0"/>
                <a:ea typeface="Poppins" pitchFamily="34" charset="-122"/>
                <a:cs typeface="Poppins" pitchFamily="34" charset="-120"/>
              </a:rPr>
              <a:t> are blue notes written as imperatives, such as BookShipment</a:t>
            </a:r>
            <a:endParaRPr lang="en-US" sz="1400" dirty="0"/>
          </a:p>
          <a:p>
            <a:pPr marL="284480" indent="-28448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120"/>
              </a:rPr>
              <a:t>Actors issue commands, policies react to events, and </a:t>
            </a:r>
            <a:r>
              <a:rPr lang="en-US" sz="1400" b="1" dirty="0">
                <a:solidFill>
                  <a:srgbClr val="1B365D"/>
                </a:solidFill>
                <a:latin typeface="Poppins Bold" pitchFamily="34" charset="0"/>
                <a:ea typeface="Poppins Bold" pitchFamily="34" charset="-122"/>
                <a:cs typeface="Poppins Bold" pitchFamily="34" charset="-120"/>
              </a:rPr>
              <a:t>aggregates</a:t>
            </a:r>
            <a:r>
              <a:rPr lang="en-US" sz="1400" dirty="0">
                <a:solidFill>
                  <a:srgbClr val="1B365D"/>
                </a:solidFill>
                <a:latin typeface="Poppins" pitchFamily="34" charset="0"/>
                <a:ea typeface="Poppins" pitchFamily="34" charset="-122"/>
                <a:cs typeface="Poppins" pitchFamily="34" charset="-120"/>
              </a:rPr>
              <a:t> decide</a:t>
            </a:r>
            <a:endParaRPr lang="en-US" sz="1400" dirty="0"/>
          </a:p>
          <a:p>
            <a:pPr marL="284480" indent="-284480" algn="l">
              <a:lnSpc>
                <a:spcPct val="117000"/>
              </a:lnSpc>
              <a:buSzPct val="100000"/>
              <a:buChar char="•"/>
            </a:pPr>
            <a:r>
              <a:rPr lang="en-US" sz="1400" b="1" dirty="0">
                <a:solidFill>
                  <a:srgbClr val="1B365D"/>
                </a:solidFill>
                <a:latin typeface="Poppins Bold" pitchFamily="34" charset="0"/>
                <a:ea typeface="Poppins Bold" pitchFamily="34" charset="-122"/>
                <a:cs typeface="Poppins Bold" pitchFamily="34" charset="-120"/>
              </a:rPr>
              <a:t>Hotspots</a:t>
            </a:r>
            <a:r>
              <a:rPr lang="en-US" sz="1400" dirty="0">
                <a:solidFill>
                  <a:srgbClr val="1B365D"/>
                </a:solidFill>
                <a:latin typeface="Poppins" pitchFamily="34" charset="0"/>
                <a:ea typeface="Poppins" pitchFamily="34" charset="-122"/>
                <a:cs typeface="Poppins" pitchFamily="34" charset="-120"/>
              </a:rPr>
              <a:t> mark open questions, each with an owner and a date</a:t>
            </a:r>
            <a:endParaRPr lang="en-US" sz="1400" dirty="0"/>
          </a:p>
          <a:p>
            <a:pPr marL="284480" indent="-28448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120"/>
              </a:rPr>
              <a:t>The big picture comes first, then the process level for one flow</a:t>
            </a:r>
            <a:endParaRPr lang="en-US" sz="1400" dirty="0"/>
          </a:p>
        </p:txBody>
      </p:sp>
      <p:pic>
        <p:nvPicPr>
          <p:cNvPr id="5" name="Image 0" descr="preencoded.png"/>
          <p:cNvPicPr>
            <a:picLocks noChangeAspect="1"/>
          </p:cNvPicPr>
          <p:nvPr/>
        </p:nvPicPr>
        <p:blipFill>
          <a:blip r:embed="rId3"/>
          <a:stretch>
            <a:fillRect/>
          </a:stretch>
        </p:blipFill>
        <p:spPr>
          <a:xfrm>
            <a:off x="6095848" y="0"/>
            <a:ext cx="6095848" cy="685800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09600" y="457200"/>
            <a:ext cx="10972512" cy="453073"/>
          </a:xfrm>
          <a:prstGeom prst="rect">
            <a:avLst/>
          </a:prstGeom>
          <a:noFill/>
          <a:ln/>
        </p:spPr>
        <p:txBody>
          <a:bodyPr wrap="square" lIns="0" tIns="0" rIns="0" bIns="0" rtlCol="0" anchor="t">
            <a:spAutoFit/>
          </a:bodyPr>
          <a:lstStyle/>
          <a:p>
            <a:pPr marL="0" indent="0" algn="l">
              <a:lnSpc>
                <a:spcPct val="92000"/>
              </a:lnSpc>
              <a:buNone/>
            </a:pPr>
            <a:r>
              <a:rPr lang="en-US" sz="3200" b="1" dirty="0">
                <a:solidFill>
                  <a:srgbClr val="0D0D0D"/>
                </a:solidFill>
                <a:latin typeface="Montserrat Bold" pitchFamily="34" charset="0"/>
                <a:ea typeface="Montserrat Bold" pitchFamily="34" charset="-122"/>
                <a:cs typeface="Montserrat Bold" pitchFamily="34" charset="-120"/>
              </a:rPr>
              <a:t>From contexts to the Contoso service list</a:t>
            </a:r>
            <a:endParaRPr lang="en-US" sz="3200" dirty="0"/>
          </a:p>
        </p:txBody>
      </p:sp>
      <p:sp>
        <p:nvSpPr>
          <p:cNvPr id="3" name="Text 1"/>
          <p:cNvSpPr/>
          <p:nvPr/>
        </p:nvSpPr>
        <p:spPr>
          <a:xfrm>
            <a:off x="609600" y="1062673"/>
            <a:ext cx="10972512" cy="283154"/>
          </a:xfrm>
          <a:prstGeom prst="rect">
            <a:avLst/>
          </a:prstGeom>
          <a:noFill/>
          <a:ln/>
        </p:spPr>
        <p:txBody>
          <a:bodyPr wrap="square" lIns="0" tIns="0" rIns="0" bIns="0" rtlCol="0" anchor="t">
            <a:spAutoFit/>
          </a:bodyPr>
          <a:lstStyle/>
          <a:p>
            <a:pPr marL="0" indent="0" algn="l">
              <a:lnSpc>
                <a:spcPct val="92000"/>
              </a:lnSpc>
              <a:buNone/>
            </a:pPr>
            <a:r>
              <a:rPr lang="en-US" sz="2000" b="1" dirty="0">
                <a:solidFill>
                  <a:srgbClr val="0D0D0D"/>
                </a:solidFill>
                <a:latin typeface="Montserrat Bold" pitchFamily="34" charset="0"/>
                <a:ea typeface="Montserrat Bold" pitchFamily="34" charset="-122"/>
                <a:cs typeface="Montserrat Bold" pitchFamily="34" charset="-120"/>
              </a:rPr>
              <a:t>A microservice spans at most one bounded context</a:t>
            </a:r>
            <a:endParaRPr lang="en-US" sz="2000" dirty="0"/>
          </a:p>
        </p:txBody>
      </p:sp>
      <p:sp>
        <p:nvSpPr>
          <p:cNvPr id="4" name="Text 2"/>
          <p:cNvSpPr/>
          <p:nvPr/>
        </p:nvSpPr>
        <p:spPr>
          <a:xfrm>
            <a:off x="609600" y="2568816"/>
            <a:ext cx="4267078" cy="2915047"/>
          </a:xfrm>
          <a:prstGeom prst="rect">
            <a:avLst/>
          </a:prstGeom>
          <a:noFill/>
          <a:ln/>
        </p:spPr>
        <p:txBody>
          <a:bodyPr wrap="square" lIns="0" tIns="0" rIns="0" bIns="0" rtlCol="0" anchor="t">
            <a:normAutofit/>
          </a:bodyPr>
          <a:lstStyle/>
          <a:p>
            <a:pPr marL="284480" indent="-28448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120"/>
              </a:rPr>
              <a:t>In the </a:t>
            </a:r>
            <a:r>
              <a:rPr lang="en-US" sz="1400" b="1" dirty="0">
                <a:solidFill>
                  <a:srgbClr val="1B365D"/>
                </a:solidFill>
                <a:latin typeface="Poppins Bold" pitchFamily="34" charset="0"/>
                <a:ea typeface="Poppins Bold" pitchFamily="34" charset="-122"/>
                <a:cs typeface="Poppins Bold" pitchFamily="34" charset="-120"/>
              </a:rPr>
              <a:t>booking flow</a:t>
            </a:r>
            <a:r>
              <a:rPr lang="en-US" sz="1400" dirty="0">
                <a:solidFill>
                  <a:srgbClr val="1B365D"/>
                </a:solidFill>
                <a:latin typeface="Poppins" pitchFamily="34" charset="0"/>
                <a:ea typeface="Poppins" pitchFamily="34" charset="-122"/>
                <a:cs typeface="Poppins" pitchFamily="34" charset="-120"/>
              </a:rPr>
              <a:t>, BookShipment invokes ReserveCapacity and the saga issues CapturePayment</a:t>
            </a:r>
            <a:endParaRPr lang="en-US" sz="1400" dirty="0"/>
          </a:p>
          <a:p>
            <a:pPr marL="284480" indent="-28448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120"/>
              </a:rPr>
              <a:t>Aggregates that share one language form a </a:t>
            </a:r>
            <a:r>
              <a:rPr lang="en-US" sz="1400" b="1" dirty="0">
                <a:solidFill>
                  <a:srgbClr val="1B365D"/>
                </a:solidFill>
                <a:latin typeface="Poppins Bold" pitchFamily="34" charset="0"/>
                <a:ea typeface="Poppins Bold" pitchFamily="34" charset="-122"/>
                <a:cs typeface="Poppins Bold" pitchFamily="34" charset="-120"/>
              </a:rPr>
              <a:t>bounded context</a:t>
            </a:r>
            <a:endParaRPr lang="en-US" sz="1400" dirty="0"/>
          </a:p>
          <a:p>
            <a:pPr marL="284480" indent="-28448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120"/>
              </a:rPr>
              <a:t>A </a:t>
            </a:r>
            <a:r>
              <a:rPr lang="en-US" sz="1400" b="1" dirty="0">
                <a:solidFill>
                  <a:srgbClr val="1B365D"/>
                </a:solidFill>
                <a:latin typeface="Poppins Bold" pitchFamily="34" charset="0"/>
                <a:ea typeface="Poppins Bold" pitchFamily="34" charset="-122"/>
                <a:cs typeface="Poppins Bold" pitchFamily="34" charset="-120"/>
              </a:rPr>
              <a:t>context map</a:t>
            </a:r>
            <a:r>
              <a:rPr lang="en-US" sz="1400" dirty="0">
                <a:solidFill>
                  <a:srgbClr val="1B365D"/>
                </a:solidFill>
                <a:latin typeface="Poppins" pitchFamily="34" charset="0"/>
                <a:ea typeface="Poppins" pitchFamily="34" charset="-122"/>
                <a:cs typeface="Poppins" pitchFamily="34" charset="-120"/>
              </a:rPr>
              <a:t> names the relationship between two contexts</a:t>
            </a:r>
            <a:endParaRPr lang="en-US" sz="1400" dirty="0"/>
          </a:p>
          <a:p>
            <a:pPr marL="284480" indent="-28448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120"/>
              </a:rPr>
              <a:t>Eight Contoso contexts, each with its own service, such as Booking on shipping-api</a:t>
            </a:r>
            <a:endParaRPr lang="en-US" sz="1400" dirty="0"/>
          </a:p>
          <a:p>
            <a:pPr marL="284480" indent="-28448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120"/>
              </a:rPr>
              <a:t>Each candidate passes the boundary tests or goes back to the storm</a:t>
            </a:r>
            <a:endParaRPr lang="en-US" sz="1400" dirty="0"/>
          </a:p>
        </p:txBody>
      </p:sp>
      <p:pic>
        <p:nvPicPr>
          <p:cNvPr id="5" name="Image 0" descr="preencoded.png"/>
          <p:cNvPicPr>
            <a:picLocks noChangeAspect="1"/>
          </p:cNvPicPr>
          <p:nvPr/>
        </p:nvPicPr>
        <p:blipFill>
          <a:blip r:embed="rId3"/>
          <a:stretch>
            <a:fillRect/>
          </a:stretch>
        </p:blipFill>
        <p:spPr>
          <a:xfrm>
            <a:off x="5181371" y="2634952"/>
            <a:ext cx="6400739" cy="2600325"/>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7F7F5"/>
        </a:solidFill>
        <a:effectLst/>
      </p:bgPr>
    </p:bg>
    <p:spTree>
      <p:nvGrpSpPr>
        <p:cNvPr id="1" name=""/>
        <p:cNvGrpSpPr/>
        <p:nvPr/>
      </p:nvGrpSpPr>
      <p:grpSpPr>
        <a:xfrm>
          <a:off x="0" y="0"/>
          <a:ext cx="0" cy="0"/>
          <a:chOff x="0" y="0"/>
          <a:chExt cx="0" cy="0"/>
        </a:xfrm>
      </p:grpSpPr>
      <p:sp>
        <p:nvSpPr>
          <p:cNvPr id="2" name="gd-topics-text"/>
          <p:cNvSpPr txBox="1"/>
          <p:nvPr/>
        </p:nvSpPr>
        <p:spPr>
          <a:xfrm>
            <a:off x="692767" y="1150000"/>
            <a:ext cx="4900000" cy="3600000"/>
          </a:xfrm>
          <a:prstGeom prst="rect">
            <a:avLst/>
          </a:prstGeom>
          <a:noFill/>
        </p:spPr>
        <p:txBody>
          <a:bodyPr wrap="square" lIns="0" tIns="0" rIns="0" bIns="0" anchor="ctr">
            <a:spAutoFit/>
          </a:bodyPr>
          <a:lstStyle/>
          <a:p>
            <a:pPr>
              <a:lnSpc>
                <a:spcPct val="95000"/>
              </a:lnSpc>
              <a:spcBef>
                <a:spcPts val="0"/>
              </a:spcBef>
            </a:pPr>
            <a:r>
              <a:rPr sz="24000" b="1">
                <a:solidFill>
                  <a:srgbClr val="D4B483"/>
                </a:solidFill>
                <a:latin typeface="Montserrat"/>
              </a:rPr>
              <a:t>04</a:t>
            </a:r>
          </a:p>
        </p:txBody>
      </p:sp>
      <p:sp>
        <p:nvSpPr>
          <p:cNvPr id="3" name="gd-topics-box"/>
          <p:cNvSpPr/>
          <p:nvPr/>
        </p:nvSpPr>
        <p:spPr>
          <a:xfrm>
            <a:off x="5600000" y="1500000"/>
            <a:ext cx="38089" cy="2900000"/>
          </a:xfrm>
          <a:prstGeom prst="rect">
            <a:avLst/>
          </a:prstGeom>
          <a:solidFill>
            <a:srgbClr val="D4B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gd-topics-text"/>
          <p:cNvSpPr txBox="1"/>
          <p:nvPr/>
        </p:nvSpPr>
        <p:spPr>
          <a:xfrm>
            <a:off x="6100000" y="1500000"/>
            <a:ext cx="5279233" cy="2900000"/>
          </a:xfrm>
          <a:prstGeom prst="rect">
            <a:avLst/>
          </a:prstGeom>
          <a:noFill/>
        </p:spPr>
        <p:txBody>
          <a:bodyPr wrap="square" lIns="0" tIns="0" rIns="0" bIns="0" anchor="ctr">
            <a:spAutoFit/>
          </a:bodyPr>
          <a:lstStyle/>
          <a:p>
            <a:pPr>
              <a:lnSpc>
                <a:spcPct val="95000"/>
              </a:lnSpc>
              <a:spcBef>
                <a:spcPts val="0"/>
              </a:spcBef>
            </a:pPr>
            <a:r>
              <a:rPr sz="3200" b="1">
                <a:solidFill>
                  <a:srgbClr val="2D3436"/>
                </a:solidFill>
                <a:latin typeface="Montserrat"/>
              </a:rPr>
              <a:t>Event Types: Domain, Integration, CloudEvents</a:t>
            </a:r>
          </a:p>
          <a:p>
            <a:pPr>
              <a:lnSpc>
                <a:spcPct val="95000"/>
              </a:lnSpc>
              <a:spcBef>
                <a:spcPts val="1400"/>
              </a:spcBef>
            </a:pPr>
            <a:r>
              <a:rPr sz="2000" b="0">
                <a:solidFill>
                  <a:srgbClr val="595F67"/>
                </a:solidFill>
                <a:latin typeface="Poppins"/>
              </a:rPr>
              <a:t>Payload styles and the CloudEvents 1.0 envelope</a:t>
            </a:r>
          </a:p>
        </p:txBody>
      </p:sp>
      <p:sp>
        <p:nvSpPr>
          <p:cNvPr id="5" name="gd-topics-box"/>
          <p:cNvSpPr/>
          <p:nvPr/>
        </p:nvSpPr>
        <p:spPr>
          <a:xfrm>
            <a:off x="6100000" y="4750000"/>
            <a:ext cx="816372"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gd-topics-box"/>
          <p:cNvSpPr/>
          <p:nvPr/>
        </p:nvSpPr>
        <p:spPr>
          <a:xfrm>
            <a:off x="6992572" y="4750000"/>
            <a:ext cx="816372"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gd-topics-box"/>
          <p:cNvSpPr/>
          <p:nvPr/>
        </p:nvSpPr>
        <p:spPr>
          <a:xfrm>
            <a:off x="7885144" y="4750000"/>
            <a:ext cx="816372"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gd-topics-box"/>
          <p:cNvSpPr/>
          <p:nvPr/>
        </p:nvSpPr>
        <p:spPr>
          <a:xfrm>
            <a:off x="8777716" y="4750000"/>
            <a:ext cx="816372" cy="45720"/>
          </a:xfrm>
          <a:prstGeom prst="rect">
            <a:avLst/>
          </a:prstGeom>
          <a:solidFill>
            <a:srgbClr val="D4B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gd-topics-box"/>
          <p:cNvSpPr/>
          <p:nvPr/>
        </p:nvSpPr>
        <p:spPr>
          <a:xfrm>
            <a:off x="9670288" y="4750000"/>
            <a:ext cx="816372"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gd-topics-box"/>
          <p:cNvSpPr/>
          <p:nvPr/>
        </p:nvSpPr>
        <p:spPr>
          <a:xfrm>
            <a:off x="10562860" y="4750000"/>
            <a:ext cx="816372"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gd-topics-box"/>
          <p:cNvSpPr/>
          <p:nvPr/>
        </p:nvSpPr>
        <p:spPr>
          <a:xfrm>
            <a:off x="812767" y="6190000"/>
            <a:ext cx="10566466" cy="12700"/>
          </a:xfrm>
          <a:prstGeom prst="rect">
            <a:avLst/>
          </a:prstGeom>
          <a:solidFill>
            <a:srgbClr val="E3E1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gd-topics-text"/>
          <p:cNvSpPr txBox="1"/>
          <p:nvPr/>
        </p:nvSpPr>
        <p:spPr>
          <a:xfrm>
            <a:off x="812767" y="6290000"/>
            <a:ext cx="10566466" cy="300000"/>
          </a:xfrm>
          <a:prstGeom prst="rect">
            <a:avLst/>
          </a:prstGeom>
          <a:noFill/>
        </p:spPr>
        <p:txBody>
          <a:bodyPr wrap="square" lIns="0" tIns="0" rIns="0" bIns="0" anchor="t">
            <a:spAutoFit/>
          </a:bodyPr>
          <a:lstStyle/>
          <a:p>
            <a:pPr>
              <a:lnSpc>
                <a:spcPct val="95000"/>
              </a:lnSpc>
              <a:spcBef>
                <a:spcPts val="0"/>
              </a:spcBef>
            </a:pPr>
            <a:r>
              <a:rPr sz="1100" b="0">
                <a:solidFill>
                  <a:srgbClr val="595F67"/>
                </a:solidFill>
                <a:latin typeface="Poppins"/>
              </a:rPr>
              <a:t>Event-Driven Distributed Apps on Azure: Aspire, Dapr &amp; Durable Execution</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09600" y="457200"/>
            <a:ext cx="10972512" cy="453073"/>
          </a:xfrm>
          <a:prstGeom prst="rect">
            <a:avLst/>
          </a:prstGeom>
          <a:noFill/>
          <a:ln/>
        </p:spPr>
        <p:txBody>
          <a:bodyPr wrap="square" lIns="0" tIns="0" rIns="0" bIns="0" rtlCol="0" anchor="t">
            <a:spAutoFit/>
          </a:bodyPr>
          <a:lstStyle/>
          <a:p>
            <a:pPr marL="0" indent="0" algn="l">
              <a:lnSpc>
                <a:spcPct val="92000"/>
              </a:lnSpc>
              <a:buNone/>
            </a:pPr>
            <a:r>
              <a:rPr lang="en-US" sz="3200" b="1" dirty="0">
                <a:solidFill>
                  <a:srgbClr val="0D0D0D"/>
                </a:solidFill>
                <a:latin typeface="Montserrat Bold" pitchFamily="34" charset="0"/>
                <a:ea typeface="Montserrat Bold" pitchFamily="34" charset="-122"/>
                <a:cs typeface="Montserrat Bold" pitchFamily="34" charset="-120"/>
              </a:rPr>
              <a:t>Domain events and integration events</a:t>
            </a:r>
            <a:endParaRPr lang="en-US" sz="3200" dirty="0"/>
          </a:p>
        </p:txBody>
      </p:sp>
      <p:sp>
        <p:nvSpPr>
          <p:cNvPr id="3" name="Text 1"/>
          <p:cNvSpPr/>
          <p:nvPr/>
        </p:nvSpPr>
        <p:spPr>
          <a:xfrm>
            <a:off x="609600" y="1062673"/>
            <a:ext cx="10972512" cy="283154"/>
          </a:xfrm>
          <a:prstGeom prst="rect">
            <a:avLst/>
          </a:prstGeom>
          <a:noFill/>
          <a:ln/>
        </p:spPr>
        <p:txBody>
          <a:bodyPr wrap="square" lIns="0" tIns="0" rIns="0" bIns="0" rtlCol="0" anchor="t">
            <a:spAutoFit/>
          </a:bodyPr>
          <a:lstStyle/>
          <a:p>
            <a:pPr marL="0" indent="0" algn="l">
              <a:lnSpc>
                <a:spcPct val="92000"/>
              </a:lnSpc>
              <a:buNone/>
            </a:pPr>
            <a:r>
              <a:rPr lang="en-US" sz="2000" b="1" dirty="0">
                <a:solidFill>
                  <a:srgbClr val="0D0D0D"/>
                </a:solidFill>
                <a:latin typeface="Montserrat Bold" pitchFamily="34" charset="0"/>
                <a:ea typeface="Montserrat Bold" pitchFamily="34" charset="-122"/>
                <a:cs typeface="Montserrat Bold" pitchFamily="34" charset="-120"/>
              </a:rPr>
              <a:t>The same fact inside one service or across a broker</a:t>
            </a:r>
            <a:endParaRPr lang="en-US" sz="2000" dirty="0"/>
          </a:p>
        </p:txBody>
      </p:sp>
      <p:sp>
        <p:nvSpPr>
          <p:cNvPr id="4" name="Text 2"/>
          <p:cNvSpPr/>
          <p:nvPr/>
        </p:nvSpPr>
        <p:spPr>
          <a:xfrm>
            <a:off x="609600" y="2693626"/>
            <a:ext cx="4267078" cy="2672556"/>
          </a:xfrm>
          <a:prstGeom prst="rect">
            <a:avLst/>
          </a:prstGeom>
          <a:noFill/>
          <a:ln/>
        </p:spPr>
        <p:txBody>
          <a:bodyPr wrap="square" lIns="0" tIns="0" rIns="0" bIns="0" rtlCol="0" anchor="t">
            <a:normAutofit/>
          </a:bodyPr>
          <a:lstStyle/>
          <a:p>
            <a:pPr marL="284480" indent="-28448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120"/>
              </a:rPr>
              <a:t>A </a:t>
            </a:r>
            <a:r>
              <a:rPr lang="en-US" sz="1400" b="1" dirty="0">
                <a:solidFill>
                  <a:srgbClr val="1B365D"/>
                </a:solidFill>
                <a:latin typeface="Poppins Bold" pitchFamily="34" charset="0"/>
                <a:ea typeface="Poppins Bold" pitchFamily="34" charset="-122"/>
                <a:cs typeface="Poppins Bold" pitchFamily="34" charset="-120"/>
              </a:rPr>
              <a:t>domain event</a:t>
            </a:r>
            <a:r>
              <a:rPr lang="en-US" sz="1400" dirty="0">
                <a:solidFill>
                  <a:srgbClr val="1B365D"/>
                </a:solidFill>
                <a:latin typeface="Poppins" pitchFamily="34" charset="0"/>
                <a:ea typeface="Poppins" pitchFamily="34" charset="-122"/>
                <a:cs typeface="Poppins" pitchFamily="34" charset="-120"/>
              </a:rPr>
              <a:t> is raised and handled inside one bounded context</a:t>
            </a:r>
            <a:endParaRPr lang="en-US" sz="1400" dirty="0"/>
          </a:p>
          <a:p>
            <a:pPr marL="284480" indent="-28448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120"/>
              </a:rPr>
              <a:t>An </a:t>
            </a:r>
            <a:r>
              <a:rPr lang="en-US" sz="1400" b="1" dirty="0">
                <a:solidFill>
                  <a:srgbClr val="1B365D"/>
                </a:solidFill>
                <a:latin typeface="Poppins Bold" pitchFamily="34" charset="0"/>
                <a:ea typeface="Poppins Bold" pitchFamily="34" charset="-122"/>
                <a:cs typeface="Poppins Bold" pitchFamily="34" charset="-120"/>
              </a:rPr>
              <a:t>integration event</a:t>
            </a:r>
            <a:r>
              <a:rPr lang="en-US" sz="1400" dirty="0">
                <a:solidFill>
                  <a:srgbClr val="1B365D"/>
                </a:solidFill>
                <a:latin typeface="Poppins" pitchFamily="34" charset="0"/>
                <a:ea typeface="Poppins" pitchFamily="34" charset="-122"/>
                <a:cs typeface="Poppins" pitchFamily="34" charset="-120"/>
              </a:rPr>
              <a:t> crosses a service boundary through a broker</a:t>
            </a:r>
            <a:endParaRPr lang="en-US" sz="1400" dirty="0"/>
          </a:p>
          <a:p>
            <a:pPr marL="284480" indent="-28448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120"/>
              </a:rPr>
              <a:t>Integration events leave only after the entity is persisted</a:t>
            </a:r>
            <a:endParaRPr lang="en-US" sz="1400" dirty="0"/>
          </a:p>
          <a:p>
            <a:pPr marL="284480" indent="-28448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120"/>
              </a:rPr>
              <a:t>The publisher owns the contract; the labs keep it in </a:t>
            </a:r>
            <a:r>
              <a:rPr lang="en-US" sz="1400" dirty="0">
                <a:solidFill>
                  <a:srgbClr val="1B365D"/>
                </a:solidFill>
                <a:highlight>
                  <a:srgbClr val="F2F2F2"/>
                </a:highlight>
                <a:latin typeface="Consolas" pitchFamily="34" charset="0"/>
                <a:ea typeface="Consolas" pitchFamily="34" charset="-122"/>
                <a:cs typeface="Consolas" pitchFamily="34" charset="-120"/>
              </a:rPr>
              <a:t>Contoso.Contracts</a:t>
            </a:r>
            <a:endParaRPr lang="en-US" sz="1400" dirty="0"/>
          </a:p>
          <a:p>
            <a:pPr marL="284480" indent="-28448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120"/>
              </a:rPr>
              <a:t>Every event also has a style: notification or state transfer</a:t>
            </a:r>
            <a:endParaRPr lang="en-US" sz="1400" dirty="0"/>
          </a:p>
        </p:txBody>
      </p:sp>
      <p:pic>
        <p:nvPicPr>
          <p:cNvPr id="5" name="Image 0" descr="preencoded.png"/>
          <p:cNvPicPr>
            <a:picLocks noChangeAspect="1"/>
          </p:cNvPicPr>
          <p:nvPr/>
        </p:nvPicPr>
        <p:blipFill>
          <a:blip r:embed="rId3"/>
          <a:stretch>
            <a:fillRect/>
          </a:stretch>
        </p:blipFill>
        <p:spPr>
          <a:xfrm>
            <a:off x="5181371" y="2501602"/>
            <a:ext cx="6400739" cy="2867025"/>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09600" y="457200"/>
            <a:ext cx="11175705" cy="453073"/>
          </a:xfrm>
          <a:prstGeom prst="rect">
            <a:avLst/>
          </a:prstGeom>
          <a:noFill/>
          <a:ln/>
        </p:spPr>
        <p:txBody>
          <a:bodyPr wrap="square" lIns="0" tIns="0" rIns="0" bIns="0" rtlCol="0" anchor="t">
            <a:spAutoFit/>
          </a:bodyPr>
          <a:lstStyle/>
          <a:p>
            <a:pPr marL="0" indent="0" algn="l">
              <a:lnSpc>
                <a:spcPct val="92000"/>
              </a:lnSpc>
              <a:buNone/>
            </a:pPr>
            <a:r>
              <a:rPr lang="en-US" sz="3200" b="1" dirty="0">
                <a:solidFill>
                  <a:srgbClr val="0D0D0D"/>
                </a:solidFill>
                <a:latin typeface="Montserrat Bold" pitchFamily="34" charset="0"/>
                <a:ea typeface="Montserrat Bold" pitchFamily="34" charset="-122"/>
                <a:cs typeface="Montserrat Bold" pitchFamily="34" charset="-120"/>
              </a:rPr>
              <a:t>Notification and state transfer events</a:t>
            </a:r>
            <a:endParaRPr lang="en-US" sz="3200" dirty="0"/>
          </a:p>
        </p:txBody>
      </p:sp>
      <p:sp>
        <p:nvSpPr>
          <p:cNvPr id="3" name="Text 1"/>
          <p:cNvSpPr/>
          <p:nvPr/>
        </p:nvSpPr>
        <p:spPr>
          <a:xfrm>
            <a:off x="609600" y="1062673"/>
            <a:ext cx="11175705" cy="283154"/>
          </a:xfrm>
          <a:prstGeom prst="rect">
            <a:avLst/>
          </a:prstGeom>
          <a:noFill/>
          <a:ln/>
        </p:spPr>
        <p:txBody>
          <a:bodyPr wrap="square" lIns="0" tIns="0" rIns="0" bIns="0" rtlCol="0" anchor="t">
            <a:spAutoFit/>
          </a:bodyPr>
          <a:lstStyle/>
          <a:p>
            <a:pPr marL="0" indent="0" algn="l">
              <a:lnSpc>
                <a:spcPct val="92000"/>
              </a:lnSpc>
              <a:buNone/>
            </a:pPr>
            <a:r>
              <a:rPr lang="en-US" sz="2000" b="1" dirty="0">
                <a:solidFill>
                  <a:srgbClr val="0D0D0D"/>
                </a:solidFill>
                <a:latin typeface="Montserrat Bold" pitchFamily="34" charset="0"/>
                <a:ea typeface="Montserrat Bold" pitchFamily="34" charset="-122"/>
                <a:cs typeface="Montserrat Bold" pitchFamily="34" charset="-120"/>
              </a:rPr>
              <a:t>What the payload holds decides whether the consumer asks back</a:t>
            </a:r>
            <a:endParaRPr lang="en-US" sz="2000" dirty="0"/>
          </a:p>
        </p:txBody>
      </p:sp>
      <p:sp>
        <p:nvSpPr>
          <p:cNvPr id="4" name="Text 2"/>
          <p:cNvSpPr/>
          <p:nvPr/>
        </p:nvSpPr>
        <p:spPr>
          <a:xfrm>
            <a:off x="609600" y="2718977"/>
            <a:ext cx="4780125" cy="2666206"/>
          </a:xfrm>
          <a:prstGeom prst="rect">
            <a:avLst/>
          </a:prstGeom>
          <a:noFill/>
          <a:ln/>
        </p:spPr>
        <p:txBody>
          <a:bodyPr wrap="square" lIns="0" tIns="0" rIns="0" bIns="0" rtlCol="0" anchor="t">
            <a:normAutofit/>
          </a:bodyPr>
          <a:lstStyle/>
          <a:p>
            <a:pPr marL="284480" indent="-28448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120"/>
              </a:rPr>
              <a:t>A </a:t>
            </a:r>
            <a:r>
              <a:rPr lang="en-US" sz="1400" b="1" dirty="0">
                <a:solidFill>
                  <a:srgbClr val="1B365D"/>
                </a:solidFill>
                <a:latin typeface="Poppins Bold" pitchFamily="34" charset="0"/>
                <a:ea typeface="Poppins Bold" pitchFamily="34" charset="-122"/>
                <a:cs typeface="Poppins Bold" pitchFamily="34" charset="-120"/>
              </a:rPr>
              <a:t>notification</a:t>
            </a:r>
            <a:r>
              <a:rPr lang="en-US" sz="1400" dirty="0">
                <a:solidFill>
                  <a:srgbClr val="1B365D"/>
                </a:solidFill>
                <a:latin typeface="Poppins" pitchFamily="34" charset="0"/>
                <a:ea typeface="Poppins" pitchFamily="34" charset="-122"/>
                <a:cs typeface="Poppins" pitchFamily="34" charset="-120"/>
              </a:rPr>
              <a:t> carries the fact, the identifiers and the time</a:t>
            </a:r>
            <a:endParaRPr lang="en-US" sz="1400" dirty="0"/>
          </a:p>
          <a:p>
            <a:pPr marL="284480" indent="-28448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120"/>
              </a:rPr>
              <a:t>A consumer that needs more detail calls the owner in a second request</a:t>
            </a:r>
            <a:endParaRPr lang="en-US" sz="1400" dirty="0"/>
          </a:p>
          <a:p>
            <a:pPr marL="284480" indent="-28448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120"/>
              </a:rPr>
              <a:t>A </a:t>
            </a:r>
            <a:r>
              <a:rPr lang="en-US" sz="1400" b="1" dirty="0">
                <a:solidFill>
                  <a:srgbClr val="1B365D"/>
                </a:solidFill>
                <a:latin typeface="Poppins Bold" pitchFamily="34" charset="0"/>
                <a:ea typeface="Poppins Bold" pitchFamily="34" charset="-122"/>
                <a:cs typeface="Poppins Bold" pitchFamily="34" charset="-120"/>
              </a:rPr>
              <a:t>state transfer</a:t>
            </a:r>
            <a:r>
              <a:rPr lang="en-US" sz="1400" dirty="0">
                <a:solidFill>
                  <a:srgbClr val="1B365D"/>
                </a:solidFill>
                <a:latin typeface="Poppins" pitchFamily="34" charset="0"/>
                <a:ea typeface="Poppins" pitchFamily="34" charset="-122"/>
                <a:cs typeface="Poppins" pitchFamily="34" charset="-120"/>
              </a:rPr>
              <a:t> event carries the new state, and the consumer upserts its copy</a:t>
            </a:r>
            <a:endParaRPr lang="en-US" sz="1400" dirty="0"/>
          </a:p>
          <a:p>
            <a:pPr marL="284480" indent="-28448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120"/>
              </a:rPr>
              <a:t>DeliveryDelayed is a notification, ParcelDelivered a state transfer</a:t>
            </a:r>
            <a:endParaRPr lang="en-US" sz="1400" dirty="0"/>
          </a:p>
          <a:p>
            <a:pPr marL="284480" indent="-28448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120"/>
              </a:rPr>
              <a:t>Name events after business facts, such as </a:t>
            </a:r>
            <a:r>
              <a:rPr lang="en-US" sz="1400" b="1" dirty="0">
                <a:solidFill>
                  <a:srgbClr val="1B365D"/>
                </a:solidFill>
                <a:latin typeface="Poppins Bold" pitchFamily="34" charset="0"/>
                <a:ea typeface="Poppins Bold" pitchFamily="34" charset="-122"/>
                <a:cs typeface="Poppins Bold" pitchFamily="34" charset="-120"/>
              </a:rPr>
              <a:t>ParcelDelivered</a:t>
            </a:r>
            <a:endParaRPr lang="en-US" sz="1400" dirty="0"/>
          </a:p>
        </p:txBody>
      </p:sp>
      <p:pic>
        <p:nvPicPr>
          <p:cNvPr id="5" name="Image 0" descr="preencoded.png"/>
          <p:cNvPicPr>
            <a:picLocks noChangeAspect="1"/>
          </p:cNvPicPr>
          <p:nvPr/>
        </p:nvPicPr>
        <p:blipFill>
          <a:blip r:embed="rId3"/>
          <a:stretch>
            <a:fillRect/>
          </a:stretch>
        </p:blipFill>
        <p:spPr>
          <a:xfrm>
            <a:off x="5694418" y="2247404"/>
            <a:ext cx="6090887" cy="3426123"/>
          </a:xfrm>
          <a:prstGeom prst="rect">
            <a:avLst/>
          </a:prstGeom>
        </p:spPr>
      </p:pic>
    </p:spTree>
    <p:extLst>
      <p:ext uri="{BB962C8B-B14F-4D97-AF65-F5344CB8AC3E}">
        <p14:creationId xmlns:p14="http://schemas.microsoft.com/office/powerpoint/2010/main" val="390992001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09600" y="457200"/>
            <a:ext cx="11175705" cy="453073"/>
          </a:xfrm>
          <a:prstGeom prst="rect">
            <a:avLst/>
          </a:prstGeom>
          <a:noFill/>
          <a:ln/>
        </p:spPr>
        <p:txBody>
          <a:bodyPr wrap="square" lIns="0" tIns="0" rIns="0" bIns="0" rtlCol="0" anchor="t">
            <a:spAutoFit/>
          </a:bodyPr>
          <a:lstStyle/>
          <a:p>
            <a:pPr marL="0" indent="0" algn="l">
              <a:lnSpc>
                <a:spcPct val="92000"/>
              </a:lnSpc>
              <a:buNone/>
            </a:pPr>
            <a:r>
              <a:rPr lang="en-US" sz="3200" b="1" dirty="0">
                <a:solidFill>
                  <a:srgbClr val="0D0D0D"/>
                </a:solidFill>
                <a:latin typeface="Montserrat Bold" pitchFamily="34" charset="0"/>
                <a:ea typeface="Montserrat Bold" pitchFamily="34" charset="-122"/>
                <a:cs typeface="Montserrat Bold" pitchFamily="34" charset="-120"/>
              </a:rPr>
              <a:t>The CloudEvents 1.0 envelope</a:t>
            </a:r>
            <a:endParaRPr lang="en-US" sz="3200" dirty="0"/>
          </a:p>
        </p:txBody>
      </p:sp>
      <p:sp>
        <p:nvSpPr>
          <p:cNvPr id="3" name="Text 1"/>
          <p:cNvSpPr/>
          <p:nvPr/>
        </p:nvSpPr>
        <p:spPr>
          <a:xfrm>
            <a:off x="609600" y="1062673"/>
            <a:ext cx="11175705" cy="283154"/>
          </a:xfrm>
          <a:prstGeom prst="rect">
            <a:avLst/>
          </a:prstGeom>
          <a:noFill/>
          <a:ln/>
        </p:spPr>
        <p:txBody>
          <a:bodyPr wrap="square" lIns="0" tIns="0" rIns="0" bIns="0" rtlCol="0" anchor="t">
            <a:spAutoFit/>
          </a:bodyPr>
          <a:lstStyle/>
          <a:p>
            <a:pPr marL="0" indent="0" algn="l">
              <a:lnSpc>
                <a:spcPct val="92000"/>
              </a:lnSpc>
              <a:buNone/>
            </a:pPr>
            <a:r>
              <a:rPr lang="en-US" sz="2000" b="1" dirty="0">
                <a:solidFill>
                  <a:srgbClr val="0D0D0D"/>
                </a:solidFill>
                <a:latin typeface="Montserrat Bold" pitchFamily="34" charset="0"/>
                <a:ea typeface="Montserrat Bold" pitchFamily="34" charset="-122"/>
                <a:cs typeface="Montserrat Bold" pitchFamily="34" charset="-120"/>
              </a:rPr>
              <a:t>One envelope that consumers read without the producer's format</a:t>
            </a:r>
            <a:endParaRPr lang="en-US" sz="2000" dirty="0"/>
          </a:p>
        </p:txBody>
      </p:sp>
      <p:sp>
        <p:nvSpPr>
          <p:cNvPr id="4" name="Text 2"/>
          <p:cNvSpPr/>
          <p:nvPr/>
        </p:nvSpPr>
        <p:spPr>
          <a:xfrm>
            <a:off x="609600" y="2718977"/>
            <a:ext cx="4780125" cy="2666206"/>
          </a:xfrm>
          <a:prstGeom prst="rect">
            <a:avLst/>
          </a:prstGeom>
          <a:noFill/>
          <a:ln/>
        </p:spPr>
        <p:txBody>
          <a:bodyPr wrap="square" lIns="0" tIns="0" rIns="0" bIns="0" rtlCol="0" anchor="t">
            <a:normAutofit/>
          </a:bodyPr>
          <a:lstStyle/>
          <a:p>
            <a:pPr marL="284480" indent="-28448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120"/>
              </a:rPr>
              <a:t>Four required attributes: </a:t>
            </a:r>
            <a:r>
              <a:rPr lang="en-US" sz="1400" b="1" dirty="0">
                <a:solidFill>
                  <a:srgbClr val="1B365D"/>
                </a:solidFill>
                <a:latin typeface="Poppins Bold" pitchFamily="34" charset="0"/>
                <a:ea typeface="Poppins Bold" pitchFamily="34" charset="-122"/>
                <a:cs typeface="Poppins Bold" pitchFamily="34" charset="-120"/>
              </a:rPr>
              <a:t>id</a:t>
            </a:r>
            <a:r>
              <a:rPr lang="en-US" sz="1400" dirty="0">
                <a:solidFill>
                  <a:srgbClr val="1B365D"/>
                </a:solidFill>
                <a:latin typeface="Poppins" pitchFamily="34" charset="0"/>
                <a:ea typeface="Poppins" pitchFamily="34" charset="-122"/>
                <a:cs typeface="Poppins" pitchFamily="34" charset="-120"/>
              </a:rPr>
              <a:t>, source, specversion and type</a:t>
            </a:r>
            <a:endParaRPr lang="en-US" sz="1400" dirty="0"/>
          </a:p>
          <a:p>
            <a:pPr marL="284480" indent="-28448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120"/>
              </a:rPr>
              <a:t>Optional attributes are datacontenttype, subject and time; </a:t>
            </a:r>
            <a:r>
              <a:rPr lang="en-US" sz="1400" b="1" dirty="0">
                <a:solidFill>
                  <a:srgbClr val="1B365D"/>
                </a:solidFill>
                <a:latin typeface="Poppins Bold" pitchFamily="34" charset="0"/>
                <a:ea typeface="Poppins Bold" pitchFamily="34" charset="-122"/>
                <a:cs typeface="Poppins Bold" pitchFamily="34" charset="-120"/>
              </a:rPr>
              <a:t>data</a:t>
            </a:r>
            <a:r>
              <a:rPr lang="en-US" sz="1400" dirty="0">
                <a:solidFill>
                  <a:srgbClr val="1B365D"/>
                </a:solidFill>
                <a:latin typeface="Poppins" pitchFamily="34" charset="0"/>
                <a:ea typeface="Poppins" pitchFamily="34" charset="-122"/>
                <a:cs typeface="Poppins" pitchFamily="34" charset="-120"/>
              </a:rPr>
              <a:t> carries the payload</a:t>
            </a:r>
            <a:endParaRPr lang="en-US" sz="1400" dirty="0"/>
          </a:p>
          <a:p>
            <a:pPr marL="284480" indent="-28448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120"/>
              </a:rPr>
              <a:t>The id is unique per event, so consumers use it to detect duplicates</a:t>
            </a:r>
            <a:endParaRPr lang="en-US" sz="1400" dirty="0"/>
          </a:p>
          <a:p>
            <a:pPr marL="284480" indent="-28448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120"/>
              </a:rPr>
              <a:t>The </a:t>
            </a:r>
            <a:r>
              <a:rPr lang="en-US" sz="1400" b="1" dirty="0">
                <a:solidFill>
                  <a:srgbClr val="1B365D"/>
                </a:solidFill>
                <a:latin typeface="Poppins Bold" pitchFamily="34" charset="0"/>
                <a:ea typeface="Poppins Bold" pitchFamily="34" charset="-122"/>
                <a:cs typeface="Poppins Bold" pitchFamily="34" charset="-120"/>
              </a:rPr>
              <a:t>subject</a:t>
            </a:r>
            <a:r>
              <a:rPr lang="en-US" sz="1400" dirty="0">
                <a:solidFill>
                  <a:srgbClr val="1B365D"/>
                </a:solidFill>
                <a:latin typeface="Poppins" pitchFamily="34" charset="0"/>
                <a:ea typeface="Poppins" pitchFamily="34" charset="-122"/>
                <a:cs typeface="Poppins" pitchFamily="34" charset="-120"/>
              </a:rPr>
              <a:t> names the parcel, so brokers filter without parsing data</a:t>
            </a:r>
            <a:endParaRPr lang="en-US" sz="1400" dirty="0"/>
          </a:p>
          <a:p>
            <a:pPr marL="284480" indent="-28448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120"/>
              </a:rPr>
              <a:t>Event Grid namespace topics and Dapr carry it; Service Bus carries plain JSON</a:t>
            </a:r>
            <a:endParaRPr lang="en-US" sz="1400" dirty="0"/>
          </a:p>
        </p:txBody>
      </p:sp>
      <p:pic>
        <p:nvPicPr>
          <p:cNvPr id="5" name="Image 0" descr="preencoded.png"/>
          <p:cNvPicPr>
            <a:picLocks noChangeAspect="1"/>
          </p:cNvPicPr>
          <p:nvPr/>
        </p:nvPicPr>
        <p:blipFill>
          <a:blip r:embed="rId3"/>
          <a:stretch>
            <a:fillRect/>
          </a:stretch>
        </p:blipFill>
        <p:spPr>
          <a:xfrm>
            <a:off x="5694418" y="2247404"/>
            <a:ext cx="6090887" cy="3426123"/>
          </a:xfrm>
          <a:prstGeom prst="rect">
            <a:avLst/>
          </a:prstGeom>
        </p:spPr>
      </p:pic>
    </p:spTree>
    <p:extLst>
      <p:ext uri="{BB962C8B-B14F-4D97-AF65-F5344CB8AC3E}">
        <p14:creationId xmlns:p14="http://schemas.microsoft.com/office/powerpoint/2010/main" val="169181748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7F7F5"/>
        </a:solidFill>
        <a:effectLst/>
      </p:bgPr>
    </p:bg>
    <p:spTree>
      <p:nvGrpSpPr>
        <p:cNvPr id="1" name=""/>
        <p:cNvGrpSpPr/>
        <p:nvPr/>
      </p:nvGrpSpPr>
      <p:grpSpPr>
        <a:xfrm>
          <a:off x="0" y="0"/>
          <a:ext cx="0" cy="0"/>
          <a:chOff x="0" y="0"/>
          <a:chExt cx="0" cy="0"/>
        </a:xfrm>
      </p:grpSpPr>
      <p:sp>
        <p:nvSpPr>
          <p:cNvPr id="2" name="gd-topics-text"/>
          <p:cNvSpPr txBox="1"/>
          <p:nvPr/>
        </p:nvSpPr>
        <p:spPr>
          <a:xfrm>
            <a:off x="692767" y="1150000"/>
            <a:ext cx="4900000" cy="3600000"/>
          </a:xfrm>
          <a:prstGeom prst="rect">
            <a:avLst/>
          </a:prstGeom>
          <a:noFill/>
        </p:spPr>
        <p:txBody>
          <a:bodyPr wrap="square" lIns="0" tIns="0" rIns="0" bIns="0" anchor="ctr">
            <a:spAutoFit/>
          </a:bodyPr>
          <a:lstStyle/>
          <a:p>
            <a:pPr>
              <a:lnSpc>
                <a:spcPct val="95000"/>
              </a:lnSpc>
              <a:spcBef>
                <a:spcPts val="0"/>
              </a:spcBef>
            </a:pPr>
            <a:r>
              <a:rPr sz="24000" b="1">
                <a:solidFill>
                  <a:srgbClr val="D4B483"/>
                </a:solidFill>
                <a:latin typeface="Montserrat"/>
              </a:rPr>
              <a:t>05</a:t>
            </a:r>
          </a:p>
        </p:txBody>
      </p:sp>
      <p:sp>
        <p:nvSpPr>
          <p:cNvPr id="3" name="gd-topics-box"/>
          <p:cNvSpPr/>
          <p:nvPr/>
        </p:nvSpPr>
        <p:spPr>
          <a:xfrm>
            <a:off x="5600000" y="1500000"/>
            <a:ext cx="38089" cy="2900000"/>
          </a:xfrm>
          <a:prstGeom prst="rect">
            <a:avLst/>
          </a:prstGeom>
          <a:solidFill>
            <a:srgbClr val="D4B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gd-topics-text"/>
          <p:cNvSpPr txBox="1"/>
          <p:nvPr/>
        </p:nvSpPr>
        <p:spPr>
          <a:xfrm>
            <a:off x="6100000" y="1500000"/>
            <a:ext cx="5279233" cy="2900000"/>
          </a:xfrm>
          <a:prstGeom prst="rect">
            <a:avLst/>
          </a:prstGeom>
          <a:noFill/>
        </p:spPr>
        <p:txBody>
          <a:bodyPr wrap="square" lIns="0" tIns="0" rIns="0" bIns="0" anchor="ctr">
            <a:spAutoFit/>
          </a:bodyPr>
          <a:lstStyle/>
          <a:p>
            <a:pPr>
              <a:lnSpc>
                <a:spcPct val="95000"/>
              </a:lnSpc>
              <a:spcBef>
                <a:spcPts val="0"/>
              </a:spcBef>
            </a:pPr>
            <a:r>
              <a:rPr sz="3200" b="1">
                <a:solidFill>
                  <a:srgbClr val="2D3436"/>
                </a:solidFill>
                <a:latin typeface="Montserrat"/>
              </a:rPr>
              <a:t>Reliability Patterns: Outbox, Saga, Idempotency</a:t>
            </a:r>
          </a:p>
          <a:p>
            <a:pPr>
              <a:lnSpc>
                <a:spcPct val="95000"/>
              </a:lnSpc>
              <a:spcBef>
                <a:spcPts val="1400"/>
              </a:spcBef>
            </a:pPr>
            <a:r>
              <a:rPr sz="2000" b="0">
                <a:solidFill>
                  <a:srgbClr val="595F67"/>
                </a:solidFill>
                <a:latin typeface="Poppins"/>
              </a:rPr>
              <a:t>The failures that break event flows</a:t>
            </a:r>
          </a:p>
        </p:txBody>
      </p:sp>
      <p:sp>
        <p:nvSpPr>
          <p:cNvPr id="5" name="gd-topics-box"/>
          <p:cNvSpPr/>
          <p:nvPr/>
        </p:nvSpPr>
        <p:spPr>
          <a:xfrm>
            <a:off x="6100000" y="4750000"/>
            <a:ext cx="816372"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gd-topics-box"/>
          <p:cNvSpPr/>
          <p:nvPr/>
        </p:nvSpPr>
        <p:spPr>
          <a:xfrm>
            <a:off x="6992572" y="4750000"/>
            <a:ext cx="816372"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gd-topics-box"/>
          <p:cNvSpPr/>
          <p:nvPr/>
        </p:nvSpPr>
        <p:spPr>
          <a:xfrm>
            <a:off x="7885144" y="4750000"/>
            <a:ext cx="816372"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gd-topics-box"/>
          <p:cNvSpPr/>
          <p:nvPr/>
        </p:nvSpPr>
        <p:spPr>
          <a:xfrm>
            <a:off x="8777716" y="4750000"/>
            <a:ext cx="816372"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gd-topics-box"/>
          <p:cNvSpPr/>
          <p:nvPr/>
        </p:nvSpPr>
        <p:spPr>
          <a:xfrm>
            <a:off x="9670288" y="4750000"/>
            <a:ext cx="816372" cy="45720"/>
          </a:xfrm>
          <a:prstGeom prst="rect">
            <a:avLst/>
          </a:prstGeom>
          <a:solidFill>
            <a:srgbClr val="D4B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gd-topics-box"/>
          <p:cNvSpPr/>
          <p:nvPr/>
        </p:nvSpPr>
        <p:spPr>
          <a:xfrm>
            <a:off x="10562860" y="4750000"/>
            <a:ext cx="816372"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gd-topics-box"/>
          <p:cNvSpPr/>
          <p:nvPr/>
        </p:nvSpPr>
        <p:spPr>
          <a:xfrm>
            <a:off x="812767" y="6190000"/>
            <a:ext cx="10566466" cy="12700"/>
          </a:xfrm>
          <a:prstGeom prst="rect">
            <a:avLst/>
          </a:prstGeom>
          <a:solidFill>
            <a:srgbClr val="E3E1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gd-topics-text"/>
          <p:cNvSpPr txBox="1"/>
          <p:nvPr/>
        </p:nvSpPr>
        <p:spPr>
          <a:xfrm>
            <a:off x="812767" y="6290000"/>
            <a:ext cx="10566466" cy="300000"/>
          </a:xfrm>
          <a:prstGeom prst="rect">
            <a:avLst/>
          </a:prstGeom>
          <a:noFill/>
        </p:spPr>
        <p:txBody>
          <a:bodyPr wrap="square" lIns="0" tIns="0" rIns="0" bIns="0" anchor="t">
            <a:spAutoFit/>
          </a:bodyPr>
          <a:lstStyle/>
          <a:p>
            <a:pPr>
              <a:lnSpc>
                <a:spcPct val="95000"/>
              </a:lnSpc>
              <a:spcBef>
                <a:spcPts val="0"/>
              </a:spcBef>
            </a:pPr>
            <a:r>
              <a:rPr sz="1100" b="0">
                <a:solidFill>
                  <a:srgbClr val="595F67"/>
                </a:solidFill>
                <a:latin typeface="Poppins"/>
              </a:rPr>
              <a:t>Event-Driven Distributed Apps on Azure: Aspire, Dapr &amp; Durable Execution</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09600" y="457200"/>
            <a:ext cx="11175705" cy="453073"/>
          </a:xfrm>
          <a:prstGeom prst="rect">
            <a:avLst/>
          </a:prstGeom>
          <a:noFill/>
          <a:ln/>
        </p:spPr>
        <p:txBody>
          <a:bodyPr wrap="square" lIns="0" tIns="0" rIns="0" bIns="0" rtlCol="0" anchor="t">
            <a:spAutoFit/>
          </a:bodyPr>
          <a:lstStyle/>
          <a:p>
            <a:pPr marL="0" indent="0" algn="l">
              <a:lnSpc>
                <a:spcPct val="92000"/>
              </a:lnSpc>
              <a:buNone/>
            </a:pPr>
            <a:r>
              <a:rPr lang="en-US" sz="3200" b="1" dirty="0">
                <a:solidFill>
                  <a:srgbClr val="0D0D0D"/>
                </a:solidFill>
                <a:latin typeface="Montserrat Bold" pitchFamily="34" charset="0"/>
                <a:ea typeface="Montserrat Bold" pitchFamily="34" charset="-122"/>
                <a:cs typeface="Montserrat Bold" pitchFamily="34" charset="-120"/>
              </a:rPr>
              <a:t>Failures that break event flows</a:t>
            </a:r>
            <a:endParaRPr lang="en-US" sz="3200" dirty="0"/>
          </a:p>
        </p:txBody>
      </p:sp>
      <p:sp>
        <p:nvSpPr>
          <p:cNvPr id="3" name="Text 1"/>
          <p:cNvSpPr/>
          <p:nvPr/>
        </p:nvSpPr>
        <p:spPr>
          <a:xfrm>
            <a:off x="609600" y="1062673"/>
            <a:ext cx="11175705" cy="283154"/>
          </a:xfrm>
          <a:prstGeom prst="rect">
            <a:avLst/>
          </a:prstGeom>
          <a:noFill/>
          <a:ln/>
        </p:spPr>
        <p:txBody>
          <a:bodyPr wrap="square" lIns="0" tIns="0" rIns="0" bIns="0" rtlCol="0" anchor="t">
            <a:spAutoFit/>
          </a:bodyPr>
          <a:lstStyle/>
          <a:p>
            <a:pPr marL="0" indent="0" algn="l">
              <a:lnSpc>
                <a:spcPct val="92000"/>
              </a:lnSpc>
              <a:buNone/>
            </a:pPr>
            <a:r>
              <a:rPr lang="en-US" sz="2000" b="1" dirty="0">
                <a:solidFill>
                  <a:srgbClr val="0D0D0D"/>
                </a:solidFill>
                <a:latin typeface="Montserrat Bold" pitchFamily="34" charset="0"/>
                <a:ea typeface="Montserrat Bold" pitchFamily="34" charset="-122"/>
                <a:cs typeface="Montserrat Bold" pitchFamily="34" charset="-120"/>
              </a:rPr>
              <a:t>Each failure in one booking and the pattern that prevents it</a:t>
            </a:r>
            <a:endParaRPr lang="en-US" sz="2000" dirty="0"/>
          </a:p>
        </p:txBody>
      </p:sp>
      <p:sp>
        <p:nvSpPr>
          <p:cNvPr id="4" name="Text 2"/>
          <p:cNvSpPr/>
          <p:nvPr/>
        </p:nvSpPr>
        <p:spPr>
          <a:xfrm>
            <a:off x="609600" y="2718977"/>
            <a:ext cx="4780125" cy="2666206"/>
          </a:xfrm>
          <a:prstGeom prst="rect">
            <a:avLst/>
          </a:prstGeom>
          <a:noFill/>
          <a:ln/>
        </p:spPr>
        <p:txBody>
          <a:bodyPr wrap="square" lIns="0" tIns="0" rIns="0" bIns="0" rtlCol="0" anchor="t">
            <a:normAutofit/>
          </a:bodyPr>
          <a:lstStyle/>
          <a:p>
            <a:pPr marL="284480" indent="-28448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120"/>
              </a:rPr>
              <a:t>The </a:t>
            </a:r>
            <a:r>
              <a:rPr lang="en-US" sz="1400" b="1" dirty="0">
                <a:solidFill>
                  <a:srgbClr val="1B365D"/>
                </a:solidFill>
                <a:latin typeface="Poppins Bold" pitchFamily="34" charset="0"/>
                <a:ea typeface="Poppins Bold" pitchFamily="34" charset="-122"/>
                <a:cs typeface="Poppins Bold" pitchFamily="34" charset="-120"/>
              </a:rPr>
              <a:t>transactional outbox</a:t>
            </a:r>
            <a:r>
              <a:rPr lang="en-US" sz="1400" dirty="0">
                <a:solidFill>
                  <a:srgbClr val="1B365D"/>
                </a:solidFill>
                <a:latin typeface="Poppins" pitchFamily="34" charset="0"/>
                <a:ea typeface="Poppins" pitchFamily="34" charset="-122"/>
                <a:cs typeface="Poppins" pitchFamily="34" charset="-120"/>
              </a:rPr>
              <a:t> stores the change and the event in one transaction</a:t>
            </a:r>
            <a:endParaRPr lang="en-US" sz="1400" dirty="0"/>
          </a:p>
          <a:p>
            <a:pPr marL="284480" indent="-28448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120"/>
              </a:rPr>
              <a:t>The </a:t>
            </a:r>
            <a:r>
              <a:rPr lang="en-US" sz="1400" b="1" dirty="0">
                <a:solidFill>
                  <a:srgbClr val="1B365D"/>
                </a:solidFill>
                <a:latin typeface="Poppins Bold" pitchFamily="34" charset="0"/>
                <a:ea typeface="Poppins Bold" pitchFamily="34" charset="-122"/>
                <a:cs typeface="Poppins Bold" pitchFamily="34" charset="-120"/>
              </a:rPr>
              <a:t>idempotent consumer</a:t>
            </a:r>
            <a:r>
              <a:rPr lang="en-US" sz="1400" dirty="0">
                <a:solidFill>
                  <a:srgbClr val="1B365D"/>
                </a:solidFill>
                <a:latin typeface="Poppins" pitchFamily="34" charset="0"/>
                <a:ea typeface="Poppins" pitchFamily="34" charset="-122"/>
                <a:cs typeface="Poppins" pitchFamily="34" charset="-120"/>
              </a:rPr>
              <a:t> records each message it has processed</a:t>
            </a:r>
            <a:endParaRPr lang="en-US" sz="1400" dirty="0"/>
          </a:p>
          <a:p>
            <a:pPr marL="284480" indent="-28448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120"/>
              </a:rPr>
              <a:t>A </a:t>
            </a:r>
            <a:r>
              <a:rPr lang="en-US" sz="1400" b="1" dirty="0">
                <a:solidFill>
                  <a:srgbClr val="1B365D"/>
                </a:solidFill>
                <a:latin typeface="Poppins Bold" pitchFamily="34" charset="0"/>
                <a:ea typeface="Poppins Bold" pitchFamily="34" charset="-122"/>
                <a:cs typeface="Poppins Bold" pitchFamily="34" charset="-120"/>
              </a:rPr>
              <a:t>saga</a:t>
            </a:r>
            <a:r>
              <a:rPr lang="en-US" sz="1400" dirty="0">
                <a:solidFill>
                  <a:srgbClr val="1B365D"/>
                </a:solidFill>
                <a:latin typeface="Poppins" pitchFamily="34" charset="0"/>
                <a:ea typeface="Poppins" pitchFamily="34" charset="-122"/>
                <a:cs typeface="Poppins" pitchFamily="34" charset="-120"/>
              </a:rPr>
              <a:t> undoes committed steps when a later step fails</a:t>
            </a:r>
            <a:endParaRPr lang="en-US" sz="1400" dirty="0"/>
          </a:p>
          <a:p>
            <a:pPr marL="284480" indent="-284480" algn="l">
              <a:lnSpc>
                <a:spcPct val="117000"/>
              </a:lnSpc>
              <a:buSzPct val="100000"/>
              <a:buChar char="•"/>
            </a:pPr>
            <a:r>
              <a:rPr lang="en-US" sz="1400" b="1" dirty="0">
                <a:solidFill>
                  <a:srgbClr val="1B365D"/>
                </a:solidFill>
                <a:latin typeface="Poppins Bold" pitchFamily="34" charset="0"/>
                <a:ea typeface="Poppins Bold" pitchFamily="34" charset="-122"/>
                <a:cs typeface="Poppins Bold" pitchFamily="34" charset="-120"/>
              </a:rPr>
              <a:t>Retries</a:t>
            </a:r>
            <a:r>
              <a:rPr lang="en-US" sz="1400" dirty="0">
                <a:solidFill>
                  <a:srgbClr val="1B365D"/>
                </a:solidFill>
                <a:latin typeface="Poppins" pitchFamily="34" charset="0"/>
                <a:ea typeface="Poppins" pitchFamily="34" charset="-122"/>
                <a:cs typeface="Poppins" pitchFamily="34" charset="-120"/>
              </a:rPr>
              <a:t> with exponential backoff and jitter handle transient faults</a:t>
            </a:r>
            <a:endParaRPr lang="en-US" sz="1400" dirty="0"/>
          </a:p>
          <a:p>
            <a:pPr marL="284480" indent="-284480" algn="l">
              <a:lnSpc>
                <a:spcPct val="117000"/>
              </a:lnSpc>
              <a:buSzPct val="100000"/>
              <a:buChar char="•"/>
            </a:pPr>
            <a:r>
              <a:rPr lang="en-US" sz="1400" b="1" dirty="0">
                <a:solidFill>
                  <a:srgbClr val="1B365D"/>
                </a:solidFill>
                <a:latin typeface="Poppins Bold" pitchFamily="34" charset="0"/>
                <a:ea typeface="Poppins Bold" pitchFamily="34" charset="-122"/>
                <a:cs typeface="Poppins Bold" pitchFamily="34" charset="-120"/>
              </a:rPr>
              <a:t>Dead-lettering</a:t>
            </a:r>
            <a:r>
              <a:rPr lang="en-US" sz="1400" dirty="0">
                <a:solidFill>
                  <a:srgbClr val="1B365D"/>
                </a:solidFill>
                <a:latin typeface="Poppins" pitchFamily="34" charset="0"/>
                <a:ea typeface="Poppins" pitchFamily="34" charset="-122"/>
                <a:cs typeface="Poppins" pitchFamily="34" charset="-120"/>
              </a:rPr>
              <a:t> moves poison messages aside; a claim check carries large payloads</a:t>
            </a:r>
            <a:endParaRPr lang="en-US" sz="1400" dirty="0"/>
          </a:p>
        </p:txBody>
      </p:sp>
      <p:pic>
        <p:nvPicPr>
          <p:cNvPr id="5" name="Image 0" descr="preencoded.png"/>
          <p:cNvPicPr>
            <a:picLocks noChangeAspect="1"/>
          </p:cNvPicPr>
          <p:nvPr/>
        </p:nvPicPr>
        <p:blipFill>
          <a:blip r:embed="rId3"/>
          <a:stretch>
            <a:fillRect/>
          </a:stretch>
        </p:blipFill>
        <p:spPr>
          <a:xfrm>
            <a:off x="5694418" y="2246015"/>
            <a:ext cx="5266796" cy="3428901"/>
          </a:xfrm>
          <a:prstGeom prst="rect">
            <a:avLst/>
          </a:prstGeom>
        </p:spPr>
      </p:pic>
    </p:spTree>
    <p:extLst>
      <p:ext uri="{BB962C8B-B14F-4D97-AF65-F5344CB8AC3E}">
        <p14:creationId xmlns:p14="http://schemas.microsoft.com/office/powerpoint/2010/main" val="363615579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09600" y="457200"/>
            <a:ext cx="11175705" cy="453073"/>
          </a:xfrm>
          <a:prstGeom prst="rect">
            <a:avLst/>
          </a:prstGeom>
          <a:noFill/>
          <a:ln/>
        </p:spPr>
        <p:txBody>
          <a:bodyPr wrap="square" lIns="0" tIns="0" rIns="0" bIns="0" rtlCol="0" anchor="t">
            <a:spAutoFit/>
          </a:bodyPr>
          <a:lstStyle/>
          <a:p>
            <a:pPr marL="0" indent="0" algn="l">
              <a:lnSpc>
                <a:spcPct val="92000"/>
              </a:lnSpc>
              <a:buNone/>
            </a:pPr>
            <a:r>
              <a:rPr lang="en-US" sz="3200" b="1" dirty="0">
                <a:solidFill>
                  <a:srgbClr val="0D0D0D"/>
                </a:solidFill>
                <a:latin typeface="Montserrat Bold" pitchFamily="34" charset="0"/>
                <a:ea typeface="Montserrat Bold" pitchFamily="34" charset="-122"/>
                <a:cs typeface="Montserrat Bold" pitchFamily="34" charset="-120"/>
              </a:rPr>
              <a:t>The booking saga</a:t>
            </a:r>
            <a:endParaRPr lang="en-US" sz="3200" dirty="0"/>
          </a:p>
        </p:txBody>
      </p:sp>
      <p:sp>
        <p:nvSpPr>
          <p:cNvPr id="3" name="Text 1"/>
          <p:cNvSpPr/>
          <p:nvPr/>
        </p:nvSpPr>
        <p:spPr>
          <a:xfrm>
            <a:off x="609600" y="1062673"/>
            <a:ext cx="11175705" cy="283154"/>
          </a:xfrm>
          <a:prstGeom prst="rect">
            <a:avLst/>
          </a:prstGeom>
          <a:noFill/>
          <a:ln/>
        </p:spPr>
        <p:txBody>
          <a:bodyPr wrap="square" lIns="0" tIns="0" rIns="0" bIns="0" rtlCol="0" anchor="t">
            <a:spAutoFit/>
          </a:bodyPr>
          <a:lstStyle/>
          <a:p>
            <a:pPr marL="0" indent="0" algn="l">
              <a:lnSpc>
                <a:spcPct val="92000"/>
              </a:lnSpc>
              <a:buNone/>
            </a:pPr>
            <a:r>
              <a:rPr lang="en-US" sz="2000" b="1" dirty="0">
                <a:solidFill>
                  <a:srgbClr val="0D0D0D"/>
                </a:solidFill>
                <a:latin typeface="Montserrat Bold" pitchFamily="34" charset="0"/>
                <a:ea typeface="Montserrat Bold" pitchFamily="34" charset="-122"/>
                <a:cs typeface="Montserrat Bold" pitchFamily="34" charset="-120"/>
              </a:rPr>
              <a:t>Local transactions with compensations in reverse order</a:t>
            </a:r>
            <a:endParaRPr lang="en-US" sz="2000" dirty="0"/>
          </a:p>
        </p:txBody>
      </p:sp>
      <p:sp>
        <p:nvSpPr>
          <p:cNvPr id="4" name="Text 2"/>
          <p:cNvSpPr/>
          <p:nvPr/>
        </p:nvSpPr>
        <p:spPr>
          <a:xfrm>
            <a:off x="609600" y="2718977"/>
            <a:ext cx="4780125" cy="2666206"/>
          </a:xfrm>
          <a:prstGeom prst="rect">
            <a:avLst/>
          </a:prstGeom>
          <a:noFill/>
          <a:ln/>
        </p:spPr>
        <p:txBody>
          <a:bodyPr wrap="square" lIns="0" tIns="0" rIns="0" bIns="0" rtlCol="0" anchor="t">
            <a:normAutofit/>
          </a:bodyPr>
          <a:lstStyle/>
          <a:p>
            <a:pPr marL="284480" indent="-28448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120"/>
              </a:rPr>
              <a:t>A </a:t>
            </a:r>
            <a:r>
              <a:rPr lang="en-US" sz="1400" b="1" dirty="0">
                <a:solidFill>
                  <a:srgbClr val="1B365D"/>
                </a:solidFill>
                <a:latin typeface="Poppins Bold" pitchFamily="34" charset="0"/>
                <a:ea typeface="Poppins Bold" pitchFamily="34" charset="-122"/>
                <a:cs typeface="Poppins Bold" pitchFamily="34" charset="-120"/>
              </a:rPr>
              <a:t>saga</a:t>
            </a:r>
            <a:r>
              <a:rPr lang="en-US" sz="1400" dirty="0">
                <a:solidFill>
                  <a:srgbClr val="1B365D"/>
                </a:solidFill>
                <a:latin typeface="Poppins" pitchFamily="34" charset="0"/>
                <a:ea typeface="Poppins" pitchFamily="34" charset="-122"/>
                <a:cs typeface="Poppins" pitchFamily="34" charset="-120"/>
              </a:rPr>
              <a:t> replaces one distributed transaction with local transactions</a:t>
            </a:r>
            <a:endParaRPr lang="en-US" sz="1400" dirty="0"/>
          </a:p>
          <a:p>
            <a:pPr marL="284480" indent="-28448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120"/>
              </a:rPr>
              <a:t>Forward steps: ReserveCapacity, CapturePayment, PrintLabel</a:t>
            </a:r>
            <a:endParaRPr lang="en-US" sz="1400" dirty="0"/>
          </a:p>
          <a:p>
            <a:pPr marL="284480" indent="-284480" algn="l">
              <a:lnSpc>
                <a:spcPct val="117000"/>
              </a:lnSpc>
              <a:buSzPct val="100000"/>
              <a:buChar char="•"/>
            </a:pPr>
            <a:r>
              <a:rPr lang="en-US" sz="1400" b="1" dirty="0">
                <a:solidFill>
                  <a:srgbClr val="1B365D"/>
                </a:solidFill>
                <a:latin typeface="Poppins Bold" pitchFamily="34" charset="0"/>
                <a:ea typeface="Poppins Bold" pitchFamily="34" charset="-122"/>
                <a:cs typeface="Poppins Bold" pitchFamily="34" charset="-120"/>
              </a:rPr>
              <a:t>Compensations</a:t>
            </a:r>
            <a:r>
              <a:rPr lang="en-US" sz="1400" dirty="0">
                <a:solidFill>
                  <a:srgbClr val="1B365D"/>
                </a:solidFill>
                <a:latin typeface="Poppins" pitchFamily="34" charset="0"/>
                <a:ea typeface="Poppins" pitchFamily="34" charset="-122"/>
                <a:cs typeface="Poppins" pitchFamily="34" charset="-120"/>
              </a:rPr>
              <a:t> release the capacity, refund the payment and void the label</a:t>
            </a:r>
            <a:endParaRPr lang="en-US" sz="1400" dirty="0"/>
          </a:p>
          <a:p>
            <a:pPr marL="284480" indent="-28448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120"/>
              </a:rPr>
              <a:t>Compensations run in the reverse order of the forward steps</a:t>
            </a:r>
            <a:endParaRPr lang="en-US" sz="1400" dirty="0"/>
          </a:p>
          <a:p>
            <a:pPr marL="284480" indent="-28448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120"/>
              </a:rPr>
              <a:t>Choreography fits a short flow, </a:t>
            </a:r>
            <a:r>
              <a:rPr lang="en-US" sz="1400" b="1" dirty="0">
                <a:solidFill>
                  <a:srgbClr val="1B365D"/>
                </a:solidFill>
                <a:latin typeface="Poppins Bold" pitchFamily="34" charset="0"/>
                <a:ea typeface="Poppins Bold" pitchFamily="34" charset="-122"/>
                <a:cs typeface="Poppins Bold" pitchFamily="34" charset="-120"/>
              </a:rPr>
              <a:t>orchestration</a:t>
            </a:r>
            <a:r>
              <a:rPr lang="en-US" sz="1400" dirty="0">
                <a:solidFill>
                  <a:srgbClr val="1B365D"/>
                </a:solidFill>
                <a:latin typeface="Poppins" pitchFamily="34" charset="0"/>
                <a:ea typeface="Poppins" pitchFamily="34" charset="-122"/>
                <a:cs typeface="Poppins" pitchFamily="34" charset="-120"/>
              </a:rPr>
              <a:t> a growing one</a:t>
            </a:r>
            <a:endParaRPr lang="en-US" sz="1400" dirty="0"/>
          </a:p>
        </p:txBody>
      </p:sp>
      <p:pic>
        <p:nvPicPr>
          <p:cNvPr id="5" name="Image 0" descr="preencoded.png"/>
          <p:cNvPicPr>
            <a:picLocks noChangeAspect="1"/>
          </p:cNvPicPr>
          <p:nvPr/>
        </p:nvPicPr>
        <p:blipFill>
          <a:blip r:embed="rId3"/>
          <a:stretch>
            <a:fillRect/>
          </a:stretch>
        </p:blipFill>
        <p:spPr>
          <a:xfrm>
            <a:off x="5694418" y="2564606"/>
            <a:ext cx="6090887" cy="2791718"/>
          </a:xfrm>
          <a:prstGeom prst="rect">
            <a:avLst/>
          </a:prstGeom>
        </p:spPr>
      </p:pic>
    </p:spTree>
    <p:extLst>
      <p:ext uri="{BB962C8B-B14F-4D97-AF65-F5344CB8AC3E}">
        <p14:creationId xmlns:p14="http://schemas.microsoft.com/office/powerpoint/2010/main" val="312266467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09600" y="457200"/>
            <a:ext cx="11175705" cy="453073"/>
          </a:xfrm>
          <a:prstGeom prst="rect">
            <a:avLst/>
          </a:prstGeom>
          <a:noFill/>
          <a:ln/>
        </p:spPr>
        <p:txBody>
          <a:bodyPr wrap="square" lIns="0" tIns="0" rIns="0" bIns="0" rtlCol="0" anchor="t">
            <a:spAutoFit/>
          </a:bodyPr>
          <a:lstStyle/>
          <a:p>
            <a:pPr marL="0" indent="0" algn="l">
              <a:lnSpc>
                <a:spcPct val="92000"/>
              </a:lnSpc>
              <a:buNone/>
            </a:pPr>
            <a:r>
              <a:rPr lang="en-US" sz="3200" b="1" dirty="0">
                <a:solidFill>
                  <a:srgbClr val="0D0D0D"/>
                </a:solidFill>
                <a:latin typeface="Montserrat Bold" pitchFamily="34" charset="0"/>
                <a:ea typeface="Montserrat Bold" pitchFamily="34" charset="-122"/>
                <a:cs typeface="Montserrat Bold" pitchFamily="34" charset="-120"/>
              </a:rPr>
              <a:t>Retries and dead-letters</a:t>
            </a:r>
            <a:endParaRPr lang="en-US" sz="3200" dirty="0"/>
          </a:p>
        </p:txBody>
      </p:sp>
      <p:sp>
        <p:nvSpPr>
          <p:cNvPr id="3" name="Text 1"/>
          <p:cNvSpPr/>
          <p:nvPr/>
        </p:nvSpPr>
        <p:spPr>
          <a:xfrm>
            <a:off x="609600" y="1062673"/>
            <a:ext cx="11175705" cy="283154"/>
          </a:xfrm>
          <a:prstGeom prst="rect">
            <a:avLst/>
          </a:prstGeom>
          <a:noFill/>
          <a:ln/>
        </p:spPr>
        <p:txBody>
          <a:bodyPr wrap="square" lIns="0" tIns="0" rIns="0" bIns="0" rtlCol="0" anchor="t">
            <a:spAutoFit/>
          </a:bodyPr>
          <a:lstStyle/>
          <a:p>
            <a:pPr marL="0" indent="0" algn="l">
              <a:lnSpc>
                <a:spcPct val="92000"/>
              </a:lnSpc>
              <a:buNone/>
            </a:pPr>
            <a:r>
              <a:rPr lang="en-US" sz="2000" b="1" dirty="0">
                <a:solidFill>
                  <a:srgbClr val="0D0D0D"/>
                </a:solidFill>
                <a:latin typeface="Montserrat Bold" pitchFamily="34" charset="0"/>
                <a:ea typeface="Montserrat Bold" pitchFamily="34" charset="-122"/>
                <a:cs typeface="Montserrat Bold" pitchFamily="34" charset="-120"/>
              </a:rPr>
              <a:t>Bounded retries for transient faults, a side queue for the rest</a:t>
            </a:r>
            <a:endParaRPr lang="en-US" sz="2000" dirty="0"/>
          </a:p>
        </p:txBody>
      </p:sp>
      <p:sp>
        <p:nvSpPr>
          <p:cNvPr id="4" name="Text 2"/>
          <p:cNvSpPr/>
          <p:nvPr/>
        </p:nvSpPr>
        <p:spPr>
          <a:xfrm>
            <a:off x="609600" y="2843786"/>
            <a:ext cx="4780125" cy="2417366"/>
          </a:xfrm>
          <a:prstGeom prst="rect">
            <a:avLst/>
          </a:prstGeom>
          <a:noFill/>
          <a:ln/>
        </p:spPr>
        <p:txBody>
          <a:bodyPr wrap="square" lIns="0" tIns="0" rIns="0" bIns="0" rtlCol="0" anchor="t">
            <a:normAutofit/>
          </a:bodyPr>
          <a:lstStyle/>
          <a:p>
            <a:pPr marL="284480" indent="-28448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120"/>
              </a:rPr>
              <a:t>Retry transient faults with </a:t>
            </a:r>
            <a:r>
              <a:rPr lang="en-US" sz="1400" b="1" dirty="0">
                <a:solidFill>
                  <a:srgbClr val="1B365D"/>
                </a:solidFill>
                <a:latin typeface="Poppins Bold" pitchFamily="34" charset="0"/>
                <a:ea typeface="Poppins Bold" pitchFamily="34" charset="-122"/>
                <a:cs typeface="Poppins Bold" pitchFamily="34" charset="-120"/>
              </a:rPr>
              <a:t>exponential backoff and jitter</a:t>
            </a:r>
            <a:endParaRPr lang="en-US" sz="1400" dirty="0"/>
          </a:p>
          <a:p>
            <a:pPr marL="284480" indent="-28448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120"/>
              </a:rPr>
              <a:t>Keep a finite retry count and a retry budget per dependency</a:t>
            </a:r>
            <a:endParaRPr lang="en-US" sz="1400" dirty="0"/>
          </a:p>
          <a:p>
            <a:pPr marL="284480" indent="-28448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120"/>
              </a:rPr>
              <a:t>Give every outbound call a </a:t>
            </a:r>
            <a:r>
              <a:rPr lang="en-US" sz="1400" b="1" dirty="0">
                <a:solidFill>
                  <a:srgbClr val="1B365D"/>
                </a:solidFill>
                <a:latin typeface="Poppins Bold" pitchFamily="34" charset="0"/>
                <a:ea typeface="Poppins Bold" pitchFamily="34" charset="-122"/>
                <a:cs typeface="Poppins Bold" pitchFamily="34" charset="-120"/>
              </a:rPr>
              <a:t>timeout</a:t>
            </a:r>
            <a:endParaRPr lang="en-US" sz="1400" dirty="0"/>
          </a:p>
          <a:p>
            <a:pPr marL="284480" indent="-28448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120"/>
              </a:rPr>
              <a:t>Service Bus dead-letters a message after </a:t>
            </a:r>
            <a:r>
              <a:rPr lang="en-US" sz="1400" b="1" dirty="0">
                <a:solidFill>
                  <a:srgbClr val="1B365D"/>
                </a:solidFill>
                <a:latin typeface="Poppins Bold" pitchFamily="34" charset="0"/>
                <a:ea typeface="Poppins Bold" pitchFamily="34" charset="-122"/>
                <a:cs typeface="Poppins Bold" pitchFamily="34" charset="-120"/>
              </a:rPr>
              <a:t>ten</a:t>
            </a:r>
            <a:r>
              <a:rPr lang="en-US" sz="1400" dirty="0">
                <a:solidFill>
                  <a:srgbClr val="1B365D"/>
                </a:solidFill>
                <a:latin typeface="Poppins" pitchFamily="34" charset="0"/>
                <a:ea typeface="Poppins" pitchFamily="34" charset="-122"/>
                <a:cs typeface="Poppins" pitchFamily="34" charset="-120"/>
              </a:rPr>
              <a:t> failed deliveries by default</a:t>
            </a:r>
            <a:endParaRPr lang="en-US" sz="1400" dirty="0"/>
          </a:p>
          <a:p>
            <a:pPr marL="284480" indent="-28448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120"/>
              </a:rPr>
              <a:t>Event Grid dead-letters to a storage account once you configure it</a:t>
            </a:r>
            <a:endParaRPr lang="en-US" sz="1400" dirty="0"/>
          </a:p>
        </p:txBody>
      </p:sp>
      <p:pic>
        <p:nvPicPr>
          <p:cNvPr id="5" name="Image 0" descr="preencoded.png"/>
          <p:cNvPicPr>
            <a:picLocks noChangeAspect="1"/>
          </p:cNvPicPr>
          <p:nvPr/>
        </p:nvPicPr>
        <p:blipFill>
          <a:blip r:embed="rId3"/>
          <a:stretch>
            <a:fillRect/>
          </a:stretch>
        </p:blipFill>
        <p:spPr>
          <a:xfrm>
            <a:off x="5694418" y="2691507"/>
            <a:ext cx="6090887" cy="2537916"/>
          </a:xfrm>
          <a:prstGeom prst="rect">
            <a:avLst/>
          </a:prstGeom>
        </p:spPr>
      </p:pic>
    </p:spTree>
    <p:extLst>
      <p:ext uri="{BB962C8B-B14F-4D97-AF65-F5344CB8AC3E}">
        <p14:creationId xmlns:p14="http://schemas.microsoft.com/office/powerpoint/2010/main" val="403609846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7F7F5"/>
        </a:solidFill>
        <a:effectLst/>
      </p:bgPr>
    </p:bg>
    <p:spTree>
      <p:nvGrpSpPr>
        <p:cNvPr id="1" name=""/>
        <p:cNvGrpSpPr/>
        <p:nvPr/>
      </p:nvGrpSpPr>
      <p:grpSpPr>
        <a:xfrm>
          <a:off x="0" y="0"/>
          <a:ext cx="0" cy="0"/>
          <a:chOff x="0" y="0"/>
          <a:chExt cx="0" cy="0"/>
        </a:xfrm>
      </p:grpSpPr>
      <p:sp>
        <p:nvSpPr>
          <p:cNvPr id="2" name="gd-topics-text"/>
          <p:cNvSpPr txBox="1"/>
          <p:nvPr/>
        </p:nvSpPr>
        <p:spPr>
          <a:xfrm>
            <a:off x="692767" y="1150000"/>
            <a:ext cx="4900000" cy="3600000"/>
          </a:xfrm>
          <a:prstGeom prst="rect">
            <a:avLst/>
          </a:prstGeom>
          <a:noFill/>
        </p:spPr>
        <p:txBody>
          <a:bodyPr wrap="square" lIns="0" tIns="0" rIns="0" bIns="0" anchor="ctr">
            <a:spAutoFit/>
          </a:bodyPr>
          <a:lstStyle/>
          <a:p>
            <a:pPr>
              <a:lnSpc>
                <a:spcPct val="95000"/>
              </a:lnSpc>
              <a:spcBef>
                <a:spcPts val="0"/>
              </a:spcBef>
            </a:pPr>
            <a:r>
              <a:rPr sz="24000" b="1">
                <a:solidFill>
                  <a:srgbClr val="D4B483"/>
                </a:solidFill>
                <a:latin typeface="Montserrat"/>
              </a:rPr>
              <a:t>06</a:t>
            </a:r>
          </a:p>
        </p:txBody>
      </p:sp>
      <p:sp>
        <p:nvSpPr>
          <p:cNvPr id="3" name="gd-topics-box"/>
          <p:cNvSpPr/>
          <p:nvPr/>
        </p:nvSpPr>
        <p:spPr>
          <a:xfrm>
            <a:off x="5600000" y="1500000"/>
            <a:ext cx="38089" cy="2900000"/>
          </a:xfrm>
          <a:prstGeom prst="rect">
            <a:avLst/>
          </a:prstGeom>
          <a:solidFill>
            <a:srgbClr val="D4B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gd-topics-text"/>
          <p:cNvSpPr txBox="1"/>
          <p:nvPr/>
        </p:nvSpPr>
        <p:spPr>
          <a:xfrm>
            <a:off x="6100000" y="1500000"/>
            <a:ext cx="5279233" cy="2900000"/>
          </a:xfrm>
          <a:prstGeom prst="rect">
            <a:avLst/>
          </a:prstGeom>
          <a:noFill/>
        </p:spPr>
        <p:txBody>
          <a:bodyPr wrap="square" lIns="0" tIns="0" rIns="0" bIns="0" anchor="ctr">
            <a:spAutoFit/>
          </a:bodyPr>
          <a:lstStyle/>
          <a:p>
            <a:pPr>
              <a:lnSpc>
                <a:spcPct val="95000"/>
              </a:lnSpc>
              <a:spcBef>
                <a:spcPts val="0"/>
              </a:spcBef>
            </a:pPr>
            <a:r>
              <a:rPr sz="4000" b="1">
                <a:solidFill>
                  <a:srgbClr val="2D3436"/>
                </a:solidFill>
                <a:latin typeface="Montserrat"/>
              </a:rPr>
              <a:t>Azure Messaging: Pick the Broker</a:t>
            </a:r>
          </a:p>
          <a:p>
            <a:pPr>
              <a:lnSpc>
                <a:spcPct val="95000"/>
              </a:lnSpc>
              <a:spcBef>
                <a:spcPts val="1400"/>
              </a:spcBef>
            </a:pPr>
            <a:r>
              <a:rPr sz="2000" b="0">
                <a:solidFill>
                  <a:srgbClr val="595F67"/>
                </a:solidFill>
                <a:latin typeface="Poppins"/>
              </a:rPr>
              <a:t>Service Bus, Event Grid, Event Hubs, Dapr pub/sub</a:t>
            </a:r>
          </a:p>
        </p:txBody>
      </p:sp>
      <p:sp>
        <p:nvSpPr>
          <p:cNvPr id="5" name="gd-topics-box"/>
          <p:cNvSpPr/>
          <p:nvPr/>
        </p:nvSpPr>
        <p:spPr>
          <a:xfrm>
            <a:off x="6100000" y="4750000"/>
            <a:ext cx="816372"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gd-topics-box"/>
          <p:cNvSpPr/>
          <p:nvPr/>
        </p:nvSpPr>
        <p:spPr>
          <a:xfrm>
            <a:off x="6992572" y="4750000"/>
            <a:ext cx="816372"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gd-topics-box"/>
          <p:cNvSpPr/>
          <p:nvPr/>
        </p:nvSpPr>
        <p:spPr>
          <a:xfrm>
            <a:off x="7885144" y="4750000"/>
            <a:ext cx="816372"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gd-topics-box"/>
          <p:cNvSpPr/>
          <p:nvPr/>
        </p:nvSpPr>
        <p:spPr>
          <a:xfrm>
            <a:off x="8777716" y="4750000"/>
            <a:ext cx="816372"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gd-topics-box"/>
          <p:cNvSpPr/>
          <p:nvPr/>
        </p:nvSpPr>
        <p:spPr>
          <a:xfrm>
            <a:off x="9670288" y="4750000"/>
            <a:ext cx="816372"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gd-topics-box"/>
          <p:cNvSpPr/>
          <p:nvPr/>
        </p:nvSpPr>
        <p:spPr>
          <a:xfrm>
            <a:off x="10562860" y="4750000"/>
            <a:ext cx="816372" cy="45720"/>
          </a:xfrm>
          <a:prstGeom prst="rect">
            <a:avLst/>
          </a:prstGeom>
          <a:solidFill>
            <a:srgbClr val="D4B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gd-topics-box"/>
          <p:cNvSpPr/>
          <p:nvPr/>
        </p:nvSpPr>
        <p:spPr>
          <a:xfrm>
            <a:off x="812767" y="6190000"/>
            <a:ext cx="10566466" cy="12700"/>
          </a:xfrm>
          <a:prstGeom prst="rect">
            <a:avLst/>
          </a:prstGeom>
          <a:solidFill>
            <a:srgbClr val="E3E1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gd-topics-text"/>
          <p:cNvSpPr txBox="1"/>
          <p:nvPr/>
        </p:nvSpPr>
        <p:spPr>
          <a:xfrm>
            <a:off x="812767" y="6290000"/>
            <a:ext cx="10566466" cy="300000"/>
          </a:xfrm>
          <a:prstGeom prst="rect">
            <a:avLst/>
          </a:prstGeom>
          <a:noFill/>
        </p:spPr>
        <p:txBody>
          <a:bodyPr wrap="square" lIns="0" tIns="0" rIns="0" bIns="0" anchor="t">
            <a:spAutoFit/>
          </a:bodyPr>
          <a:lstStyle/>
          <a:p>
            <a:pPr>
              <a:lnSpc>
                <a:spcPct val="95000"/>
              </a:lnSpc>
              <a:spcBef>
                <a:spcPts val="0"/>
              </a:spcBef>
            </a:pPr>
            <a:r>
              <a:rPr sz="1100" b="0">
                <a:solidFill>
                  <a:srgbClr val="595F67"/>
                </a:solidFill>
                <a:latin typeface="Poppins"/>
              </a:rPr>
              <a:t>Event-Driven Distributed Apps on Azure: Aspire, Dapr &amp; Durable Execution</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09600" y="457200"/>
            <a:ext cx="11175705" cy="453073"/>
          </a:xfrm>
          <a:prstGeom prst="rect">
            <a:avLst/>
          </a:prstGeom>
          <a:noFill/>
          <a:ln/>
        </p:spPr>
        <p:txBody>
          <a:bodyPr wrap="square" lIns="0" tIns="0" rIns="0" bIns="0" rtlCol="0" anchor="t">
            <a:spAutoFit/>
          </a:bodyPr>
          <a:lstStyle/>
          <a:p>
            <a:pPr marL="0" indent="0" algn="l">
              <a:lnSpc>
                <a:spcPct val="92000"/>
              </a:lnSpc>
              <a:buNone/>
            </a:pPr>
            <a:r>
              <a:rPr lang="en-US" sz="3200" b="1" dirty="0">
                <a:solidFill>
                  <a:srgbClr val="0D0D0D"/>
                </a:solidFill>
                <a:latin typeface="Montserrat Bold" pitchFamily="34" charset="0"/>
                <a:ea typeface="Montserrat Bold" pitchFamily="34" charset="-122"/>
                <a:cs typeface="Montserrat Bold" pitchFamily="34" charset="-120"/>
              </a:rPr>
              <a:t>Messages, events and streams</a:t>
            </a:r>
            <a:endParaRPr lang="en-US" sz="3200" dirty="0"/>
          </a:p>
        </p:txBody>
      </p:sp>
      <p:sp>
        <p:nvSpPr>
          <p:cNvPr id="3" name="Text 1"/>
          <p:cNvSpPr/>
          <p:nvPr/>
        </p:nvSpPr>
        <p:spPr>
          <a:xfrm>
            <a:off x="609600" y="1062673"/>
            <a:ext cx="11175705" cy="283154"/>
          </a:xfrm>
          <a:prstGeom prst="rect">
            <a:avLst/>
          </a:prstGeom>
          <a:noFill/>
          <a:ln/>
        </p:spPr>
        <p:txBody>
          <a:bodyPr wrap="square" lIns="0" tIns="0" rIns="0" bIns="0" rtlCol="0" anchor="t">
            <a:spAutoFit/>
          </a:bodyPr>
          <a:lstStyle/>
          <a:p>
            <a:pPr marL="0" indent="0" algn="l">
              <a:lnSpc>
                <a:spcPct val="92000"/>
              </a:lnSpc>
              <a:buNone/>
            </a:pPr>
            <a:r>
              <a:rPr lang="en-US" sz="2000" b="1" dirty="0">
                <a:solidFill>
                  <a:srgbClr val="0D0D0D"/>
                </a:solidFill>
                <a:latin typeface="Montserrat Bold" pitchFamily="34" charset="0"/>
                <a:ea typeface="Montserrat Bold" pitchFamily="34" charset="-122"/>
                <a:cs typeface="Montserrat Bold" pitchFamily="34" charset="-120"/>
              </a:rPr>
              <a:t>Service Bus, Event Grid, Event Hubs and Dapr pub/sub compared</a:t>
            </a:r>
            <a:endParaRPr lang="en-US" sz="2000" dirty="0"/>
          </a:p>
        </p:txBody>
      </p:sp>
      <p:sp>
        <p:nvSpPr>
          <p:cNvPr id="4" name="Text 2"/>
          <p:cNvSpPr/>
          <p:nvPr/>
        </p:nvSpPr>
        <p:spPr>
          <a:xfrm>
            <a:off x="609600" y="2718977"/>
            <a:ext cx="4780125" cy="2666206"/>
          </a:xfrm>
          <a:prstGeom prst="rect">
            <a:avLst/>
          </a:prstGeom>
          <a:noFill/>
          <a:ln/>
        </p:spPr>
        <p:txBody>
          <a:bodyPr wrap="square" lIns="0" tIns="0" rIns="0" bIns="0" rtlCol="0" anchor="t">
            <a:normAutofit/>
          </a:bodyPr>
          <a:lstStyle/>
          <a:p>
            <a:pPr marL="284480" indent="-28448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120"/>
              </a:rPr>
              <a:t>A </a:t>
            </a:r>
            <a:r>
              <a:rPr lang="en-US" sz="1400" b="1" dirty="0">
                <a:solidFill>
                  <a:srgbClr val="1B365D"/>
                </a:solidFill>
                <a:latin typeface="Poppins Bold" pitchFamily="34" charset="0"/>
                <a:ea typeface="Poppins Bold" pitchFamily="34" charset="-122"/>
                <a:cs typeface="Poppins Bold" pitchFamily="34" charset="-120"/>
              </a:rPr>
              <a:t>message</a:t>
            </a:r>
            <a:r>
              <a:rPr lang="en-US" sz="1400" dirty="0">
                <a:solidFill>
                  <a:srgbClr val="1B365D"/>
                </a:solidFill>
                <a:latin typeface="Poppins" pitchFamily="34" charset="0"/>
                <a:ea typeface="Poppins" pitchFamily="34" charset="-122"/>
                <a:cs typeface="Poppins" pitchFamily="34" charset="-120"/>
              </a:rPr>
              <a:t> carries data under a contract, the shape Service Bus fits</a:t>
            </a:r>
            <a:endParaRPr lang="en-US" sz="1400" dirty="0"/>
          </a:p>
          <a:p>
            <a:pPr marL="284480" indent="-28448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120"/>
              </a:rPr>
              <a:t>An </a:t>
            </a:r>
            <a:r>
              <a:rPr lang="en-US" sz="1400" b="1" dirty="0">
                <a:solidFill>
                  <a:srgbClr val="1B365D"/>
                </a:solidFill>
                <a:latin typeface="Poppins Bold" pitchFamily="34" charset="0"/>
                <a:ea typeface="Poppins Bold" pitchFamily="34" charset="-122"/>
                <a:cs typeface="Poppins Bold" pitchFamily="34" charset="-120"/>
              </a:rPr>
              <a:t>event</a:t>
            </a:r>
            <a:r>
              <a:rPr lang="en-US" sz="1400" dirty="0">
                <a:solidFill>
                  <a:srgbClr val="1B365D"/>
                </a:solidFill>
                <a:latin typeface="Poppins" pitchFamily="34" charset="0"/>
                <a:ea typeface="Poppins" pitchFamily="34" charset="-122"/>
                <a:cs typeface="Poppins" pitchFamily="34" charset="-120"/>
              </a:rPr>
              <a:t> is a lightweight notification of a state change, for Event Grid</a:t>
            </a:r>
            <a:endParaRPr lang="en-US" sz="1400" dirty="0"/>
          </a:p>
          <a:p>
            <a:pPr marL="284480" indent="-28448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120"/>
              </a:rPr>
              <a:t>A </a:t>
            </a:r>
            <a:r>
              <a:rPr lang="en-US" sz="1400" b="1" dirty="0">
                <a:solidFill>
                  <a:srgbClr val="1B365D"/>
                </a:solidFill>
                <a:latin typeface="Poppins Bold" pitchFamily="34" charset="0"/>
                <a:ea typeface="Poppins Bold" pitchFamily="34" charset="-122"/>
                <a:cs typeface="Poppins Bold" pitchFamily="34" charset="-120"/>
              </a:rPr>
              <a:t>stream</a:t>
            </a:r>
            <a:r>
              <a:rPr lang="en-US" sz="1400" dirty="0">
                <a:solidFill>
                  <a:srgbClr val="1B365D"/>
                </a:solidFill>
                <a:latin typeface="Poppins" pitchFamily="34" charset="0"/>
                <a:ea typeface="Poppins" pitchFamily="34" charset="-122"/>
                <a:cs typeface="Poppins" pitchFamily="34" charset="-120"/>
              </a:rPr>
              <a:t> is a time-ordered series each consumer reads at its own pace, for Event Hubs</a:t>
            </a:r>
            <a:endParaRPr lang="en-US" sz="1400" dirty="0"/>
          </a:p>
          <a:p>
            <a:pPr marL="284480" indent="-284480" algn="l">
              <a:lnSpc>
                <a:spcPct val="117000"/>
              </a:lnSpc>
              <a:buSzPct val="100000"/>
              <a:buChar char="•"/>
            </a:pPr>
            <a:r>
              <a:rPr lang="en-US" sz="1400" b="1" dirty="0">
                <a:solidFill>
                  <a:srgbClr val="1B365D"/>
                </a:solidFill>
                <a:latin typeface="Poppins Bold" pitchFamily="34" charset="0"/>
                <a:ea typeface="Poppins Bold" pitchFamily="34" charset="-122"/>
                <a:cs typeface="Poppins Bold" pitchFamily="34" charset="-120"/>
              </a:rPr>
              <a:t>Dapr pub/sub</a:t>
            </a:r>
            <a:r>
              <a:rPr lang="en-US" sz="1400" dirty="0">
                <a:solidFill>
                  <a:srgbClr val="1B365D"/>
                </a:solidFill>
                <a:latin typeface="Poppins" pitchFamily="34" charset="0"/>
                <a:ea typeface="Poppins" pitchFamily="34" charset="-122"/>
                <a:cs typeface="Poppins" pitchFamily="34" charset="-120"/>
              </a:rPr>
              <a:t> is a portability layer that sits on top of brokers</a:t>
            </a:r>
            <a:endParaRPr lang="en-US" sz="1400" dirty="0"/>
          </a:p>
          <a:p>
            <a:pPr marL="284480" indent="-28448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120"/>
              </a:rPr>
              <a:t>Ordering, retention and dead-lettering decide most designs</a:t>
            </a:r>
            <a:endParaRPr lang="en-US" sz="1400" dirty="0"/>
          </a:p>
        </p:txBody>
      </p:sp>
      <p:pic>
        <p:nvPicPr>
          <p:cNvPr id="5" name="Image 0" descr="preencoded.png"/>
          <p:cNvPicPr>
            <a:picLocks noChangeAspect="1"/>
          </p:cNvPicPr>
          <p:nvPr/>
        </p:nvPicPr>
        <p:blipFill>
          <a:blip r:embed="rId3"/>
          <a:stretch>
            <a:fillRect/>
          </a:stretch>
        </p:blipFill>
        <p:spPr>
          <a:xfrm>
            <a:off x="5694418" y="2247404"/>
            <a:ext cx="6090887" cy="3426123"/>
          </a:xfrm>
          <a:prstGeom prst="rect">
            <a:avLst/>
          </a:prstGeom>
        </p:spPr>
      </p:pic>
    </p:spTree>
    <p:extLst>
      <p:ext uri="{BB962C8B-B14F-4D97-AF65-F5344CB8AC3E}">
        <p14:creationId xmlns:p14="http://schemas.microsoft.com/office/powerpoint/2010/main" val="194271382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09600" y="457200"/>
            <a:ext cx="11175705" cy="453073"/>
          </a:xfrm>
          <a:prstGeom prst="rect">
            <a:avLst/>
          </a:prstGeom>
          <a:noFill/>
          <a:ln/>
        </p:spPr>
        <p:txBody>
          <a:bodyPr wrap="square" lIns="0" tIns="0" rIns="0" bIns="0" rtlCol="0" anchor="t">
            <a:spAutoFit/>
          </a:bodyPr>
          <a:lstStyle/>
          <a:p>
            <a:pPr marL="0" indent="0" algn="l">
              <a:lnSpc>
                <a:spcPct val="92000"/>
              </a:lnSpc>
              <a:buNone/>
            </a:pPr>
            <a:r>
              <a:rPr lang="en-US" sz="3200" b="1" dirty="0">
                <a:solidFill>
                  <a:srgbClr val="0D0D0D"/>
                </a:solidFill>
                <a:latin typeface="Montserrat Bold" pitchFamily="34" charset="0"/>
                <a:ea typeface="Montserrat Bold" pitchFamily="34" charset="-122"/>
                <a:cs typeface="Montserrat Bold" pitchFamily="34" charset="-120"/>
              </a:rPr>
              <a:t>Contoso traffic on each service</a:t>
            </a:r>
            <a:endParaRPr lang="en-US" sz="3200" dirty="0"/>
          </a:p>
        </p:txBody>
      </p:sp>
      <p:sp>
        <p:nvSpPr>
          <p:cNvPr id="3" name="Text 1"/>
          <p:cNvSpPr/>
          <p:nvPr/>
        </p:nvSpPr>
        <p:spPr>
          <a:xfrm>
            <a:off x="609600" y="1062673"/>
            <a:ext cx="11175705" cy="283154"/>
          </a:xfrm>
          <a:prstGeom prst="rect">
            <a:avLst/>
          </a:prstGeom>
          <a:noFill/>
          <a:ln/>
        </p:spPr>
        <p:txBody>
          <a:bodyPr wrap="square" lIns="0" tIns="0" rIns="0" bIns="0" rtlCol="0" anchor="t">
            <a:spAutoFit/>
          </a:bodyPr>
          <a:lstStyle/>
          <a:p>
            <a:pPr marL="0" indent="0" algn="l">
              <a:lnSpc>
                <a:spcPct val="92000"/>
              </a:lnSpc>
              <a:buNone/>
            </a:pPr>
            <a:r>
              <a:rPr lang="en-US" sz="2000" b="1" dirty="0">
                <a:solidFill>
                  <a:srgbClr val="0D0D0D"/>
                </a:solidFill>
                <a:latin typeface="Montserrat Bold" pitchFamily="34" charset="0"/>
                <a:ea typeface="Montserrat Bold" pitchFamily="34" charset="-122"/>
                <a:cs typeface="Montserrat Bold" pitchFamily="34" charset="-120"/>
              </a:rPr>
              <a:t>Three Azure brokers side by side, Dapr pub/sub on the notification path</a:t>
            </a:r>
            <a:endParaRPr lang="en-US" sz="2000" dirty="0"/>
          </a:p>
        </p:txBody>
      </p:sp>
      <p:sp>
        <p:nvSpPr>
          <p:cNvPr id="4" name="Text 2"/>
          <p:cNvSpPr/>
          <p:nvPr/>
        </p:nvSpPr>
        <p:spPr>
          <a:xfrm>
            <a:off x="609600" y="2843786"/>
            <a:ext cx="4780125" cy="2417366"/>
          </a:xfrm>
          <a:prstGeom prst="rect">
            <a:avLst/>
          </a:prstGeom>
          <a:noFill/>
          <a:ln/>
        </p:spPr>
        <p:txBody>
          <a:bodyPr wrap="square" lIns="0" tIns="0" rIns="0" bIns="0" rtlCol="0" anchor="t">
            <a:normAutofit/>
          </a:bodyPr>
          <a:lstStyle/>
          <a:p>
            <a:pPr marL="284480" indent="-284480" algn="l">
              <a:lnSpc>
                <a:spcPct val="117000"/>
              </a:lnSpc>
              <a:buSzPct val="100000"/>
              <a:buChar char="•"/>
            </a:pPr>
            <a:r>
              <a:rPr lang="en-US" sz="1400" b="1" dirty="0">
                <a:solidFill>
                  <a:srgbClr val="1B365D"/>
                </a:solidFill>
                <a:latin typeface="Poppins Bold" pitchFamily="34" charset="0"/>
                <a:ea typeface="Poppins Bold" pitchFamily="34" charset="-122"/>
                <a:cs typeface="Poppins Bold" pitchFamily="34" charset="-120"/>
              </a:rPr>
              <a:t>Service Bus</a:t>
            </a:r>
            <a:r>
              <a:rPr lang="en-US" sz="1400" dirty="0">
                <a:solidFill>
                  <a:srgbClr val="1B365D"/>
                </a:solidFill>
                <a:latin typeface="Poppins" pitchFamily="34" charset="0"/>
                <a:ea typeface="Poppins" pitchFamily="34" charset="-122"/>
                <a:cs typeface="Poppins" pitchFamily="34" charset="-120"/>
              </a:rPr>
              <a:t> carries the booking commands and ParcelScanned, one session per tracking number</a:t>
            </a:r>
            <a:endParaRPr lang="en-US" sz="1400" dirty="0"/>
          </a:p>
          <a:p>
            <a:pPr marL="284480" indent="-284480" algn="l">
              <a:lnSpc>
                <a:spcPct val="117000"/>
              </a:lnSpc>
              <a:buSzPct val="100000"/>
              <a:buChar char="•"/>
            </a:pPr>
            <a:r>
              <a:rPr lang="en-US" sz="1400" b="1" dirty="0">
                <a:solidFill>
                  <a:srgbClr val="1B365D"/>
                </a:solidFill>
                <a:latin typeface="Poppins Bold" pitchFamily="34" charset="0"/>
                <a:ea typeface="Poppins Bold" pitchFamily="34" charset="-122"/>
                <a:cs typeface="Poppins Bold" pitchFamily="34" charset="-120"/>
              </a:rPr>
              <a:t>Event Hubs</a:t>
            </a:r>
            <a:r>
              <a:rPr lang="en-US" sz="1400" dirty="0">
                <a:solidFill>
                  <a:srgbClr val="1B365D"/>
                </a:solidFill>
                <a:latin typeface="Poppins" pitchFamily="34" charset="0"/>
                <a:ea typeface="Poppins" pitchFamily="34" charset="-122"/>
                <a:cs typeface="Poppins" pitchFamily="34" charset="-120"/>
              </a:rPr>
              <a:t> carries VanPositionReported over Kafka, keyed by van ID</a:t>
            </a:r>
            <a:endParaRPr lang="en-US" sz="1400" dirty="0"/>
          </a:p>
          <a:p>
            <a:pPr marL="284480" indent="-284480" algn="l">
              <a:lnSpc>
                <a:spcPct val="117000"/>
              </a:lnSpc>
              <a:buSzPct val="100000"/>
              <a:buChar char="•"/>
            </a:pPr>
            <a:r>
              <a:rPr lang="en-US" sz="1400" b="1" dirty="0">
                <a:solidFill>
                  <a:srgbClr val="1B365D"/>
                </a:solidFill>
                <a:latin typeface="Poppins Bold" pitchFamily="34" charset="0"/>
                <a:ea typeface="Poppins Bold" pitchFamily="34" charset="-122"/>
                <a:cs typeface="Poppins Bold" pitchFamily="34" charset="-120"/>
              </a:rPr>
              <a:t>Event Grid</a:t>
            </a:r>
            <a:r>
              <a:rPr lang="en-US" sz="1400" dirty="0">
                <a:solidFill>
                  <a:srgbClr val="1B365D"/>
                </a:solidFill>
                <a:latin typeface="Poppins" pitchFamily="34" charset="0"/>
                <a:ea typeface="Poppins" pitchFamily="34" charset="-122"/>
                <a:cs typeface="Poppins" pitchFamily="34" charset="-120"/>
              </a:rPr>
              <a:t> sends ParcelDelivered to partners after the driver's photo upload</a:t>
            </a:r>
            <a:endParaRPr lang="en-US" sz="1400" dirty="0"/>
          </a:p>
          <a:p>
            <a:pPr marL="284480" indent="-284480" algn="l">
              <a:lnSpc>
                <a:spcPct val="117000"/>
              </a:lnSpc>
              <a:buSzPct val="100000"/>
              <a:buChar char="•"/>
            </a:pPr>
            <a:r>
              <a:rPr lang="en-US" sz="1400" b="1" dirty="0">
                <a:solidFill>
                  <a:srgbClr val="1B365D"/>
                </a:solidFill>
                <a:latin typeface="Poppins Bold" pitchFamily="34" charset="0"/>
                <a:ea typeface="Poppins Bold" pitchFamily="34" charset="-122"/>
                <a:cs typeface="Poppins Bold" pitchFamily="34" charset="-120"/>
              </a:rPr>
              <a:t>Dapr pub/sub</a:t>
            </a:r>
            <a:r>
              <a:rPr lang="en-US" sz="1400" dirty="0">
                <a:solidFill>
                  <a:srgbClr val="1B365D"/>
                </a:solidFill>
                <a:latin typeface="Poppins" pitchFamily="34" charset="0"/>
                <a:ea typeface="Poppins" pitchFamily="34" charset="-122"/>
                <a:cs typeface="Poppins" pitchFamily="34" charset="-120"/>
              </a:rPr>
              <a:t> carries DeliveryDelayed to notification-service</a:t>
            </a:r>
            <a:endParaRPr lang="en-US" sz="1400" dirty="0"/>
          </a:p>
          <a:p>
            <a:pPr marL="284480" indent="-28448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120"/>
              </a:rPr>
              <a:t>Check ordering first, then retention</a:t>
            </a:r>
            <a:endParaRPr lang="en-US" sz="1400" dirty="0"/>
          </a:p>
        </p:txBody>
      </p:sp>
      <p:pic>
        <p:nvPicPr>
          <p:cNvPr id="5" name="Image 0" descr="preencoded.png"/>
          <p:cNvPicPr>
            <a:picLocks noChangeAspect="1"/>
          </p:cNvPicPr>
          <p:nvPr/>
        </p:nvPicPr>
        <p:blipFill>
          <a:blip r:embed="rId3"/>
          <a:stretch>
            <a:fillRect/>
          </a:stretch>
        </p:blipFill>
        <p:spPr>
          <a:xfrm>
            <a:off x="5694418" y="2246015"/>
            <a:ext cx="4636277" cy="3428901"/>
          </a:xfrm>
          <a:prstGeom prst="rect">
            <a:avLst/>
          </a:prstGeom>
        </p:spPr>
      </p:pic>
    </p:spTree>
    <p:extLst>
      <p:ext uri="{BB962C8B-B14F-4D97-AF65-F5344CB8AC3E}">
        <p14:creationId xmlns:p14="http://schemas.microsoft.com/office/powerpoint/2010/main" val="414610960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09600" y="457200"/>
            <a:ext cx="11175705" cy="453073"/>
          </a:xfrm>
          <a:prstGeom prst="rect">
            <a:avLst/>
          </a:prstGeom>
          <a:noFill/>
          <a:ln/>
        </p:spPr>
        <p:txBody>
          <a:bodyPr wrap="square" lIns="0" tIns="0" rIns="0" bIns="0" rtlCol="0" anchor="t">
            <a:spAutoFit/>
          </a:bodyPr>
          <a:lstStyle/>
          <a:p>
            <a:pPr marL="0" indent="0" algn="l">
              <a:lnSpc>
                <a:spcPct val="92000"/>
              </a:lnSpc>
              <a:buNone/>
            </a:pPr>
            <a:r>
              <a:rPr lang="en-US" sz="3200" b="1" dirty="0">
                <a:solidFill>
                  <a:srgbClr val="0D0D0D"/>
                </a:solidFill>
                <a:latin typeface="Montserrat Bold" pitchFamily="34" charset="0"/>
                <a:ea typeface="Montserrat Bold" pitchFamily="34" charset="-122"/>
                <a:cs typeface="Montserrat Bold" pitchFamily="34" charset="-120"/>
              </a:rPr>
              <a:t>Lab: event-storm the parcel delivery flow</a:t>
            </a:r>
            <a:endParaRPr lang="en-US" sz="3200" dirty="0"/>
          </a:p>
        </p:txBody>
      </p:sp>
      <p:sp>
        <p:nvSpPr>
          <p:cNvPr id="3" name="Text 1"/>
          <p:cNvSpPr/>
          <p:nvPr/>
        </p:nvSpPr>
        <p:spPr>
          <a:xfrm>
            <a:off x="609600" y="1062673"/>
            <a:ext cx="11175705" cy="283154"/>
          </a:xfrm>
          <a:prstGeom prst="rect">
            <a:avLst/>
          </a:prstGeom>
          <a:noFill/>
          <a:ln/>
        </p:spPr>
        <p:txBody>
          <a:bodyPr wrap="square" lIns="0" tIns="0" rIns="0" bIns="0" rtlCol="0" anchor="t">
            <a:spAutoFit/>
          </a:bodyPr>
          <a:lstStyle/>
          <a:p>
            <a:pPr marL="0" indent="0" algn="l">
              <a:lnSpc>
                <a:spcPct val="92000"/>
              </a:lnSpc>
              <a:buNone/>
            </a:pPr>
            <a:r>
              <a:rPr lang="en-US" sz="2000" b="1" dirty="0">
                <a:solidFill>
                  <a:srgbClr val="0D0D0D"/>
                </a:solidFill>
                <a:latin typeface="Montserrat Bold" pitchFamily="34" charset="0"/>
                <a:ea typeface="Montserrat Bold" pitchFamily="34" charset="-122"/>
                <a:cs typeface="Montserrat Bold" pitchFamily="34" charset="-120"/>
              </a:rPr>
              <a:t>Two design documents that lab 2 turns into C# records</a:t>
            </a:r>
            <a:endParaRPr lang="en-US" sz="2000" dirty="0"/>
          </a:p>
        </p:txBody>
      </p:sp>
      <p:sp>
        <p:nvSpPr>
          <p:cNvPr id="4" name="Text 2"/>
          <p:cNvSpPr/>
          <p:nvPr/>
        </p:nvSpPr>
        <p:spPr>
          <a:xfrm>
            <a:off x="609600" y="2718927"/>
            <a:ext cx="4780125" cy="2436416"/>
          </a:xfrm>
          <a:prstGeom prst="rect">
            <a:avLst/>
          </a:prstGeom>
          <a:noFill/>
          <a:ln/>
        </p:spPr>
        <p:txBody>
          <a:bodyPr wrap="square" lIns="0" tIns="0" rIns="0" bIns="0" rtlCol="0" anchor="t">
            <a:normAutofit/>
          </a:bodyPr>
          <a:lstStyle/>
          <a:p>
            <a:pPr marL="284480" indent="-28448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120"/>
              </a:rPr>
              <a:t>Starts from an empty workspace with agent instructions and an empty </a:t>
            </a:r>
            <a:r>
              <a:rPr lang="en-US" sz="1400" dirty="0">
                <a:solidFill>
                  <a:srgbClr val="1B365D"/>
                </a:solidFill>
                <a:highlight>
                  <a:srgbClr val="F2F2F2"/>
                </a:highlight>
                <a:latin typeface="Consolas" pitchFamily="34" charset="0"/>
                <a:ea typeface="Consolas" pitchFamily="34" charset="-122"/>
                <a:cs typeface="Consolas" pitchFamily="34" charset="-120"/>
              </a:rPr>
              <a:t>docs/</a:t>
            </a:r>
            <a:r>
              <a:rPr lang="en-US" sz="1400" dirty="0">
                <a:solidFill>
                  <a:srgbClr val="1B365D"/>
                </a:solidFill>
                <a:latin typeface="Poppins" pitchFamily="34" charset="0"/>
                <a:ea typeface="Poppins" pitchFamily="34" charset="-122"/>
                <a:cs typeface="Poppins" pitchFamily="34" charset="-120"/>
              </a:rPr>
              <a:t> folder</a:t>
            </a:r>
            <a:endParaRPr lang="en-US" sz="1400" dirty="0"/>
          </a:p>
          <a:p>
            <a:pPr marL="284480" indent="-284480" algn="l">
              <a:lnSpc>
                <a:spcPct val="117000"/>
              </a:lnSpc>
              <a:buSzPct val="100000"/>
              <a:buFont typeface="Poppins"/>
              <a:buChar char="•"/>
            </a:pPr>
            <a:r>
              <a:rPr lang="en-US" sz="1400" dirty="0">
                <a:solidFill>
                  <a:srgbClr val="1B365D"/>
                </a:solidFill>
                <a:highlight>
                  <a:srgbClr val="F2F2F2"/>
                </a:highlight>
                <a:latin typeface="Consolas" pitchFamily="34" charset="0"/>
                <a:ea typeface="Consolas" pitchFamily="34" charset="-122"/>
                <a:cs typeface="Consolas" pitchFamily="34" charset="-120"/>
              </a:rPr>
              <a:t>docs/events.md</a:t>
            </a:r>
            <a:r>
              <a:rPr lang="en-US" sz="1400" dirty="0">
                <a:solidFill>
                  <a:srgbClr val="1B365D"/>
                </a:solidFill>
                <a:latin typeface="Poppins" pitchFamily="34" charset="0"/>
                <a:ea typeface="Poppins" pitchFamily="34" charset="-122"/>
                <a:cs typeface="Poppins" pitchFamily="34" charset="-120"/>
              </a:rPr>
              <a:t> holds 13 events, 7 commands and the aggregates behind them</a:t>
            </a:r>
            <a:endParaRPr lang="en-US" sz="1400" dirty="0"/>
          </a:p>
          <a:p>
            <a:pPr marL="284480" indent="-284480" algn="l">
              <a:lnSpc>
                <a:spcPct val="117000"/>
              </a:lnSpc>
              <a:buSzPct val="100000"/>
              <a:buFont typeface="Poppins"/>
              <a:buChar char="•"/>
            </a:pPr>
            <a:r>
              <a:rPr lang="en-US" sz="1400" dirty="0">
                <a:solidFill>
                  <a:srgbClr val="1B365D"/>
                </a:solidFill>
                <a:highlight>
                  <a:srgbClr val="F2F2F2"/>
                </a:highlight>
                <a:latin typeface="Consolas" pitchFamily="34" charset="0"/>
                <a:ea typeface="Consolas" pitchFamily="34" charset="-122"/>
                <a:cs typeface="Consolas" pitchFamily="34" charset="-120"/>
              </a:rPr>
              <a:t>docs/architecture.md</a:t>
            </a:r>
            <a:r>
              <a:rPr lang="en-US" sz="1400" dirty="0">
                <a:solidFill>
                  <a:srgbClr val="1B365D"/>
                </a:solidFill>
                <a:latin typeface="Poppins" pitchFamily="34" charset="0"/>
                <a:ea typeface="Poppins" pitchFamily="34" charset="-122"/>
                <a:cs typeface="Poppins" pitchFamily="34" charset="-120"/>
              </a:rPr>
              <a:t> holds contexts, the service map, flows and saga compensations</a:t>
            </a:r>
            <a:endParaRPr lang="en-US" sz="1400" dirty="0"/>
          </a:p>
          <a:p>
            <a:pPr marL="284480" indent="-28448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120"/>
              </a:rPr>
              <a:t>Five steps in about 45 minutes, with no code and no tests</a:t>
            </a:r>
            <a:endParaRPr lang="en-US" sz="1400" dirty="0"/>
          </a:p>
          <a:p>
            <a:pPr marL="284480" indent="-284480" algn="l">
              <a:lnSpc>
                <a:spcPct val="117000"/>
              </a:lnSpc>
              <a:buSzPct val="100000"/>
              <a:buChar char="•"/>
            </a:pPr>
            <a:r>
              <a:rPr lang="en-US" sz="1400" b="1" dirty="0">
                <a:solidFill>
                  <a:srgbClr val="1B365D"/>
                </a:solidFill>
                <a:latin typeface="Poppins Bold" pitchFamily="34" charset="0"/>
                <a:ea typeface="Poppins Bold" pitchFamily="34" charset="-122"/>
                <a:cs typeface="Poppins Bold" pitchFamily="34" charset="-120"/>
              </a:rPr>
              <a:t>Design checks</a:t>
            </a:r>
            <a:r>
              <a:rPr lang="en-US" sz="1400" dirty="0">
                <a:solidFill>
                  <a:srgbClr val="1B365D"/>
                </a:solidFill>
                <a:latin typeface="Poppins" pitchFamily="34" charset="0"/>
                <a:ea typeface="Poppins" pitchFamily="34" charset="-122"/>
                <a:cs typeface="Poppins" pitchFamily="34" charset="-120"/>
              </a:rPr>
              <a:t> confirm both documents before lab 2</a:t>
            </a:r>
            <a:endParaRPr lang="en-US" sz="1400" dirty="0"/>
          </a:p>
        </p:txBody>
      </p:sp>
      <p:pic>
        <p:nvPicPr>
          <p:cNvPr id="5" name="Image 0" descr="preencoded.png"/>
          <p:cNvPicPr>
            <a:picLocks noChangeAspect="1"/>
          </p:cNvPicPr>
          <p:nvPr/>
        </p:nvPicPr>
        <p:blipFill>
          <a:blip r:embed="rId3"/>
          <a:stretch>
            <a:fillRect/>
          </a:stretch>
        </p:blipFill>
        <p:spPr>
          <a:xfrm>
            <a:off x="5694418" y="2628007"/>
            <a:ext cx="6090887" cy="2664817"/>
          </a:xfrm>
          <a:prstGeom prst="rect">
            <a:avLst/>
          </a:prstGeom>
        </p:spPr>
      </p:pic>
    </p:spTree>
    <p:extLst>
      <p:ext uri="{BB962C8B-B14F-4D97-AF65-F5344CB8AC3E}">
        <p14:creationId xmlns:p14="http://schemas.microsoft.com/office/powerpoint/2010/main" val="107981541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09600" y="457200"/>
            <a:ext cx="11175705" cy="453073"/>
          </a:xfrm>
          <a:prstGeom prst="rect">
            <a:avLst/>
          </a:prstGeom>
          <a:noFill/>
          <a:ln/>
        </p:spPr>
        <p:txBody>
          <a:bodyPr wrap="square" lIns="0" tIns="0" rIns="0" bIns="0" rtlCol="0" anchor="t">
            <a:spAutoFit/>
          </a:bodyPr>
          <a:lstStyle/>
          <a:p>
            <a:pPr marL="0" indent="0" algn="l">
              <a:lnSpc>
                <a:spcPct val="92000"/>
              </a:lnSpc>
              <a:buNone/>
            </a:pPr>
            <a:r>
              <a:rPr lang="en-US" sz="3200" b="1" dirty="0">
                <a:solidFill>
                  <a:srgbClr val="0D0D0D"/>
                </a:solidFill>
                <a:latin typeface="Montserrat Bold" pitchFamily="34" charset="0"/>
                <a:ea typeface="Montserrat Bold" pitchFamily="34" charset="-122"/>
                <a:cs typeface="Montserrat Bold" pitchFamily="34" charset="-120"/>
              </a:rPr>
              <a:t>Events, commands and aggregates in the lab</a:t>
            </a:r>
            <a:endParaRPr lang="en-US" sz="3200" dirty="0"/>
          </a:p>
        </p:txBody>
      </p:sp>
      <p:sp>
        <p:nvSpPr>
          <p:cNvPr id="3" name="Text 1"/>
          <p:cNvSpPr/>
          <p:nvPr/>
        </p:nvSpPr>
        <p:spPr>
          <a:xfrm>
            <a:off x="609600" y="1062673"/>
            <a:ext cx="11175705" cy="283154"/>
          </a:xfrm>
          <a:prstGeom prst="rect">
            <a:avLst/>
          </a:prstGeom>
          <a:noFill/>
          <a:ln/>
        </p:spPr>
        <p:txBody>
          <a:bodyPr wrap="square" lIns="0" tIns="0" rIns="0" bIns="0" rtlCol="0" anchor="t">
            <a:spAutoFit/>
          </a:bodyPr>
          <a:lstStyle/>
          <a:p>
            <a:pPr marL="0" indent="0" algn="l">
              <a:lnSpc>
                <a:spcPct val="92000"/>
              </a:lnSpc>
              <a:buNone/>
            </a:pPr>
            <a:r>
              <a:rPr lang="en-US" sz="2000" b="1" dirty="0">
                <a:solidFill>
                  <a:srgbClr val="0D0D0D"/>
                </a:solidFill>
                <a:latin typeface="Montserrat Bold" pitchFamily="34" charset="0"/>
                <a:ea typeface="Montserrat Bold" pitchFamily="34" charset="-122"/>
                <a:cs typeface="Montserrat Bold" pitchFamily="34" charset="-120"/>
              </a:rPr>
              <a:t>Steps 1 and 2 write docs/events.md</a:t>
            </a:r>
            <a:endParaRPr lang="en-US" sz="2000" dirty="0"/>
          </a:p>
        </p:txBody>
      </p:sp>
      <p:sp>
        <p:nvSpPr>
          <p:cNvPr id="4" name="Text 2"/>
          <p:cNvSpPr/>
          <p:nvPr/>
        </p:nvSpPr>
        <p:spPr>
          <a:xfrm>
            <a:off x="609600" y="2843736"/>
            <a:ext cx="4780125" cy="2417366"/>
          </a:xfrm>
          <a:prstGeom prst="rect">
            <a:avLst/>
          </a:prstGeom>
          <a:noFill/>
          <a:ln/>
        </p:spPr>
        <p:txBody>
          <a:bodyPr wrap="square" lIns="0" tIns="0" rIns="0" bIns="0" rtlCol="0" anchor="t">
            <a:normAutofit/>
          </a:bodyPr>
          <a:lstStyle/>
          <a:p>
            <a:pPr marL="284480" indent="-28448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120"/>
              </a:rPr>
              <a:t>Step 1 lists 13 events, each with a </a:t>
            </a:r>
            <a:r>
              <a:rPr lang="en-US" sz="1400" b="1" dirty="0">
                <a:solidFill>
                  <a:srgbClr val="1B365D"/>
                </a:solidFill>
                <a:latin typeface="Poppins Bold" pitchFamily="34" charset="0"/>
                <a:ea typeface="Poppins Bold" pitchFamily="34" charset="-122"/>
                <a:cs typeface="Poppins Bold" pitchFamily="34" charset="-120"/>
              </a:rPr>
              <a:t>kind</a:t>
            </a:r>
            <a:r>
              <a:rPr lang="en-US" sz="1400" dirty="0">
                <a:solidFill>
                  <a:srgbClr val="1B365D"/>
                </a:solidFill>
                <a:latin typeface="Poppins" pitchFamily="34" charset="0"/>
                <a:ea typeface="Poppins" pitchFamily="34" charset="-122"/>
                <a:cs typeface="Poppins" pitchFamily="34" charset="-120"/>
              </a:rPr>
              <a:t> and a </a:t>
            </a:r>
            <a:r>
              <a:rPr lang="en-US" sz="1400" b="1" dirty="0">
                <a:solidFill>
                  <a:srgbClr val="1B365D"/>
                </a:solidFill>
                <a:latin typeface="Poppins Bold" pitchFamily="34" charset="0"/>
                <a:ea typeface="Poppins Bold" pitchFamily="34" charset="-122"/>
                <a:cs typeface="Poppins Bold" pitchFamily="34" charset="-120"/>
              </a:rPr>
              <a:t>style</a:t>
            </a:r>
            <a:endParaRPr lang="en-US" sz="1400" dirty="0"/>
          </a:p>
          <a:p>
            <a:pPr marL="284480" indent="-28448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120"/>
              </a:rPr>
              <a:t>ParcelScanned carries the scan types PickedUp, AtHub and OutForDelivery</a:t>
            </a:r>
            <a:endParaRPr lang="en-US" sz="1400" dirty="0"/>
          </a:p>
          <a:p>
            <a:pPr marL="284480" indent="-28448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120"/>
              </a:rPr>
              <a:t>Step 2 adds an Emitted by column and 7 </a:t>
            </a:r>
            <a:r>
              <a:rPr lang="en-US" sz="1400" b="1" dirty="0">
                <a:solidFill>
                  <a:srgbClr val="1B365D"/>
                </a:solidFill>
                <a:latin typeface="Poppins Bold" pitchFamily="34" charset="0"/>
                <a:ea typeface="Poppins Bold" pitchFamily="34" charset="-122"/>
                <a:cs typeface="Poppins Bold" pitchFamily="34" charset="-120"/>
              </a:rPr>
              <a:t>commands</a:t>
            </a:r>
            <a:endParaRPr lang="en-US" sz="1400" dirty="0"/>
          </a:p>
          <a:p>
            <a:pPr marL="284480" indent="-28448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120"/>
              </a:rPr>
              <a:t>Every Accepted by value matches a row in the Aggregates table</a:t>
            </a:r>
            <a:endParaRPr lang="en-US" sz="1400" dirty="0"/>
          </a:p>
          <a:p>
            <a:pPr marL="284480" indent="-28448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120"/>
              </a:rPr>
              <a:t>Steps 3 to 5 draw the contexts, pick a broker per flow and add the patterns</a:t>
            </a:r>
            <a:endParaRPr lang="en-US" sz="1400" dirty="0"/>
          </a:p>
        </p:txBody>
      </p:sp>
      <p:pic>
        <p:nvPicPr>
          <p:cNvPr id="5" name="Image 0" descr="preencoded.png"/>
          <p:cNvPicPr>
            <a:picLocks noChangeAspect="1"/>
          </p:cNvPicPr>
          <p:nvPr/>
        </p:nvPicPr>
        <p:blipFill>
          <a:blip r:embed="rId3"/>
          <a:stretch>
            <a:fillRect/>
          </a:stretch>
        </p:blipFill>
        <p:spPr>
          <a:xfrm>
            <a:off x="5694418" y="2786658"/>
            <a:ext cx="6090887" cy="2347516"/>
          </a:xfrm>
          <a:prstGeom prst="rect">
            <a:avLst/>
          </a:prstGeom>
        </p:spPr>
      </p:pic>
    </p:spTree>
    <p:extLst>
      <p:ext uri="{BB962C8B-B14F-4D97-AF65-F5344CB8AC3E}">
        <p14:creationId xmlns:p14="http://schemas.microsoft.com/office/powerpoint/2010/main" val="324676203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09600" y="1628898"/>
            <a:ext cx="5079858" cy="453073"/>
          </a:xfrm>
          <a:prstGeom prst="rect">
            <a:avLst/>
          </a:prstGeom>
          <a:noFill/>
          <a:ln/>
        </p:spPr>
        <p:txBody>
          <a:bodyPr wrap="square" lIns="0" tIns="0" rIns="0" bIns="0" rtlCol="0" anchor="t">
            <a:spAutoFit/>
          </a:bodyPr>
          <a:lstStyle/>
          <a:p>
            <a:pPr marL="0" indent="0" algn="l">
              <a:lnSpc>
                <a:spcPct val="92000"/>
              </a:lnSpc>
              <a:buNone/>
            </a:pPr>
            <a:r>
              <a:rPr lang="en-US" sz="3200" b="1" dirty="0">
                <a:solidFill>
                  <a:srgbClr val="0D0D0D"/>
                </a:solidFill>
                <a:latin typeface="Montserrat Bold" pitchFamily="34" charset="0"/>
                <a:ea typeface="Montserrat Bold" pitchFamily="34" charset="-122"/>
                <a:cs typeface="Montserrat Bold" pitchFamily="34" charset="-120"/>
              </a:rPr>
              <a:t>Takeaways</a:t>
            </a:r>
            <a:endParaRPr lang="en-US" sz="3200" dirty="0"/>
          </a:p>
        </p:txBody>
      </p:sp>
      <p:sp>
        <p:nvSpPr>
          <p:cNvPr id="3" name="Text 1"/>
          <p:cNvSpPr/>
          <p:nvPr/>
        </p:nvSpPr>
        <p:spPr>
          <a:xfrm>
            <a:off x="609600" y="2234371"/>
            <a:ext cx="5079858" cy="283154"/>
          </a:xfrm>
          <a:prstGeom prst="rect">
            <a:avLst/>
          </a:prstGeom>
          <a:noFill/>
          <a:ln/>
        </p:spPr>
        <p:txBody>
          <a:bodyPr wrap="square" lIns="0" tIns="0" rIns="0" bIns="0" rtlCol="0" anchor="t">
            <a:spAutoFit/>
          </a:bodyPr>
          <a:lstStyle/>
          <a:p>
            <a:pPr marL="0" indent="0" algn="l">
              <a:lnSpc>
                <a:spcPct val="92000"/>
              </a:lnSpc>
              <a:buNone/>
            </a:pPr>
            <a:r>
              <a:rPr lang="en-US" sz="2000" b="1" dirty="0">
                <a:solidFill>
                  <a:srgbClr val="0D0D0D"/>
                </a:solidFill>
                <a:latin typeface="Montserrat Bold" pitchFamily="34" charset="0"/>
                <a:ea typeface="Montserrat Bold" pitchFamily="34" charset="-122"/>
                <a:cs typeface="Montserrat Bold" pitchFamily="34" charset="-120"/>
              </a:rPr>
              <a:t>What to carry into the Aspire module</a:t>
            </a:r>
            <a:endParaRPr lang="en-US" sz="2000" dirty="0"/>
          </a:p>
        </p:txBody>
      </p:sp>
      <p:sp>
        <p:nvSpPr>
          <p:cNvPr id="4" name="Text 2"/>
          <p:cNvSpPr/>
          <p:nvPr/>
        </p:nvSpPr>
        <p:spPr>
          <a:xfrm>
            <a:off x="609600" y="2746125"/>
            <a:ext cx="5079858" cy="2666206"/>
          </a:xfrm>
          <a:prstGeom prst="rect">
            <a:avLst/>
          </a:prstGeom>
          <a:noFill/>
          <a:ln/>
        </p:spPr>
        <p:txBody>
          <a:bodyPr wrap="square" lIns="0" tIns="0" rIns="0" bIns="0" rtlCol="0" anchor="t">
            <a:normAutofit/>
          </a:bodyPr>
          <a:lstStyle/>
          <a:p>
            <a:pPr marL="284480" indent="-28448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120"/>
              </a:rPr>
              <a:t>Start with a modular monolith and split when team, deployment, scaling or data demand it</a:t>
            </a:r>
            <a:endParaRPr lang="en-US" sz="1400" dirty="0"/>
          </a:p>
          <a:p>
            <a:pPr marL="284480" indent="-28448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120"/>
              </a:rPr>
              <a:t>Use HTTP when the caller needs the answer, messages when the work only has to happen</a:t>
            </a:r>
            <a:endParaRPr lang="en-US" sz="1400" dirty="0"/>
          </a:p>
          <a:p>
            <a:pPr marL="284480" indent="-28448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120"/>
              </a:rPr>
              <a:t>Draw boundaries where the business language changes</a:t>
            </a:r>
            <a:endParaRPr lang="en-US" sz="1400" dirty="0"/>
          </a:p>
          <a:p>
            <a:pPr marL="284480" indent="-28448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120"/>
              </a:rPr>
              <a:t>Publish integration events after the commit, named after business facts</a:t>
            </a:r>
            <a:endParaRPr lang="en-US" sz="1400" dirty="0"/>
          </a:p>
          <a:p>
            <a:pPr marL="284480" indent="-28448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120"/>
              </a:rPr>
              <a:t>Protect every flow with a pattern, and pick the broker by ordering, then retention</a:t>
            </a:r>
            <a:endParaRPr lang="en-US" sz="1400" dirty="0"/>
          </a:p>
        </p:txBody>
      </p:sp>
      <p:pic>
        <p:nvPicPr>
          <p:cNvPr id="5" name="Image 0" descr="preencoded.png"/>
          <p:cNvPicPr>
            <a:picLocks noChangeAspect="1"/>
          </p:cNvPicPr>
          <p:nvPr/>
        </p:nvPicPr>
        <p:blipFill>
          <a:blip r:embed="rId3"/>
          <a:stretch>
            <a:fillRect/>
          </a:stretch>
        </p:blipFill>
        <p:spPr>
          <a:xfrm>
            <a:off x="6095848" y="0"/>
            <a:ext cx="6095848" cy="6858000"/>
          </a:xfrm>
          <a:prstGeom prst="rect">
            <a:avLst/>
          </a:prstGeom>
        </p:spPr>
      </p:pic>
    </p:spTree>
    <p:extLst>
      <p:ext uri="{BB962C8B-B14F-4D97-AF65-F5344CB8AC3E}">
        <p14:creationId xmlns:p14="http://schemas.microsoft.com/office/powerpoint/2010/main" val="321901006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2076</Words>
  <Application>Microsoft Office PowerPoint</Application>
  <PresentationFormat>Widescreen</PresentationFormat>
  <Paragraphs>245</Paragraphs>
  <Slides>30</Slides>
  <Notes>22</Notes>
  <HiddenSlides>0</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30</vt:i4>
      </vt:variant>
    </vt:vector>
  </HeadingPairs>
  <TitlesOfParts>
    <vt:vector size="42" baseType="lpstr">
      <vt:lpstr>Poppins</vt:lpstr>
      <vt:lpstr>IBM Plex Sans Light</vt:lpstr>
      <vt:lpstr>Consolas</vt:lpstr>
      <vt:lpstr>Wingdings</vt:lpstr>
      <vt:lpstr>Poppins Bold</vt:lpstr>
      <vt:lpstr>Arial</vt:lpstr>
      <vt:lpstr>Aptos</vt:lpstr>
      <vt:lpstr>IBM Plex Sans</vt:lpstr>
      <vt:lpstr>Montserrat</vt:lpstr>
      <vt:lpstr>Montserrat Bold</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Alexander Kastil</cp:lastModifiedBy>
  <cp:revision>4</cp:revision>
  <dcterms:created xsi:type="dcterms:W3CDTF">2026-10-19T00:30:55Z</dcterms:created>
  <dcterms:modified xsi:type="dcterms:W3CDTF">2026-10-19T00:37:06Z</dcterms:modified>
</cp:coreProperties>
</file>